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ogy/Downloads/vaulx_editable_html_deck_v2/assets/vx.pn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7436815" y="457200"/>
            <a:ext cx="4572000" cy="4114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FB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VAULX  ·  COLOSSEUM CYPHERPUNK 2026  ·  SOLANA RWA TRACK</a:t>
            </a:r>
            <a:endParaRPr lang="en-US" sz="950" dirty="0"/>
          </a:p>
        </p:txBody>
      </p:sp>
      <p:pic>
        <p:nvPicPr>
          <p:cNvPr id="5" name="Image 1" descr="/Users/gogy/MyCODE/VAULX/.claude/worktrees/recursing-mcnulty-a36d0a/docs/colosseum/vaulx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5029200" cy="1371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0080" y="2606040"/>
            <a:ext cx="1371600" cy="0"/>
          </a:xfrm>
          <a:prstGeom prst="line">
            <a:avLst/>
          </a:prstGeom>
          <a:noFill/>
          <a:ln w="19050">
            <a:solidFill>
              <a:srgbClr val="C9A86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40080" y="28346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on-chain credit protocol.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640080" y="35661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8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asset-rich individuals in high-rate markets to yield-seeking global capital — secured by verifiable physical luxury collateral with deterministic on-chain liquidation.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40080" y="4617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B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in smart contracts.  </a:t>
            </a:r>
            <a:pPr indent="0" marL="0">
              <a:buNone/>
            </a:pPr>
            <a:r>
              <a:rPr lang="en-US" sz="1200" spc="100" kern="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Vaulx doesn't take custody.  </a:t>
            </a:r>
            <a:pPr indent="0" marL="0">
              <a:buNone/>
            </a:pPr>
            <a:r>
              <a:rPr lang="en-US" sz="1200" spc="100" kern="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Vaulx doesn't hold capital.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0080" y="5212080"/>
            <a:ext cx="3362858" cy="0"/>
          </a:xfrm>
          <a:prstGeom prst="line">
            <a:avLst/>
          </a:prstGeom>
          <a:noFill/>
          <a:ln w="6350">
            <a:solidFill>
              <a:srgbClr val="1F1F2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0080" y="5303520"/>
            <a:ext cx="33628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B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ATOMIC INVARIANT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40080" y="5596128"/>
            <a:ext cx="3362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8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USDC disburses without licensed-custodian signature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277258" y="5212080"/>
            <a:ext cx="3362858" cy="0"/>
          </a:xfrm>
          <a:prstGeom prst="line">
            <a:avLst/>
          </a:prstGeom>
          <a:noFill/>
          <a:ln w="6350">
            <a:solidFill>
              <a:srgbClr val="1F1F2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277258" y="5303520"/>
            <a:ext cx="33628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B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 CORE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277258" y="5596128"/>
            <a:ext cx="3362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8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10 modules ship globally · 2 swap per market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914437" y="5212080"/>
            <a:ext cx="3362858" cy="0"/>
          </a:xfrm>
          <a:prstGeom prst="line">
            <a:avLst/>
          </a:prstGeom>
          <a:noFill/>
          <a:ln w="6350">
            <a:solidFill>
              <a:srgbClr val="1F1F2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914437" y="5303520"/>
            <a:ext cx="33628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B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DEVNET LIVE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914437" y="5596128"/>
            <a:ext cx="3362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8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Anchor programs · 45+ tests · indexer + bridge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40080" y="6080760"/>
            <a:ext cx="10911535" cy="0"/>
          </a:xfrm>
          <a:prstGeom prst="line">
            <a:avLst/>
          </a:prstGeom>
          <a:noFill/>
          <a:ln w="6350">
            <a:solidFill>
              <a:srgbClr val="1F1F2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0080" y="6217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github.com/Vaulxfi</a:t>
            </a:r>
            <a:pPr indent="0" marL="0">
              <a:buNone/>
            </a:pPr>
            <a:r>
              <a:rPr lang="en-US" sz="1100" dirty="0">
                <a:solidFill>
                  <a:srgbClr val="0FB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vaulx.vercel.app</a:t>
            </a:r>
            <a:pPr indent="0" marL="0">
              <a:buNone/>
            </a:pPr>
            <a:r>
              <a:rPr lang="en-US" sz="1100" dirty="0">
                <a:solidFill>
                  <a:srgbClr val="0FB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Solana Devnet  </a:t>
            </a:r>
            <a:pPr indent="0" marL="0">
              <a:buNone/>
            </a:pPr>
            <a:r>
              <a:rPr lang="en-US" sz="1100" b="1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today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FB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/  THE ASYMMETRY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Brazil's credit ladder is broken at every rung.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Asset-rich borrowers face punitive rates. Global onchain capital sits at single-digit yield with no rail to reach them.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993392"/>
            <a:ext cx="914400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128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8D3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BRAZILIAN RATE STACK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B841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PENALTY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737360" y="2606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Credit-card rotativo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0" y="2816352"/>
            <a:ext cx="2377440" cy="36576"/>
          </a:xfrm>
          <a:prstGeom prst="rect">
            <a:avLst/>
          </a:prstGeom>
          <a:solidFill>
            <a:srgbClr val="1F1F25"/>
          </a:solidFill>
          <a:ln w="12700">
            <a:solidFill>
              <a:srgbClr val="1F1F2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2779776"/>
            <a:ext cx="2377440" cy="109728"/>
          </a:xfrm>
          <a:prstGeom prst="rect">
            <a:avLst/>
          </a:prstGeom>
          <a:solidFill>
            <a:srgbClr val="B8412C"/>
          </a:solidFill>
          <a:ln w="12700">
            <a:solidFill>
              <a:srgbClr val="B841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6060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841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~450%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737360" y="2916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revolving balance, 50M Brazilians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35584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B841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737360" y="33558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 loan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0" y="3566160"/>
            <a:ext cx="2377440" cy="36576"/>
          </a:xfrm>
          <a:prstGeom prst="rect">
            <a:avLst/>
          </a:prstGeom>
          <a:solidFill>
            <a:srgbClr val="1F1F25"/>
          </a:solidFill>
          <a:ln w="12700">
            <a:solidFill>
              <a:srgbClr val="1F1F2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0" y="3529584"/>
            <a:ext cx="648393" cy="109728"/>
          </a:xfrm>
          <a:prstGeom prst="rect">
            <a:avLst/>
          </a:prstGeom>
          <a:solidFill>
            <a:srgbClr val="B8412C"/>
          </a:solidFill>
          <a:ln w="12700">
            <a:solidFill>
              <a:srgbClr val="B841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35584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841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~61%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737360" y="36667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bank lending rate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105656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CHEAPEST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737360" y="410565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Caixa penhor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114800" y="4315968"/>
            <a:ext cx="2377440" cy="36576"/>
          </a:xfrm>
          <a:prstGeom prst="rect">
            <a:avLst/>
          </a:prstGeom>
          <a:solidFill>
            <a:srgbClr val="1F1F25"/>
          </a:solidFill>
          <a:ln w="12700">
            <a:solidFill>
              <a:srgbClr val="1F1F2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4279392"/>
            <a:ext cx="324196" cy="109728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4105656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~30%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737360" y="44165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LTV · scrap-metal value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855464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FB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VAULX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737360" y="485546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Vaulx — physical, atomic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114800" y="5065776"/>
            <a:ext cx="2377440" cy="36576"/>
          </a:xfrm>
          <a:prstGeom prst="rect">
            <a:avLst/>
          </a:prstGeom>
          <a:solidFill>
            <a:srgbClr val="1F1F25"/>
          </a:solidFill>
          <a:ln w="12700">
            <a:solidFill>
              <a:srgbClr val="1F1F2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0" y="5029200"/>
            <a:ext cx="252153" cy="109728"/>
          </a:xfrm>
          <a:prstGeom prst="rect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4855464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B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24%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737360" y="5166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LTV · full asset value · 2% / month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565099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Banco Central do Brasil  ·  Trading Economics  ·  Caixa Federal published rates  ·  rotativo = revolving balance past 30-day grace.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863840" y="2212848"/>
            <a:ext cx="3749040" cy="4023360"/>
          </a:xfrm>
          <a:prstGeom prst="rect">
            <a:avLst/>
          </a:prstGeom>
          <a:solidFill>
            <a:srgbClr val="12131A"/>
          </a:solidFill>
          <a:ln w="9525">
            <a:solidFill>
              <a:srgbClr val="1F1F2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0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0" kern="0" dirty="0">
                <a:solidFill>
                  <a:srgbClr val="0FB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 ONCHAIN CAPITAL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863840" y="26517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8–10%</a:t>
            </a:r>
            <a:endParaRPr lang="en-US" sz="7600" dirty="0"/>
          </a:p>
        </p:txBody>
      </p:sp>
      <p:sp>
        <p:nvSpPr>
          <p:cNvPr id="37" name="Text 35"/>
          <p:cNvSpPr/>
          <p:nvPr/>
        </p:nvSpPr>
        <p:spPr>
          <a:xfrm>
            <a:off x="7863840" y="38221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8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 ·  institutional yield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321040" y="4251960"/>
            <a:ext cx="2834640" cy="0"/>
          </a:xfrm>
          <a:prstGeom prst="line">
            <a:avLst/>
          </a:prstGeom>
          <a:noFill/>
          <a:ln w="6350">
            <a:solidFill>
              <a:srgbClr val="1F1F2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38160" y="43891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Cheap. Patient. Institutional. Global liquidity priced at single digits — and no trustable rail between this capital and Marcelo's Rolex.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138160" y="5760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BTC / ETH-as-collateral exists.  Not the use case.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080" y="6355080"/>
            <a:ext cx="10911535" cy="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12700">
            <a:solidFill>
              <a:srgbClr val="C9A8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</a:t>
            </a:r>
            <a:pPr indent="0" marL="0">
              <a:buNone/>
            </a:pPr>
            <a:r>
              <a:rPr lang="en-US" sz="1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is not capital.  </a:t>
            </a:r>
            <a:pPr indent="0" marL="0">
              <a:buNone/>
            </a:pPr>
            <a:r>
              <a:rPr lang="en-US" sz="1600" b="1" i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is the rail.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FB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/  WHY SOLANA  ·  WHY NOW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Solana. Why now</a:t>
            </a:r>
            <a:pPr indent="0" marL="0">
              <a:buNone/>
            </a:pPr>
            <a:r>
              <a:rPr lang="en-US" sz="3600" b="1" dirty="0">
                <a:solidFill>
                  <a:srgbClr val="0F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primitives × four institutional adoption signals. The institutional money is moving onchain — on Solana — this quarter.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993392"/>
            <a:ext cx="914400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128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FB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SOLANA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542032"/>
            <a:ext cx="3515258" cy="2103120"/>
          </a:xfrm>
          <a:prstGeom prst="rect">
            <a:avLst/>
          </a:prstGeom>
          <a:solidFill>
            <a:srgbClr val="12131A"/>
          </a:solidFill>
          <a:ln w="9525">
            <a:solidFill>
              <a:srgbClr val="1F1F2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816352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2798064"/>
            <a:ext cx="260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D3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cNFT (Bubblegum)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3319272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$0.0005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914400" y="3822192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8D3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mint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914400" y="4169664"/>
            <a:ext cx="2966618" cy="0"/>
          </a:xfrm>
          <a:prstGeom prst="line">
            <a:avLst/>
          </a:prstGeom>
          <a:noFill/>
          <a:ln w="6350">
            <a:solidFill>
              <a:srgbClr val="1F1F2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423367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class scales globally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38218" y="2542032"/>
            <a:ext cx="3515258" cy="2103120"/>
          </a:xfrm>
          <a:prstGeom prst="rect">
            <a:avLst/>
          </a:prstGeom>
          <a:solidFill>
            <a:srgbClr val="12131A"/>
          </a:solidFill>
          <a:ln w="9525">
            <a:solidFill>
              <a:srgbClr val="1F1F25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538" y="2816352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15458" y="2798064"/>
            <a:ext cx="260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D3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Native SAS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612538" y="3319272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1×</a:t>
            </a:r>
            <a:endParaRPr lang="en-US" sz="3000" dirty="0"/>
          </a:p>
        </p:txBody>
      </p:sp>
      <p:sp>
        <p:nvSpPr>
          <p:cNvPr id="20" name="Text 16"/>
          <p:cNvSpPr/>
          <p:nvPr/>
        </p:nvSpPr>
        <p:spPr>
          <a:xfrm>
            <a:off x="4612538" y="3822192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8D3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KYC, infinite reads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612538" y="4169664"/>
            <a:ext cx="2966618" cy="0"/>
          </a:xfrm>
          <a:prstGeom prst="line">
            <a:avLst/>
          </a:prstGeom>
          <a:noFill/>
          <a:ln w="6350">
            <a:solidFill>
              <a:srgbClr val="1F1F2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12538" y="423367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across the Solana RWA stack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036357" y="2542032"/>
            <a:ext cx="3515258" cy="2103120"/>
          </a:xfrm>
          <a:prstGeom prst="rect">
            <a:avLst/>
          </a:prstGeom>
          <a:solidFill>
            <a:srgbClr val="12131A"/>
          </a:solidFill>
          <a:ln w="9525">
            <a:solidFill>
              <a:srgbClr val="1F1F25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677" y="2816352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813597" y="2798064"/>
            <a:ext cx="260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D3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Composability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8310677" y="3319272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</a:t>
            </a:r>
            <a:endParaRPr lang="en-US" sz="3000" dirty="0"/>
          </a:p>
        </p:txBody>
      </p:sp>
      <p:sp>
        <p:nvSpPr>
          <p:cNvPr id="27" name="Text 22"/>
          <p:cNvSpPr/>
          <p:nvPr/>
        </p:nvSpPr>
        <p:spPr>
          <a:xfrm>
            <a:off x="8310677" y="3822192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8D3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CPI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8310677" y="4169664"/>
            <a:ext cx="2966618" cy="0"/>
          </a:xfrm>
          <a:prstGeom prst="line">
            <a:avLst/>
          </a:prstGeom>
          <a:noFill/>
          <a:ln w="6350">
            <a:solidFill>
              <a:srgbClr val="1F1F25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310677" y="423367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originate. Kamino · Loopscale run lending markets.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640080" y="480060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FB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NOW  ·  INSTITUTIONAL ADOPTION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40080" y="5074920"/>
            <a:ext cx="164592" cy="2286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40080" y="5120640"/>
            <a:ext cx="2625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RWA TVL ON SOLANA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640080" y="5440680"/>
            <a:ext cx="26250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$1.82B</a:t>
            </a:r>
            <a:endParaRPr lang="en-US" sz="2600" dirty="0"/>
          </a:p>
        </p:txBody>
      </p:sp>
      <p:sp>
        <p:nvSpPr>
          <p:cNvPr id="34" name="Text 29"/>
          <p:cNvSpPr/>
          <p:nvPr/>
        </p:nvSpPr>
        <p:spPr>
          <a:xfrm>
            <a:off x="640080" y="5852160"/>
            <a:ext cx="26250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8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2026  ·  +90% MoM growth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3402254" y="5074920"/>
            <a:ext cx="164592" cy="2286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3402254" y="5120640"/>
            <a:ext cx="2625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WESTERN UNION USDPT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3402254" y="5440680"/>
            <a:ext cx="26250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</a:t>
            </a:r>
            <a:endParaRPr lang="en-US" sz="2600" dirty="0"/>
          </a:p>
        </p:txBody>
      </p:sp>
      <p:sp>
        <p:nvSpPr>
          <p:cNvPr id="38" name="Text 33"/>
          <p:cNvSpPr/>
          <p:nvPr/>
        </p:nvSpPr>
        <p:spPr>
          <a:xfrm>
            <a:off x="3402254" y="5852160"/>
            <a:ext cx="26250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8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May 2026 via Anchorage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6164428" y="5074920"/>
            <a:ext cx="164592" cy="2286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164428" y="5120640"/>
            <a:ext cx="2625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 GIANTS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6164428" y="5440680"/>
            <a:ext cx="26250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VS·SP·PP·FI</a:t>
            </a:r>
            <a:endParaRPr lang="en-US" sz="2600" dirty="0"/>
          </a:p>
        </p:txBody>
      </p:sp>
      <p:sp>
        <p:nvSpPr>
          <p:cNvPr id="42" name="Text 37"/>
          <p:cNvSpPr/>
          <p:nvPr/>
        </p:nvSpPr>
        <p:spPr>
          <a:xfrm>
            <a:off x="6164428" y="5852160"/>
            <a:ext cx="26250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8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· Stripe · PayPal · Fiserv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8926601" y="5074920"/>
            <a:ext cx="164592" cy="2286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8926601" y="5120640"/>
            <a:ext cx="2625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TOKENIZED FUNDS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8926601" y="5440680"/>
            <a:ext cx="26250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$2.3B+</a:t>
            </a:r>
            <a:endParaRPr lang="en-US" sz="2600" dirty="0"/>
          </a:p>
        </p:txBody>
      </p:sp>
      <p:sp>
        <p:nvSpPr>
          <p:cNvPr id="46" name="Text 41"/>
          <p:cNvSpPr/>
          <p:nvPr/>
        </p:nvSpPr>
        <p:spPr>
          <a:xfrm>
            <a:off x="8926601" y="5852160"/>
            <a:ext cx="26250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8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BlackRock BUIDL · Franklin FOBXX</a:t>
            </a:r>
            <a:endParaRPr lang="en-US" sz="1050" dirty="0"/>
          </a:p>
        </p:txBody>
      </p:sp>
      <p:sp>
        <p:nvSpPr>
          <p:cNvPr id="47" name="Shape 42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1F1F25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</a:t>
            </a:r>
            <a:pPr indent="0" marL="0">
              <a:buNone/>
            </a:pPr>
            <a:r>
              <a:rPr lang="en-US" sz="13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Sumsub × Solana SAS integration (May 2025) gave us reusable KYC. None of this stack existed 18 months ago.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/  THE ATOMIC INVARIANT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custody signature. </a:t>
            </a:r>
            <a:pPr indent="0" marL="0">
              <a:buNone/>
            </a:pPr>
            <a:r>
              <a:rPr lang="en-US" sz="3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USDC.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Atomic. Onchain. The licensed-custodian signature is the release trigger — enforced in a single Solana transaction.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29968"/>
            <a:ext cx="914400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286000"/>
            <a:ext cx="1889699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14600"/>
            <a:ext cx="18896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20338" y="2788920"/>
            <a:ext cx="329184" cy="0"/>
          </a:xfrm>
          <a:prstGeom prst="line">
            <a:avLst/>
          </a:prstGeom>
          <a:noFill/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52928"/>
            <a:ext cx="18896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Appraisal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450" y="3337560"/>
            <a:ext cx="822960" cy="82296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4389120"/>
            <a:ext cx="1523939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4480560"/>
            <a:ext cx="16153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valuation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3-source median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529779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2895539" y="2286000"/>
            <a:ext cx="1889699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895539" y="2514600"/>
            <a:ext cx="18896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G2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675797" y="2788920"/>
            <a:ext cx="329184" cy="0"/>
          </a:xfrm>
          <a:prstGeom prst="line">
            <a:avLst/>
          </a:prstGeom>
          <a:noFill/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895539" y="2852928"/>
            <a:ext cx="18896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Custody</a:t>
            </a:r>
            <a:endParaRPr lang="en-US" sz="16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909" y="3337560"/>
            <a:ext cx="822960" cy="82296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3078419" y="4389120"/>
            <a:ext cx="1523939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032699" y="4480560"/>
            <a:ext cx="16153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Sekuro · Brinks-class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custodian vaults the asset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785238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5150998" y="2286000"/>
            <a:ext cx="1889699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150998" y="2514600"/>
            <a:ext cx="18896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G3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931256" y="2788920"/>
            <a:ext cx="329184" cy="0"/>
          </a:xfrm>
          <a:prstGeom prst="line">
            <a:avLst/>
          </a:prstGeom>
          <a:noFill/>
          <a:ln w="12700">
            <a:solidFill>
              <a:srgbClr val="0E7C7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150998" y="2852928"/>
            <a:ext cx="18896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cNFT mint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5592928" y="3337560"/>
            <a:ext cx="1005840" cy="868680"/>
          </a:xfrm>
          <a:prstGeom prst="hexagon">
            <a:avLst/>
          </a:prstGeom>
          <a:solidFill>
            <a:srgbClr val="FFFFFF"/>
          </a:solidFill>
          <a:ln w="17780">
            <a:solidFill>
              <a:srgbClr val="0E7C7B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592928" y="333756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cNFT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5333878" y="4389120"/>
            <a:ext cx="1523939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288158" y="4480560"/>
            <a:ext cx="16153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Bubblegum · onchain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record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7040697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29"/>
          <p:cNvSpPr/>
          <p:nvPr/>
        </p:nvSpPr>
        <p:spPr>
          <a:xfrm>
            <a:off x="7406457" y="2286000"/>
            <a:ext cx="1889699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406457" y="2514600"/>
            <a:ext cx="18896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G4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8186715" y="2788920"/>
            <a:ext cx="329184" cy="0"/>
          </a:xfrm>
          <a:prstGeom prst="line">
            <a:avLst/>
          </a:prstGeom>
          <a:noFill/>
          <a:ln w="12700">
            <a:solidFill>
              <a:srgbClr val="0E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406457" y="2852928"/>
            <a:ext cx="18896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Borrow</a:t>
            </a:r>
            <a:endParaRPr lang="en-US" sz="1600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827" y="3337560"/>
            <a:ext cx="822960" cy="822960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7589337" y="4389120"/>
            <a:ext cx="1523939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7543617" y="4480560"/>
            <a:ext cx="16153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disburses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atomically · same tx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9296156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1" name="Shape 36"/>
          <p:cNvSpPr/>
          <p:nvPr/>
        </p:nvSpPr>
        <p:spPr>
          <a:xfrm>
            <a:off x="9661916" y="2286000"/>
            <a:ext cx="1889699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9661916" y="2514600"/>
            <a:ext cx="18896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G5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10442174" y="2788920"/>
            <a:ext cx="329184" cy="0"/>
          </a:xfrm>
          <a:prstGeom prst="line">
            <a:avLst/>
          </a:prstGeom>
          <a:noFill/>
          <a:ln w="12700">
            <a:solidFill>
              <a:srgbClr val="0E7C7B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9661916" y="2852928"/>
            <a:ext cx="18896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Repay / default</a:t>
            </a:r>
            <a:endParaRPr lang="en-US" sz="1600" dirty="0"/>
          </a:p>
        </p:txBody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286" y="3337560"/>
            <a:ext cx="822960" cy="822960"/>
          </a:xfrm>
          <a:prstGeom prst="rect">
            <a:avLst/>
          </a:prstGeom>
        </p:spPr>
      </p:pic>
      <p:sp>
        <p:nvSpPr>
          <p:cNvPr id="46" name="Shape 40"/>
          <p:cNvSpPr/>
          <p:nvPr/>
        </p:nvSpPr>
        <p:spPr>
          <a:xfrm>
            <a:off x="9844796" y="4389120"/>
            <a:ext cx="1523939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9799076" y="4480560"/>
            <a:ext cx="16153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auto-release  ·  or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Dutch auction</a:t>
            </a:r>
            <a:endParaRPr lang="en-US" sz="1100" dirty="0"/>
          </a:p>
        </p:txBody>
      </p:sp>
      <p:sp>
        <p:nvSpPr>
          <p:cNvPr id="48" name="Shape 42"/>
          <p:cNvSpPr/>
          <p:nvPr/>
        </p:nvSpPr>
        <p:spPr>
          <a:xfrm>
            <a:off x="640080" y="5349240"/>
            <a:ext cx="10911535" cy="868680"/>
          </a:xfrm>
          <a:prstGeom prst="rect">
            <a:avLst/>
          </a:prstGeom>
          <a:solidFill>
            <a:srgbClr val="0A0A0B"/>
          </a:solidFill>
          <a:ln w="12700">
            <a:solidFill>
              <a:srgbClr val="0A0A0B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640080" y="5349240"/>
            <a:ext cx="73152" cy="868680"/>
          </a:xfrm>
          <a:prstGeom prst="rect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960120" y="54589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FB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ATOMIC INVARIANT</a:t>
            </a:r>
            <a:endParaRPr lang="en-US" sz="1000" dirty="0"/>
          </a:p>
        </p:txBody>
      </p:sp>
      <p:sp>
        <p:nvSpPr>
          <p:cNvPr id="51" name="Text 45"/>
          <p:cNvSpPr/>
          <p:nvPr/>
        </p:nvSpPr>
        <p:spPr>
          <a:xfrm>
            <a:off x="960120" y="5669280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USDC disburses until the licensed custodian's keypair signs custody-confirmation — atomically, in the same transaction.</a:t>
            </a:r>
            <a:endParaRPr lang="en-US" sz="1600" dirty="0"/>
          </a:p>
        </p:txBody>
      </p:sp>
      <p:sp>
        <p:nvSpPr>
          <p:cNvPr id="52" name="Text 46"/>
          <p:cNvSpPr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1A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competitor in physical-collateral lending has shipped this on-chain — Aave, Maple, Centrifuge, none.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/  MODULAR ARCHITECTURE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of ten modules ship </a:t>
            </a:r>
            <a:pPr indent="0" marL="0">
              <a:buNone/>
            </a:pPr>
            <a:r>
              <a:rPr lang="en-US" sz="36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globally</a:t>
            </a:r>
            <a:pPr indent="0" marL="0">
              <a:buNone/>
            </a:pPr>
            <a:r>
              <a:rPr lang="en-US" sz="36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credit core ships once. Only offline appraisal and licensed custodian swap per market — 60-to-90-day market entry.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29968"/>
            <a:ext cx="914400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286000"/>
            <a:ext cx="1889699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50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170" y="2788920"/>
            <a:ext cx="731520" cy="7315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68680" y="3657600"/>
            <a:ext cx="1432499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749040"/>
            <a:ext cx="18896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Borrower</a:t>
            </a:r>
            <a:endParaRPr lang="en-US" sz="15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31520" y="4343400"/>
            <a:ext cx="17068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Crossmint  ·  Sumsub KYC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native SAS attestation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529779" y="33604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2895539" y="2286000"/>
            <a:ext cx="1889699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78419" y="2450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629" y="2788920"/>
            <a:ext cx="731520" cy="7315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124139" y="3657600"/>
            <a:ext cx="1432499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895539" y="3749040"/>
            <a:ext cx="18896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Appraisal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2986979" y="4343400"/>
            <a:ext cx="17068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Vaultik · Chrono24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3-source median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785238" y="33604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5150998" y="2286000"/>
            <a:ext cx="1889699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333878" y="2450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088" y="2788920"/>
            <a:ext cx="731520" cy="73152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5379598" y="3657600"/>
            <a:ext cx="1432499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150998" y="3749040"/>
            <a:ext cx="18896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Licensed</a:t>
            </a:r>
            <a:endParaRPr lang="en-US" sz="15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custody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5242438" y="4343400"/>
            <a:ext cx="17068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Sekuro · Brinks-class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Lloyd's insurance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7040697" y="33604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4"/>
          <p:cNvSpPr/>
          <p:nvPr/>
        </p:nvSpPr>
        <p:spPr>
          <a:xfrm>
            <a:off x="7406457" y="2286000"/>
            <a:ext cx="1889699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589337" y="2450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5547" y="2788920"/>
            <a:ext cx="731520" cy="73152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7635057" y="3657600"/>
            <a:ext cx="1432499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406457" y="3749040"/>
            <a:ext cx="18896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Onchain</a:t>
            </a:r>
            <a:endParaRPr lang="en-US" sz="15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7497897" y="4343400"/>
            <a:ext cx="17068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Bubblegum cNFT  ·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 + RedStone oracle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9296156" y="33604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6" name="Shape 30"/>
          <p:cNvSpPr/>
          <p:nvPr/>
        </p:nvSpPr>
        <p:spPr>
          <a:xfrm>
            <a:off x="9661916" y="2286000"/>
            <a:ext cx="1889699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9844796" y="2450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006" y="2788920"/>
            <a:ext cx="731520" cy="731520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9890516" y="3657600"/>
            <a:ext cx="1432499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9661916" y="3749040"/>
            <a:ext cx="18896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Borrow / repay /</a:t>
            </a:r>
            <a:endParaRPr lang="en-US" sz="15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release</a:t>
            </a:r>
            <a:endParaRPr lang="en-US" sz="1500" dirty="0"/>
          </a:p>
        </p:txBody>
      </p:sp>
      <p:sp>
        <p:nvSpPr>
          <p:cNvPr id="41" name="Text 34"/>
          <p:cNvSpPr/>
          <p:nvPr/>
        </p:nvSpPr>
        <p:spPr>
          <a:xfrm>
            <a:off x="9753356" y="4343400"/>
            <a:ext cx="17068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Kamino V2 · Loopscale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Vaulx Trust noteholder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640080" y="5120640"/>
            <a:ext cx="5341468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E7C7B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914400" y="5303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OF 10</a:t>
            </a:r>
            <a:endParaRPr lang="en-US" sz="1000" dirty="0"/>
          </a:p>
        </p:txBody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669280"/>
            <a:ext cx="457200" cy="45720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554480" y="5577840"/>
            <a:ext cx="43356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core</a:t>
            </a:r>
            <a:endParaRPr lang="en-US" sz="2200" dirty="0"/>
          </a:p>
        </p:txBody>
      </p:sp>
      <p:sp>
        <p:nvSpPr>
          <p:cNvPr id="46" name="Text 38"/>
          <p:cNvSpPr/>
          <p:nvPr/>
        </p:nvSpPr>
        <p:spPr>
          <a:xfrm>
            <a:off x="1554480" y="5989320"/>
            <a:ext cx="43356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Solana programs · cNFT logic · Sumsub KYC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Lloyd's insurance · oracles · Vaulx Trust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online appraisal · curated lending rails</a:t>
            </a:r>
            <a:endParaRPr lang="en-US" sz="950" dirty="0"/>
          </a:p>
        </p:txBody>
      </p:sp>
      <p:sp>
        <p:nvSpPr>
          <p:cNvPr id="47" name="Shape 39"/>
          <p:cNvSpPr/>
          <p:nvPr/>
        </p:nvSpPr>
        <p:spPr>
          <a:xfrm>
            <a:off x="6210148" y="5120640"/>
            <a:ext cx="534146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6484468" y="5303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OF 10</a:t>
            </a:r>
            <a:endParaRPr lang="en-US" sz="1000" dirty="0"/>
          </a:p>
        </p:txBody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4468" y="5669280"/>
            <a:ext cx="457200" cy="45720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7124548" y="5577840"/>
            <a:ext cx="43356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adapters</a:t>
            </a:r>
            <a:endParaRPr lang="en-US" sz="2200" dirty="0"/>
          </a:p>
        </p:txBody>
      </p:sp>
      <p:sp>
        <p:nvSpPr>
          <p:cNvPr id="51" name="Text 42"/>
          <p:cNvSpPr/>
          <p:nvPr/>
        </p:nvSpPr>
        <p:spPr>
          <a:xfrm>
            <a:off x="7124548" y="5989320"/>
            <a:ext cx="43356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offline appraisal · licensed custodian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 per market in 60–90 days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/  CYCLE ECONOMICS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Cheaper than Brazil's cheapest formal credit. 2.5× more capital per asset.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on a $14k Rolex Submariner, 12-month interest cost. Vaulx wins on rate AND on usable capital.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29968"/>
            <a:ext cx="914400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91153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280160"/>
                <a:gridCol w="2468880"/>
                <a:gridCol w="2468880"/>
                <a:gridCol w="2224735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Option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LTV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 borrowable on $14k Rolex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12-mo interest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Credit-card rotativo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41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~450%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n/a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n/a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massive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Consumer loan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41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~61%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n/a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n/a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~$3,050 on $5k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Caixa penhor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~30%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20% (scrap-metal)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~$2,800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~$840 on $2,800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0E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VAULX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50% (full asset value)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$7,000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~$1,680 / yr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4617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Cheaper rate </a:t>
            </a:r>
            <a:pPr indent="0" marL="0">
              <a:buNone/>
            </a:pPr>
            <a:r>
              <a:rPr lang="en-US" sz="1400" dirty="0">
                <a:solidFill>
                  <a:srgbClr val="6B6B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 even Caixa penhor (24% vs 30%)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2.5× more capital </a:t>
            </a:r>
            <a:pPr indent="0" marL="0">
              <a:buNone/>
            </a:pPr>
            <a:r>
              <a:rPr lang="en-US" sz="1400" dirty="0">
                <a:solidFill>
                  <a:srgbClr val="6B6B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 asset (50% LTV vs 20% scrap-metal LTV)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5440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LP nets ~5% APR </a:t>
            </a:r>
            <a:pPr indent="0" marL="0">
              <a:buNone/>
            </a:pPr>
            <a:r>
              <a:rPr lang="en-US" sz="1400" dirty="0">
                <a:solidFill>
                  <a:srgbClr val="6B6B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(collateralized + insured)  ·  Vaulx earns $300–600 / asset / yr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Reconciliation: 24% borrower all-in = 8% capital + 12% operations + 4% risk.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15200" y="4572000"/>
            <a:ext cx="4236415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43800" y="468172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3-BUCKET COST OF CREDIT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5029200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of capital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637215" y="50292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8%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543800" y="5303520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of operations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637215" y="5303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12%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543800" y="5577840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of risk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637215" y="55778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4%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543800" y="5870448"/>
            <a:ext cx="3779215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43800" y="5943600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BORROWER ALL-IN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454335" y="58978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24%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7543800" y="6263640"/>
            <a:ext cx="3779215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/  TEAM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Operators, builders, and market access.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Banking. Operational execution. Electronic-security infrastructure. Solana engineering. Live DeFi distribution.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938528"/>
            <a:ext cx="914400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94560"/>
            <a:ext cx="2050633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94560"/>
            <a:ext cx="73152" cy="41148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3917" y="2560320"/>
            <a:ext cx="822960" cy="822960"/>
          </a:xfrm>
          <a:prstGeom prst="ellipse">
            <a:avLst/>
          </a:prstGeom>
          <a:solidFill>
            <a:srgbClr val="FAFAF7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365" y="2715768"/>
            <a:ext cx="512064" cy="5120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04672" y="3520440"/>
            <a:ext cx="17214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George Dimitrov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04672" y="3867912"/>
            <a:ext cx="17214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CEO / CTO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4672" y="4206240"/>
            <a:ext cx="1721449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4672" y="4279392"/>
            <a:ext cx="172144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banking · corporate execution · regulatory affairs.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institutional partnerships on-chain and off-chain.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855305" y="2194560"/>
            <a:ext cx="2050633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55305" y="2194560"/>
            <a:ext cx="73152" cy="41148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69142" y="2560320"/>
            <a:ext cx="822960" cy="822960"/>
          </a:xfrm>
          <a:prstGeom prst="ellipse">
            <a:avLst/>
          </a:prstGeom>
          <a:solidFill>
            <a:srgbClr val="FAFAF7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590" y="2715768"/>
            <a:ext cx="512064" cy="51206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019897" y="3520440"/>
            <a:ext cx="17214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Marcelo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3019897" y="3867912"/>
            <a:ext cx="17214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  ·  Gitel founder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019897" y="4206240"/>
            <a:ext cx="1721449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019897" y="4279392"/>
            <a:ext cx="172144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years building Brazilian electronic-security infra: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· IoT · access control · NOC. The exact stack behind Vaulx's atomic custody invariant.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070531" y="2194560"/>
            <a:ext cx="2050633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070531" y="2194560"/>
            <a:ext cx="73152" cy="41148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684368" y="2560320"/>
            <a:ext cx="822960" cy="822960"/>
          </a:xfrm>
          <a:prstGeom prst="ellipse">
            <a:avLst/>
          </a:prstGeom>
          <a:solidFill>
            <a:srgbClr val="FAFAF7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16" y="2715768"/>
            <a:ext cx="512064" cy="51206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235123" y="3520440"/>
            <a:ext cx="17214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Rodrigo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5235123" y="3867912"/>
            <a:ext cx="17214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Partnerships &amp; BD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5235123" y="4206240"/>
            <a:ext cx="1721449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235123" y="4279392"/>
            <a:ext cx="172144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BD across Brazil and LATAM. Owns Mercado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and other BR partnerships with Marcelo.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7285756" y="2194560"/>
            <a:ext cx="2050633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285756" y="2194560"/>
            <a:ext cx="73152" cy="41148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899593" y="2560320"/>
            <a:ext cx="822960" cy="822960"/>
          </a:xfrm>
          <a:prstGeom prst="ellipse">
            <a:avLst/>
          </a:prstGeom>
          <a:solidFill>
            <a:srgbClr val="FAFAF7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041" y="2715768"/>
            <a:ext cx="512064" cy="51206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450348" y="3520440"/>
            <a:ext cx="17214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Edson</a:t>
            </a:r>
            <a:endParaRPr lang="en-US" sz="1600" dirty="0"/>
          </a:p>
        </p:txBody>
      </p:sp>
      <p:sp>
        <p:nvSpPr>
          <p:cNvPr id="37" name="Text 31"/>
          <p:cNvSpPr/>
          <p:nvPr/>
        </p:nvSpPr>
        <p:spPr>
          <a:xfrm>
            <a:off x="7450348" y="3867912"/>
            <a:ext cx="17214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Senior Solana Engineer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7450348" y="4206240"/>
            <a:ext cx="1721449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7450348" y="4279392"/>
            <a:ext cx="172144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on-chain and protocol-level engineering.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4 Anchor programs across Phase 1–3.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9500982" y="2194560"/>
            <a:ext cx="2050633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9500982" y="2194560"/>
            <a:ext cx="73152" cy="41148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10114818" y="2560320"/>
            <a:ext cx="822960" cy="822960"/>
          </a:xfrm>
          <a:prstGeom prst="ellipse">
            <a:avLst/>
          </a:prstGeom>
          <a:solidFill>
            <a:srgbClr val="FAFAF7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0266" y="2715768"/>
            <a:ext cx="512064" cy="512064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9665574" y="3520440"/>
            <a:ext cx="17214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Felipe</a:t>
            </a:r>
            <a:endParaRPr lang="en-US" sz="1600" dirty="0"/>
          </a:p>
        </p:txBody>
      </p:sp>
      <p:sp>
        <p:nvSpPr>
          <p:cNvPr id="45" name="Text 38"/>
          <p:cNvSpPr/>
          <p:nvPr/>
        </p:nvSpPr>
        <p:spPr>
          <a:xfrm>
            <a:off x="9665574" y="3867912"/>
            <a:ext cx="17214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 &amp; Community Advisor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9665574" y="4206240"/>
            <a:ext cx="1721449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9665574" y="4279392"/>
            <a:ext cx="172144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of 4p.finance. Strong DeFi ties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/ Brazil. Advises on partnerships and community.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640080" y="5486400"/>
            <a:ext cx="10911535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640080" y="54864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COMPETITOR CAN ASSEMBLE THIS TEAM.   </a:t>
            </a:r>
            <a:pPr algn="ctr" indent="0" marL="0">
              <a:buNone/>
            </a:pPr>
            <a:r>
              <a:rPr lang="en-US" sz="1100" i="1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commercial conversations with appraisers, custodians, curators.</a:t>
            </a:r>
            <a:endParaRPr lang="en-US" sz="1100" dirty="0"/>
          </a:p>
        </p:txBody>
      </p:sp>
      <p:sp>
        <p:nvSpPr>
          <p:cNvPr id="50" name="Shape 43"/>
          <p:cNvSpPr/>
          <p:nvPr/>
        </p:nvSpPr>
        <p:spPr>
          <a:xfrm>
            <a:off x="640080" y="6080760"/>
            <a:ext cx="10911535" cy="411480"/>
          </a:xfrm>
          <a:prstGeom prst="rect">
            <a:avLst/>
          </a:prstGeom>
          <a:solidFill>
            <a:srgbClr val="0A0A0B"/>
          </a:solidFill>
          <a:ln w="12700">
            <a:solidFill>
              <a:srgbClr val="0A0A0B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640080" y="608076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BANKING   ·   ELECTRONIC SECURITY   ·   BD   ·   SOLANA   ·   DEFI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FB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/  BUILT  ·  ASK  ·  ROADMAP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</a:t>
            </a:r>
            <a:pPr indent="0" marL="0">
              <a:buNone/>
            </a:pPr>
            <a:r>
              <a:rPr lang="en-US" sz="3200" b="1" dirty="0">
                <a:solidFill>
                  <a:srgbClr val="0F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</a:t>
            </a:r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Clear </a:t>
            </a:r>
            <a:pPr indent="0" marL="0">
              <a:buNone/>
            </a:pPr>
            <a:r>
              <a:rPr lang="en-US" sz="32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</a:t>
            </a:r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Mainnet </a:t>
            </a:r>
            <a:pPr indent="0" marL="0">
              <a:buNone/>
            </a:pPr>
            <a:r>
              <a:rPr lang="en-US" sz="3200" b="1" dirty="0">
                <a:solidFill>
                  <a:srgbClr val="0F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90 days</a:t>
            </a:r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914400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3484778" cy="3931920"/>
          </a:xfrm>
          <a:prstGeom prst="rect">
            <a:avLst/>
          </a:prstGeom>
          <a:solidFill>
            <a:srgbClr val="12131A"/>
          </a:solidFill>
          <a:ln w="9525">
            <a:solidFill>
              <a:srgbClr val="1F1F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0312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B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 ·  LIVE TODAY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2936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Devnet.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914400" y="2953512"/>
            <a:ext cx="548640" cy="0"/>
          </a:xfrm>
          <a:prstGeom prst="line">
            <a:avLst/>
          </a:prstGeom>
          <a:noFill/>
          <a:ln w="15240">
            <a:solidFill>
              <a:srgbClr val="0FB5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546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3154680"/>
            <a:ext cx="2433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 programs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00200" y="3410712"/>
            <a:ext cx="2433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vault · loan · trdc · auction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3703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00200" y="3703320"/>
            <a:ext cx="2433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 green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00200" y="3959352"/>
            <a:ext cx="2433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Anchor + CI gating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42519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0200" y="4251960"/>
            <a:ext cx="2433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live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4507992"/>
            <a:ext cx="2433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vaulx.vercel.app · /admin/demo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48006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00200" y="4800600"/>
            <a:ext cx="2433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indexer + bridge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00200" y="5056632"/>
            <a:ext cx="2433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 event log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353458" y="1874520"/>
            <a:ext cx="3484778" cy="3931920"/>
          </a:xfrm>
          <a:prstGeom prst="rect">
            <a:avLst/>
          </a:prstGeom>
          <a:solidFill>
            <a:srgbClr val="12131A"/>
          </a:solidFill>
          <a:ln w="19050">
            <a:solidFill>
              <a:srgbClr val="C9A8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53458" y="1874520"/>
            <a:ext cx="91440" cy="393192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7778" y="210312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ASK  ·  COLOSSEUM PRIZE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53458" y="2377440"/>
            <a:ext cx="34847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$250K</a:t>
            </a:r>
            <a:endParaRPr lang="en-US" sz="7600" dirty="0"/>
          </a:p>
        </p:txBody>
      </p:sp>
      <p:sp>
        <p:nvSpPr>
          <p:cNvPr id="27" name="Text 25"/>
          <p:cNvSpPr/>
          <p:nvPr/>
        </p:nvSpPr>
        <p:spPr>
          <a:xfrm>
            <a:off x="4353458" y="3566160"/>
            <a:ext cx="3484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8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RWA track  ·  pre-seed bridge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19218" y="3886200"/>
            <a:ext cx="2753258" cy="0"/>
          </a:xfrm>
          <a:prstGeom prst="line">
            <a:avLst/>
          </a:prstGeom>
          <a:noFill/>
          <a:ln w="6350">
            <a:solidFill>
              <a:srgbClr val="1F1F2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27778" y="4023360"/>
            <a:ext cx="29361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our 4 Anchor programs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627778" y="4407408"/>
            <a:ext cx="29361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first custodian + appraiser + curator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627778" y="4791456"/>
            <a:ext cx="29361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originate first 50 mainnet loans by Q3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627778" y="5175504"/>
            <a:ext cx="29361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seed with traction + revenue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066837" y="1874520"/>
            <a:ext cx="3484778" cy="3931920"/>
          </a:xfrm>
          <a:prstGeom prst="rect">
            <a:avLst/>
          </a:prstGeom>
          <a:solidFill>
            <a:srgbClr val="12131A"/>
          </a:solidFill>
          <a:ln w="9525">
            <a:solidFill>
              <a:srgbClr val="1F1F2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41157" y="210312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B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  ·  90-DAY PLAN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41157" y="2377440"/>
            <a:ext cx="2936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Mainnet by Day 90.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8341157" y="2926080"/>
            <a:ext cx="548640" cy="0"/>
          </a:xfrm>
          <a:prstGeom prst="line">
            <a:avLst/>
          </a:prstGeom>
          <a:noFill/>
          <a:ln w="15240">
            <a:solidFill>
              <a:srgbClr val="0FB5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41157" y="31546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438437" y="3154680"/>
            <a:ext cx="2021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kickoff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438437" y="3392424"/>
            <a:ext cx="2021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review + bug bounty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341157" y="3657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60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438437" y="3657600"/>
            <a:ext cx="2021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Sekuro signed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438437" y="3895344"/>
            <a:ext cx="2021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Lloyd's binder confirmed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341157" y="4160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90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438437" y="4160520"/>
            <a:ext cx="2021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mainnet launch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438437" y="4398264"/>
            <a:ext cx="2021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loan · real watch · real USDC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341157" y="4663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2026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9438437" y="4663440"/>
            <a:ext cx="2021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customers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438437" y="4901184"/>
            <a:ext cx="2021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+ junior LP cohort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341157" y="51663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2026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438437" y="5166360"/>
            <a:ext cx="2021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customers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438437" y="5404104"/>
            <a:ext cx="2021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close · first LATAM market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40080" y="5943600"/>
            <a:ext cx="10911535" cy="0"/>
          </a:xfrm>
          <a:prstGeom prst="line">
            <a:avLst/>
          </a:prstGeom>
          <a:noFill/>
          <a:ln w="6350">
            <a:solidFill>
              <a:srgbClr val="1F1F2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6080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rail between physical luxury and onchain capital.   </a:t>
            </a:r>
            <a:pPr indent="0" marL="0">
              <a:buNone/>
            </a:pPr>
            <a:r>
              <a:rPr lang="en-US" sz="1400" b="1" i="1" dirty="0">
                <a:solidFill>
                  <a:srgbClr val="0F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Solana.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8534095" y="6053328"/>
            <a:ext cx="3017520" cy="45720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34095" y="60533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 build with us.   </a:t>
            </a:r>
            <a:pPr algn="ctr" indent="0" marL="0">
              <a:buNone/>
            </a:pPr>
            <a:r>
              <a:rPr lang="en-US" sz="1400" b="1" i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pic>
        <p:nvPicPr>
          <p:cNvPr id="56" name="Image 0" descr="/Users/gogy/MyCODE/VAULX/.claude/worktrees/recursing-mcnulty-a36d0a/docs/colosseum/vaulx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73952"/>
            <a:ext cx="457200" cy="123444"/>
          </a:xfrm>
          <a:prstGeom prst="rect">
            <a:avLst/>
          </a:prstGeom>
        </p:spPr>
      </p:pic>
      <p:sp>
        <p:nvSpPr>
          <p:cNvPr id="57" name="Text 54"/>
          <p:cNvSpPr/>
          <p:nvPr/>
        </p:nvSpPr>
        <p:spPr>
          <a:xfrm>
            <a:off x="10515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github.com/Vaulxfi  ·  vaulx.vercel.app  ·  Solana Devnet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Vaulx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Vaulx — The on-chain credit protocol</dc:title>
  <dc:subject>Colosseum Cypherpunk Hackathon 2026</dc:subject>
  <dc:creator>Vaulx</dc:creator>
  <cp:lastModifiedBy>Vaulx</cp:lastModifiedBy>
  <cp:revision>1</cp:revision>
  <dcterms:created xsi:type="dcterms:W3CDTF">2026-05-07T18:18:34Z</dcterms:created>
  <dcterms:modified xsi:type="dcterms:W3CDTF">2026-05-07T18:18:34Z</dcterms:modified>
</cp:coreProperties>
</file>