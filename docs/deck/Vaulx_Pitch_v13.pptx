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Marcelo lives in São Paulo. He owns a fourteen-thousand-dollar Rolex, but he needs short-term liquidity. His options are fundamentally broken. His credit card charges him four hundred percent APR. If he goes to the state pawnshop, Caixa Federal, they evaluate his luxury watch as literal scrap metal — offering him barely twenty percent loan-to-value, and still charging him thirty percent APR. Meanwhile, right now on Solana, institutional capital is being offered at eight percent — and it has no way to reach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Vaulx does not hold capital, and we do not take custody. We orchestrate licensed counterparties. Through our four Anchor programs, we enforce five strict gates: appraisal, custody, mint, borrow, and repay.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atomic contract enforces five strict gates. The killer invariant: no USDC is disbursed until the licensed Brinks-class custodian physically vaults the asset and signs the on-chain confirmation. It happens atomically, in the same transaction. No competitor in the real-world-asset space has shipped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offer borrowers 50% LTV at 24% APR. We beat the cheapest formal credit, provide 2.5× more capital, and value the watch as a watch — not scrap metal. Vaulx nets $300 to $600 per asset per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LPs are tranched to match risk. Senior LPs earn 8 percent fixed, while Junior LPs earn 12 percent, sitting safely above our 5 percent protocol-owned first-loss buffer. Every loan is over-collateralized, with a strict 14-day Dutch auction on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billion dollars in watches. 20 billion realistically addressable. 1 to 3 billion year-5. Distribution is built-in: 4p.finance already processes São Paulo luxury watch flow on crypto rails. Gitel brings a 38-year corporate network. Kamino and Loopscale pipe us into Solana yield audiences. Low CAC at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We could not have built this 18 months ago. Bubblegum gives us cNFTs for fractions of a penny. Sumsub's native Solana Attestation Service gives us reusable KYC. Western Union just launched on Solana. Competitors are on Ethereum or US-first. We sit in the unoccupied vertex.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fork a smart contract. You cannot fork our real-world network. Marcelo brings 38 years of Brazilian physical security infrastructure. Felipe already processes São Paulo's luxury watch flow on crypto rails. Our customer acquisition cost at launch is near zero. We bring the borrowers. Solana brings the capital.
LinkedIn:
· George Dimitrov — linkedin.com/in/gheorghedimitrov/
· Marcelo Coelho — linkedin.com/in/marcelo-coelho-78564236/
· Rodrigo Coelho — linkedin.com/in/rodrigo-coelho-2459a123/
· Edson Pohren — linkedin.com/in/edson-pohren-19421ab5/
· Felipe Veloso — 4p.finance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our four Anchor programs are live on Devnet with passing CI tests. We are asking for the $250,000 Colosseum prize to audit our contracts, finalize our first Brinks-class custodian, and originate our first mainnet loans. Stop pricing luxury assets as scrap metal. We are Vaulx. Come build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a:ln/>
        </p:spPr>
        <p:txBody>
          <a:bodyPr wrap="square" lIns="0" tIns="0" rIns="0" bIns="0" rtlCol="0" anchor="ctr"/>
          <a:lstStyle/>
          <a:p>
            <a:pPr indent="0" marL="0">
              <a:buNone/>
            </a:pPr>
            <a:r>
              <a:rPr lang="en-US" sz="950" b="1" spc="400" kern="0" dirty="0">
                <a:solidFill>
                  <a:srgbClr val="0E7C7B"/>
                </a:solidFill>
                <a:latin typeface="Consolas" pitchFamily="34" charset="0"/>
                <a:ea typeface="Consolas" pitchFamily="34" charset="-122"/>
                <a:cs typeface="Consolas" pitchFamily="34" charset="-120"/>
              </a:rPr>
              <a:t>01  /  THE ASYMMETRY</a:t>
            </a:r>
            <a:endParaRPr lang="en-US" sz="950" dirty="0"/>
          </a:p>
        </p:txBody>
      </p:sp>
      <p:sp>
        <p:nvSpPr>
          <p:cNvPr id="4" name="Text 2"/>
          <p:cNvSpPr/>
          <p:nvPr/>
        </p:nvSpPr>
        <p:spPr>
          <a:xfrm>
            <a:off x="10911535" y="274320"/>
            <a:ext cx="914400" cy="228600"/>
          </a:xfrm>
          <a:prstGeom prst="rect">
            <a:avLst/>
          </a:prstGeom>
          <a:noFill/>
          <a:ln/>
        </p:spPr>
        <p:txBody>
          <a:bodyPr wrap="square" lIns="0" tIns="0" rIns="0" bIns="0" rtlCol="0" anchor="ctr"/>
          <a:lstStyle/>
          <a:p>
            <a:pPr algn="r" indent="0" marL="0">
              <a:buNone/>
            </a:pPr>
            <a:r>
              <a:rPr lang="en-US" sz="900" spc="300" kern="0" dirty="0">
                <a:solidFill>
                  <a:srgbClr val="8A8A90"/>
                </a:solidFill>
                <a:latin typeface="Consolas" pitchFamily="34" charset="0"/>
                <a:ea typeface="Consolas" pitchFamily="34" charset="-122"/>
                <a:cs typeface="Consolas" pitchFamily="34" charset="-120"/>
              </a:rPr>
              <a:t>01 / 09</a:t>
            </a:r>
            <a:endParaRPr lang="en-US" sz="900" dirty="0"/>
          </a:p>
        </p:txBody>
      </p:sp>
      <p:sp>
        <p:nvSpPr>
          <p:cNvPr id="5" name="Text 3"/>
          <p:cNvSpPr/>
          <p:nvPr/>
        </p:nvSpPr>
        <p:spPr>
          <a:xfrm>
            <a:off x="640080" y="777240"/>
            <a:ext cx="10911535" cy="777240"/>
          </a:xfrm>
          <a:prstGeom prst="rect">
            <a:avLst/>
          </a:prstGeom>
          <a:noFill/>
          <a:ln/>
        </p:spPr>
        <p:txBody>
          <a:bodyPr wrap="square" lIns="0" tIns="0" rIns="0" bIns="0" rtlCol="0" anchor="ctr"/>
          <a:lstStyle/>
          <a:p>
            <a:pPr indent="0" marL="0">
              <a:lnSpc>
                <a:spcPts val="3600"/>
              </a:lnSpc>
              <a:buNone/>
            </a:pPr>
            <a:r>
              <a:rPr lang="en-US" sz="2800" dirty="0">
                <a:solidFill>
                  <a:srgbClr val="F5F0E8"/>
                </a:solidFill>
                <a:latin typeface="Georgia" pitchFamily="34" charset="0"/>
                <a:ea typeface="Georgia" pitchFamily="34" charset="-122"/>
                <a:cs typeface="Georgia" pitchFamily="34" charset="-120"/>
              </a:rPr>
              <a:t>Asset-rich, credit-trapped — meets capital with nowhere to go.</a:t>
            </a:r>
            <a:endParaRPr lang="en-US" sz="2800" dirty="0"/>
          </a:p>
        </p:txBody>
      </p:sp>
      <p:pic>
        <p:nvPicPr>
          <p:cNvPr id="6" name="Image 0" descr="/Users/gogy/MyCODE/VAULX/.claude/worktrees/recursing-mcnulty-a36d0a/docs/colosseum/hf/v13_rolex.jpg">    </p:cNvPr>
          <p:cNvPicPr>
            <a:picLocks noChangeAspect="1"/>
          </p:cNvPicPr>
          <p:nvPr/>
        </p:nvPicPr>
        <p:blipFill>
          <a:blip r:embed="rId1"/>
          <a:srcRect l="0" r="0" t="0" b="0"/>
          <a:stretch/>
        </p:blipFill>
        <p:spPr>
          <a:xfrm>
            <a:off x="4632808" y="1783080"/>
            <a:ext cx="2926080" cy="1463040"/>
          </a:xfrm>
          <a:prstGeom prst="rect">
            <a:avLst/>
          </a:prstGeom>
        </p:spPr>
      </p:pic>
      <p:sp>
        <p:nvSpPr>
          <p:cNvPr id="7" name="Shape 4"/>
          <p:cNvSpPr/>
          <p:nvPr/>
        </p:nvSpPr>
        <p:spPr>
          <a:xfrm>
            <a:off x="4632808" y="1783080"/>
            <a:ext cx="2926080" cy="1463040"/>
          </a:xfrm>
          <a:prstGeom prst="rect">
            <a:avLst/>
          </a:prstGeom>
          <a:solidFill>
            <a:srgbClr val="0A0A0B">
              <a:alpha val="0"/>
            </a:srgbClr>
          </a:solidFill>
          <a:ln w="9525">
            <a:solidFill>
              <a:srgbClr val="0E7C7B"/>
            </a:solidFill>
            <a:prstDash val="solid"/>
          </a:ln>
        </p:spPr>
      </p:sp>
      <p:sp>
        <p:nvSpPr>
          <p:cNvPr id="8" name="Text 5"/>
          <p:cNvSpPr/>
          <p:nvPr/>
        </p:nvSpPr>
        <p:spPr>
          <a:xfrm>
            <a:off x="4632808" y="3337560"/>
            <a:ext cx="2926080" cy="320040"/>
          </a:xfrm>
          <a:prstGeom prst="rect">
            <a:avLst/>
          </a:prstGeom>
          <a:noFill/>
          <a:ln/>
        </p:spPr>
        <p:txBody>
          <a:bodyPr wrap="square" lIns="0" tIns="0" rIns="0" bIns="0" rtlCol="0" anchor="ctr"/>
          <a:lstStyle/>
          <a:p>
            <a:pPr algn="ctr" indent="0" marL="0">
              <a:buNone/>
            </a:pPr>
            <a:r>
              <a:rPr lang="en-US" sz="1100" i="1" dirty="0">
                <a:solidFill>
                  <a:srgbClr val="C8C2B2"/>
                </a:solidFill>
                <a:latin typeface="Consolas" pitchFamily="34" charset="0"/>
                <a:ea typeface="Consolas" pitchFamily="34" charset="-122"/>
                <a:cs typeface="Consolas" pitchFamily="34" charset="-120"/>
              </a:rPr>
              <a:t>$14,000 Rolex Submariner  ·  Idle Asset</a:t>
            </a:r>
            <a:endParaRPr lang="en-US" sz="1100" dirty="0"/>
          </a:p>
        </p:txBody>
      </p:sp>
      <p:sp>
        <p:nvSpPr>
          <p:cNvPr id="9" name="Shape 6"/>
          <p:cNvSpPr/>
          <p:nvPr/>
        </p:nvSpPr>
        <p:spPr>
          <a:xfrm>
            <a:off x="6095848" y="3703320"/>
            <a:ext cx="0" cy="274320"/>
          </a:xfrm>
          <a:prstGeom prst="line">
            <a:avLst/>
          </a:prstGeom>
          <a:noFill/>
          <a:ln w="12700">
            <a:solidFill>
              <a:srgbClr val="0E7C7B"/>
            </a:solidFill>
            <a:prstDash val="solid"/>
          </a:ln>
        </p:spPr>
      </p:sp>
      <p:sp>
        <p:nvSpPr>
          <p:cNvPr id="10" name="Shape 7"/>
          <p:cNvSpPr/>
          <p:nvPr/>
        </p:nvSpPr>
        <p:spPr>
          <a:xfrm>
            <a:off x="2331720" y="3703320"/>
            <a:ext cx="7528255" cy="0"/>
          </a:xfrm>
          <a:prstGeom prst="line">
            <a:avLst/>
          </a:prstGeom>
          <a:noFill/>
          <a:ln w="12700">
            <a:solidFill>
              <a:srgbClr val="0E7C7B"/>
            </a:solidFill>
            <a:prstDash val="solid"/>
          </a:ln>
        </p:spPr>
      </p:sp>
      <p:sp>
        <p:nvSpPr>
          <p:cNvPr id="11" name="Shape 8"/>
          <p:cNvSpPr/>
          <p:nvPr/>
        </p:nvSpPr>
        <p:spPr>
          <a:xfrm>
            <a:off x="2331720" y="3703320"/>
            <a:ext cx="0" cy="457200"/>
          </a:xfrm>
          <a:prstGeom prst="line">
            <a:avLst/>
          </a:prstGeom>
          <a:noFill/>
          <a:ln w="12700">
            <a:solidFill>
              <a:srgbClr val="0E7C7B"/>
            </a:solidFill>
            <a:prstDash val="solid"/>
          </a:ln>
        </p:spPr>
      </p:sp>
      <p:sp>
        <p:nvSpPr>
          <p:cNvPr id="12" name="Shape 9"/>
          <p:cNvSpPr/>
          <p:nvPr/>
        </p:nvSpPr>
        <p:spPr>
          <a:xfrm>
            <a:off x="6095848" y="3703320"/>
            <a:ext cx="0" cy="457200"/>
          </a:xfrm>
          <a:prstGeom prst="line">
            <a:avLst/>
          </a:prstGeom>
          <a:noFill/>
          <a:ln w="12700">
            <a:solidFill>
              <a:srgbClr val="0E7C7B"/>
            </a:solidFill>
            <a:prstDash val="solid"/>
          </a:ln>
        </p:spPr>
      </p:sp>
      <p:sp>
        <p:nvSpPr>
          <p:cNvPr id="13" name="Shape 10"/>
          <p:cNvSpPr/>
          <p:nvPr/>
        </p:nvSpPr>
        <p:spPr>
          <a:xfrm>
            <a:off x="9859975" y="3703320"/>
            <a:ext cx="0" cy="457200"/>
          </a:xfrm>
          <a:prstGeom prst="line">
            <a:avLst/>
          </a:prstGeom>
          <a:noFill/>
          <a:ln w="12700">
            <a:solidFill>
              <a:srgbClr val="0E7C7B"/>
            </a:solidFill>
            <a:prstDash val="solid"/>
          </a:ln>
        </p:spPr>
      </p:sp>
      <p:sp>
        <p:nvSpPr>
          <p:cNvPr id="14" name="Shape 11"/>
          <p:cNvSpPr/>
          <p:nvPr/>
        </p:nvSpPr>
        <p:spPr>
          <a:xfrm>
            <a:off x="640080" y="4160520"/>
            <a:ext cx="3383280" cy="1691640"/>
          </a:xfrm>
          <a:prstGeom prst="rect">
            <a:avLst/>
          </a:prstGeom>
          <a:solidFill>
            <a:srgbClr val="12131A"/>
          </a:solidFill>
          <a:ln w="9525">
            <a:solidFill>
              <a:srgbClr val="B8412C"/>
            </a:solidFill>
            <a:prstDash val="solid"/>
          </a:ln>
        </p:spPr>
      </p:sp>
      <p:sp>
        <p:nvSpPr>
          <p:cNvPr id="15" name="Shape 12"/>
          <p:cNvSpPr/>
          <p:nvPr/>
        </p:nvSpPr>
        <p:spPr>
          <a:xfrm>
            <a:off x="640080" y="4160520"/>
            <a:ext cx="3383280" cy="36576"/>
          </a:xfrm>
          <a:prstGeom prst="rect">
            <a:avLst/>
          </a:prstGeom>
          <a:solidFill>
            <a:srgbClr val="B8412C"/>
          </a:solidFill>
          <a:ln w="12700">
            <a:solidFill>
              <a:srgbClr val="B8412C"/>
            </a:solidFill>
            <a:prstDash val="solid"/>
          </a:ln>
        </p:spPr>
      </p:sp>
      <p:sp>
        <p:nvSpPr>
          <p:cNvPr id="16" name="Text 13"/>
          <p:cNvSpPr/>
          <p:nvPr/>
        </p:nvSpPr>
        <p:spPr>
          <a:xfrm>
            <a:off x="868680" y="4343400"/>
            <a:ext cx="2926080" cy="274320"/>
          </a:xfrm>
          <a:prstGeom prst="rect">
            <a:avLst/>
          </a:prstGeom>
          <a:noFill/>
          <a:ln/>
        </p:spPr>
        <p:txBody>
          <a:bodyPr wrap="square" lIns="0" tIns="0" rIns="0" bIns="0" rtlCol="0" anchor="ctr"/>
          <a:lstStyle/>
          <a:p>
            <a:pPr indent="0" marL="0">
              <a:buNone/>
            </a:pPr>
            <a:r>
              <a:rPr lang="en-US" sz="1000" b="1" spc="400" kern="0" dirty="0">
                <a:solidFill>
                  <a:srgbClr val="B8412C"/>
                </a:solidFill>
                <a:latin typeface="Consolas" pitchFamily="34" charset="0"/>
                <a:ea typeface="Consolas" pitchFamily="34" charset="-122"/>
                <a:cs typeface="Consolas" pitchFamily="34" charset="-120"/>
              </a:rPr>
              <a:t>CREDIT CARD ROTATIVO</a:t>
            </a:r>
            <a:endParaRPr lang="en-US" sz="1000" dirty="0"/>
          </a:p>
        </p:txBody>
      </p:sp>
      <p:sp>
        <p:nvSpPr>
          <p:cNvPr id="17" name="Text 14"/>
          <p:cNvSpPr/>
          <p:nvPr/>
        </p:nvSpPr>
        <p:spPr>
          <a:xfrm>
            <a:off x="868680" y="4663440"/>
            <a:ext cx="2926080" cy="640080"/>
          </a:xfrm>
          <a:prstGeom prst="rect">
            <a:avLst/>
          </a:prstGeom>
          <a:noFill/>
          <a:ln/>
        </p:spPr>
        <p:txBody>
          <a:bodyPr wrap="square" lIns="0" tIns="0" rIns="0" bIns="0" rtlCol="0" anchor="ctr"/>
          <a:lstStyle/>
          <a:p>
            <a:pPr indent="0" marL="0">
              <a:buNone/>
            </a:pPr>
            <a:r>
              <a:rPr lang="en-US" sz="3600" b="1" dirty="0">
                <a:solidFill>
                  <a:srgbClr val="F5F0E8"/>
                </a:solidFill>
                <a:latin typeface="Georgia" pitchFamily="34" charset="0"/>
                <a:ea typeface="Georgia" pitchFamily="34" charset="-122"/>
                <a:cs typeface="Georgia" pitchFamily="34" charset="-120"/>
              </a:rPr>
              <a:t>~450%</a:t>
            </a:r>
            <a:endParaRPr lang="en-US" sz="3600" dirty="0"/>
          </a:p>
        </p:txBody>
      </p:sp>
      <p:sp>
        <p:nvSpPr>
          <p:cNvPr id="18" name="Text 15"/>
          <p:cNvSpPr/>
          <p:nvPr/>
        </p:nvSpPr>
        <p:spPr>
          <a:xfrm>
            <a:off x="868680" y="5257800"/>
            <a:ext cx="2926080" cy="274320"/>
          </a:xfrm>
          <a:prstGeom prst="rect">
            <a:avLst/>
          </a:prstGeom>
          <a:noFill/>
          <a:ln/>
        </p:spPr>
        <p:txBody>
          <a:bodyPr wrap="square" lIns="0" tIns="0" rIns="0" bIns="0" rtlCol="0" anchor="ctr"/>
          <a:lstStyle/>
          <a:p>
            <a:pPr indent="0" marL="0">
              <a:buNone/>
            </a:pPr>
            <a:r>
              <a:rPr lang="en-US" sz="1100" dirty="0">
                <a:solidFill>
                  <a:srgbClr val="C8C2B2"/>
                </a:solidFill>
                <a:latin typeface="Consolas" pitchFamily="34" charset="0"/>
                <a:ea typeface="Consolas" pitchFamily="34" charset="-122"/>
                <a:cs typeface="Consolas" pitchFamily="34" charset="-120"/>
              </a:rPr>
              <a:t>APR</a:t>
            </a:r>
            <a:endParaRPr lang="en-US" sz="1100" dirty="0"/>
          </a:p>
        </p:txBody>
      </p:sp>
      <p:sp>
        <p:nvSpPr>
          <p:cNvPr id="19" name="Text 16"/>
          <p:cNvSpPr/>
          <p:nvPr/>
        </p:nvSpPr>
        <p:spPr>
          <a:xfrm>
            <a:off x="868680" y="5440680"/>
            <a:ext cx="2926080" cy="274320"/>
          </a:xfrm>
          <a:prstGeom prst="rect">
            <a:avLst/>
          </a:prstGeom>
          <a:noFill/>
          <a:ln/>
        </p:spPr>
        <p:txBody>
          <a:bodyPr wrap="square" lIns="0" tIns="0" rIns="0" bIns="0" rtlCol="0" anchor="ctr"/>
          <a:lstStyle/>
          <a:p>
            <a:pPr indent="0" marL="0">
              <a:buNone/>
            </a:pPr>
            <a:r>
              <a:rPr lang="en-US" sz="1100" i="1" dirty="0">
                <a:solidFill>
                  <a:srgbClr val="C8C2B2"/>
                </a:solidFill>
                <a:latin typeface="Calibri" pitchFamily="34" charset="0"/>
                <a:ea typeface="Calibri" pitchFamily="34" charset="-122"/>
                <a:cs typeface="Calibri" pitchFamily="34" charset="-120"/>
              </a:rPr>
              <a:t>Unsecured · revolving balance</a:t>
            </a:r>
            <a:endParaRPr lang="en-US" sz="1100" dirty="0"/>
          </a:p>
        </p:txBody>
      </p:sp>
      <p:sp>
        <p:nvSpPr>
          <p:cNvPr id="20" name="Shape 17"/>
          <p:cNvSpPr/>
          <p:nvPr/>
        </p:nvSpPr>
        <p:spPr>
          <a:xfrm>
            <a:off x="4404208" y="4160520"/>
            <a:ext cx="3383280" cy="1691640"/>
          </a:xfrm>
          <a:prstGeom prst="rect">
            <a:avLst/>
          </a:prstGeom>
          <a:solidFill>
            <a:srgbClr val="12131A"/>
          </a:solidFill>
          <a:ln w="9525">
            <a:solidFill>
              <a:srgbClr val="C8C2B2"/>
            </a:solidFill>
            <a:prstDash val="solid"/>
          </a:ln>
        </p:spPr>
      </p:sp>
      <p:sp>
        <p:nvSpPr>
          <p:cNvPr id="21" name="Shape 18"/>
          <p:cNvSpPr/>
          <p:nvPr/>
        </p:nvSpPr>
        <p:spPr>
          <a:xfrm>
            <a:off x="4404208" y="4160520"/>
            <a:ext cx="3383280" cy="36576"/>
          </a:xfrm>
          <a:prstGeom prst="rect">
            <a:avLst/>
          </a:prstGeom>
          <a:solidFill>
            <a:srgbClr val="C8C2B2"/>
          </a:solidFill>
          <a:ln w="12700">
            <a:solidFill>
              <a:srgbClr val="C8C2B2"/>
            </a:solidFill>
            <a:prstDash val="solid"/>
          </a:ln>
        </p:spPr>
      </p:sp>
      <p:sp>
        <p:nvSpPr>
          <p:cNvPr id="22" name="Text 19"/>
          <p:cNvSpPr/>
          <p:nvPr/>
        </p:nvSpPr>
        <p:spPr>
          <a:xfrm>
            <a:off x="4632808" y="4343400"/>
            <a:ext cx="2926080" cy="274320"/>
          </a:xfrm>
          <a:prstGeom prst="rect">
            <a:avLst/>
          </a:prstGeom>
          <a:noFill/>
          <a:ln/>
        </p:spPr>
        <p:txBody>
          <a:bodyPr wrap="square" lIns="0" tIns="0" rIns="0" bIns="0" rtlCol="0" anchor="ctr"/>
          <a:lstStyle/>
          <a:p>
            <a:pPr indent="0" marL="0">
              <a:buNone/>
            </a:pPr>
            <a:r>
              <a:rPr lang="en-US" sz="1000" b="1" spc="400" kern="0" dirty="0">
                <a:solidFill>
                  <a:srgbClr val="C8C2B2"/>
                </a:solidFill>
                <a:latin typeface="Consolas" pitchFamily="34" charset="0"/>
                <a:ea typeface="Consolas" pitchFamily="34" charset="-122"/>
                <a:cs typeface="Consolas" pitchFamily="34" charset="-120"/>
              </a:rPr>
              <a:t>CAIXA FEDERAL PAWN</a:t>
            </a:r>
            <a:endParaRPr lang="en-US" sz="1000" dirty="0"/>
          </a:p>
        </p:txBody>
      </p:sp>
      <p:sp>
        <p:nvSpPr>
          <p:cNvPr id="23" name="Text 20"/>
          <p:cNvSpPr/>
          <p:nvPr/>
        </p:nvSpPr>
        <p:spPr>
          <a:xfrm>
            <a:off x="4632808" y="4663440"/>
            <a:ext cx="2926080" cy="640080"/>
          </a:xfrm>
          <a:prstGeom prst="rect">
            <a:avLst/>
          </a:prstGeom>
          <a:noFill/>
          <a:ln/>
        </p:spPr>
        <p:txBody>
          <a:bodyPr wrap="square" lIns="0" tIns="0" rIns="0" bIns="0" rtlCol="0" anchor="ctr"/>
          <a:lstStyle/>
          <a:p>
            <a:pPr indent="0" marL="0">
              <a:buNone/>
            </a:pPr>
            <a:r>
              <a:rPr lang="en-US" sz="3600" b="1" dirty="0">
                <a:solidFill>
                  <a:srgbClr val="F5F0E8"/>
                </a:solidFill>
                <a:latin typeface="Georgia" pitchFamily="34" charset="0"/>
                <a:ea typeface="Georgia" pitchFamily="34" charset="-122"/>
                <a:cs typeface="Georgia" pitchFamily="34" charset="-120"/>
              </a:rPr>
              <a:t>~30%</a:t>
            </a:r>
            <a:endParaRPr lang="en-US" sz="3600" dirty="0"/>
          </a:p>
        </p:txBody>
      </p:sp>
      <p:sp>
        <p:nvSpPr>
          <p:cNvPr id="24" name="Text 21"/>
          <p:cNvSpPr/>
          <p:nvPr/>
        </p:nvSpPr>
        <p:spPr>
          <a:xfrm>
            <a:off x="4632808" y="5257800"/>
            <a:ext cx="2926080" cy="274320"/>
          </a:xfrm>
          <a:prstGeom prst="rect">
            <a:avLst/>
          </a:prstGeom>
          <a:noFill/>
          <a:ln/>
        </p:spPr>
        <p:txBody>
          <a:bodyPr wrap="square" lIns="0" tIns="0" rIns="0" bIns="0" rtlCol="0" anchor="ctr"/>
          <a:lstStyle/>
          <a:p>
            <a:pPr indent="0" marL="0">
              <a:buNone/>
            </a:pPr>
            <a:r>
              <a:rPr lang="en-US" sz="1100" dirty="0">
                <a:solidFill>
                  <a:srgbClr val="C8C2B2"/>
                </a:solidFill>
                <a:latin typeface="Consolas" pitchFamily="34" charset="0"/>
                <a:ea typeface="Consolas" pitchFamily="34" charset="-122"/>
                <a:cs typeface="Consolas" pitchFamily="34" charset="-120"/>
              </a:rPr>
              <a:t>APR · 20% LTV</a:t>
            </a:r>
            <a:endParaRPr lang="en-US" sz="1100" dirty="0"/>
          </a:p>
        </p:txBody>
      </p:sp>
      <p:sp>
        <p:nvSpPr>
          <p:cNvPr id="25" name="Text 22"/>
          <p:cNvSpPr/>
          <p:nvPr/>
        </p:nvSpPr>
        <p:spPr>
          <a:xfrm>
            <a:off x="4632808" y="5440680"/>
            <a:ext cx="2926080" cy="274320"/>
          </a:xfrm>
          <a:prstGeom prst="rect">
            <a:avLst/>
          </a:prstGeom>
          <a:noFill/>
          <a:ln/>
        </p:spPr>
        <p:txBody>
          <a:bodyPr wrap="square" lIns="0" tIns="0" rIns="0" bIns="0" rtlCol="0" anchor="ctr"/>
          <a:lstStyle/>
          <a:p>
            <a:pPr indent="0" marL="0">
              <a:buNone/>
            </a:pPr>
            <a:r>
              <a:rPr lang="en-US" sz="1100" i="1" dirty="0">
                <a:solidFill>
                  <a:srgbClr val="C8C2B2"/>
                </a:solidFill>
                <a:latin typeface="Calibri" pitchFamily="34" charset="0"/>
                <a:ea typeface="Calibri" pitchFamily="34" charset="-122"/>
                <a:cs typeface="Calibri" pitchFamily="34" charset="-120"/>
              </a:rPr>
              <a:t>Evaluated as scrap metal</a:t>
            </a:r>
            <a:endParaRPr lang="en-US" sz="1100" dirty="0"/>
          </a:p>
        </p:txBody>
      </p:sp>
      <p:sp>
        <p:nvSpPr>
          <p:cNvPr id="26" name="Shape 23"/>
          <p:cNvSpPr/>
          <p:nvPr/>
        </p:nvSpPr>
        <p:spPr>
          <a:xfrm>
            <a:off x="8168335" y="4160520"/>
            <a:ext cx="3383280" cy="1691640"/>
          </a:xfrm>
          <a:prstGeom prst="rect">
            <a:avLst/>
          </a:prstGeom>
          <a:solidFill>
            <a:srgbClr val="12131A"/>
          </a:solidFill>
          <a:ln w="9525">
            <a:solidFill>
              <a:srgbClr val="0E7C7B"/>
            </a:solidFill>
            <a:prstDash val="solid"/>
          </a:ln>
        </p:spPr>
      </p:sp>
      <p:sp>
        <p:nvSpPr>
          <p:cNvPr id="27" name="Shape 24"/>
          <p:cNvSpPr/>
          <p:nvPr/>
        </p:nvSpPr>
        <p:spPr>
          <a:xfrm>
            <a:off x="8168335" y="4160520"/>
            <a:ext cx="3383280" cy="36576"/>
          </a:xfrm>
          <a:prstGeom prst="rect">
            <a:avLst/>
          </a:prstGeom>
          <a:solidFill>
            <a:srgbClr val="0E7C7B"/>
          </a:solidFill>
          <a:ln w="12700">
            <a:solidFill>
              <a:srgbClr val="0E7C7B"/>
            </a:solidFill>
            <a:prstDash val="solid"/>
          </a:ln>
        </p:spPr>
      </p:sp>
      <p:sp>
        <p:nvSpPr>
          <p:cNvPr id="28" name="Text 25"/>
          <p:cNvSpPr/>
          <p:nvPr/>
        </p:nvSpPr>
        <p:spPr>
          <a:xfrm>
            <a:off x="8396935" y="4343400"/>
            <a:ext cx="2926080" cy="274320"/>
          </a:xfrm>
          <a:prstGeom prst="rect">
            <a:avLst/>
          </a:prstGeom>
          <a:noFill/>
          <a:ln/>
        </p:spPr>
        <p:txBody>
          <a:bodyPr wrap="square" lIns="0" tIns="0" rIns="0" bIns="0" rtlCol="0" anchor="ctr"/>
          <a:lstStyle/>
          <a:p>
            <a:pPr indent="0" marL="0">
              <a:buNone/>
            </a:pPr>
            <a:r>
              <a:rPr lang="en-US" sz="1000" b="1" spc="400" kern="0" dirty="0">
                <a:solidFill>
                  <a:srgbClr val="0E7C7B"/>
                </a:solidFill>
                <a:latin typeface="Consolas" pitchFamily="34" charset="0"/>
                <a:ea typeface="Consolas" pitchFamily="34" charset="-122"/>
                <a:cs typeface="Consolas" pitchFamily="34" charset="-120"/>
              </a:rPr>
              <a:t>GLOBAL DEFI</a:t>
            </a:r>
            <a:endParaRPr lang="en-US" sz="1000" dirty="0"/>
          </a:p>
        </p:txBody>
      </p:sp>
      <p:sp>
        <p:nvSpPr>
          <p:cNvPr id="29" name="Text 26"/>
          <p:cNvSpPr/>
          <p:nvPr/>
        </p:nvSpPr>
        <p:spPr>
          <a:xfrm>
            <a:off x="8396935" y="4663440"/>
            <a:ext cx="2926080" cy="640080"/>
          </a:xfrm>
          <a:prstGeom prst="rect">
            <a:avLst/>
          </a:prstGeom>
          <a:noFill/>
          <a:ln/>
        </p:spPr>
        <p:txBody>
          <a:bodyPr wrap="square" lIns="0" tIns="0" rIns="0" bIns="0" rtlCol="0" anchor="ctr"/>
          <a:lstStyle/>
          <a:p>
            <a:pPr indent="0" marL="0">
              <a:buNone/>
            </a:pPr>
            <a:r>
              <a:rPr lang="en-US" sz="3600" b="1" dirty="0">
                <a:solidFill>
                  <a:srgbClr val="F5F0E8"/>
                </a:solidFill>
                <a:latin typeface="Georgia" pitchFamily="34" charset="0"/>
                <a:ea typeface="Georgia" pitchFamily="34" charset="-122"/>
                <a:cs typeface="Georgia" pitchFamily="34" charset="-120"/>
              </a:rPr>
              <a:t>8–10%</a:t>
            </a:r>
            <a:endParaRPr lang="en-US" sz="3600" dirty="0"/>
          </a:p>
        </p:txBody>
      </p:sp>
      <p:sp>
        <p:nvSpPr>
          <p:cNvPr id="30" name="Text 27"/>
          <p:cNvSpPr/>
          <p:nvPr/>
        </p:nvSpPr>
        <p:spPr>
          <a:xfrm>
            <a:off x="8396935" y="5257800"/>
            <a:ext cx="2926080" cy="274320"/>
          </a:xfrm>
          <a:prstGeom prst="rect">
            <a:avLst/>
          </a:prstGeom>
          <a:noFill/>
          <a:ln/>
        </p:spPr>
        <p:txBody>
          <a:bodyPr wrap="square" lIns="0" tIns="0" rIns="0" bIns="0" rtlCol="0" anchor="ctr"/>
          <a:lstStyle/>
          <a:p>
            <a:pPr indent="0" marL="0">
              <a:buNone/>
            </a:pPr>
            <a:r>
              <a:rPr lang="en-US" sz="1100" dirty="0">
                <a:solidFill>
                  <a:srgbClr val="C8C2B2"/>
                </a:solidFill>
                <a:latin typeface="Consolas" pitchFamily="34" charset="0"/>
                <a:ea typeface="Consolas" pitchFamily="34" charset="-122"/>
                <a:cs typeface="Consolas" pitchFamily="34" charset="-120"/>
              </a:rPr>
              <a:t>APR</a:t>
            </a:r>
            <a:endParaRPr lang="en-US" sz="1100" dirty="0"/>
          </a:p>
        </p:txBody>
      </p:sp>
      <p:sp>
        <p:nvSpPr>
          <p:cNvPr id="31" name="Text 28"/>
          <p:cNvSpPr/>
          <p:nvPr/>
        </p:nvSpPr>
        <p:spPr>
          <a:xfrm>
            <a:off x="8396935" y="5440680"/>
            <a:ext cx="2926080" cy="274320"/>
          </a:xfrm>
          <a:prstGeom prst="rect">
            <a:avLst/>
          </a:prstGeom>
          <a:noFill/>
          <a:ln/>
        </p:spPr>
        <p:txBody>
          <a:bodyPr wrap="square" lIns="0" tIns="0" rIns="0" bIns="0" rtlCol="0" anchor="ctr"/>
          <a:lstStyle/>
          <a:p>
            <a:pPr indent="0" marL="0">
              <a:buNone/>
            </a:pPr>
            <a:r>
              <a:rPr lang="en-US" sz="1100" i="1" dirty="0">
                <a:solidFill>
                  <a:srgbClr val="C8C2B2"/>
                </a:solidFill>
                <a:latin typeface="Calibri" pitchFamily="34" charset="0"/>
                <a:ea typeface="Calibri" pitchFamily="34" charset="-122"/>
                <a:cs typeface="Calibri" pitchFamily="34" charset="-120"/>
              </a:rPr>
              <a:t>Institutional capital</a:t>
            </a:r>
            <a:endParaRPr lang="en-US" sz="1100" dirty="0"/>
          </a:p>
        </p:txBody>
      </p:sp>
      <p:sp>
        <p:nvSpPr>
          <p:cNvPr id="32" name="Shape 29"/>
          <p:cNvSpPr/>
          <p:nvPr/>
        </p:nvSpPr>
        <p:spPr>
          <a:xfrm>
            <a:off x="640080" y="6080760"/>
            <a:ext cx="10911535" cy="0"/>
          </a:xfrm>
          <a:prstGeom prst="line">
            <a:avLst/>
          </a:prstGeom>
          <a:noFill/>
          <a:ln w="6350">
            <a:solidFill>
              <a:srgbClr val="1F1F25"/>
            </a:solidFill>
            <a:prstDash val="solid"/>
          </a:ln>
        </p:spPr>
      </p:sp>
      <p:sp>
        <p:nvSpPr>
          <p:cNvPr id="33" name="Text 30"/>
          <p:cNvSpPr/>
          <p:nvPr/>
        </p:nvSpPr>
        <p:spPr>
          <a:xfrm>
            <a:off x="640080" y="6217920"/>
            <a:ext cx="10911535" cy="457200"/>
          </a:xfrm>
          <a:prstGeom prst="rect">
            <a:avLst/>
          </a:prstGeom>
          <a:noFill/>
          <a:ln/>
        </p:spPr>
        <p:txBody>
          <a:bodyPr wrap="square" lIns="0" tIns="0" rIns="0" bIns="0" rtlCol="0" anchor="ctr"/>
          <a:lstStyle/>
          <a:p>
            <a:pPr algn="ctr" indent="0" marL="0">
              <a:buNone/>
            </a:pPr>
            <a:r>
              <a:rPr lang="en-US" sz="1800" b="1" dirty="0">
                <a:solidFill>
                  <a:srgbClr val="F5F0E8"/>
                </a:solidFill>
                <a:latin typeface="Georgia" pitchFamily="34" charset="0"/>
                <a:ea typeface="Georgia" pitchFamily="34" charset="-122"/>
                <a:cs typeface="Georgia" pitchFamily="34" charset="-120"/>
              </a:rPr>
              <a:t>The gap is not capital.   </a:t>
            </a:r>
            <a:pPr algn="ctr" indent="0" marL="0">
              <a:buNone/>
            </a:pPr>
            <a:r>
              <a:rPr lang="en-US" sz="1800" b="1" dirty="0">
                <a:solidFill>
                  <a:srgbClr val="F5F0E8"/>
                </a:solidFill>
                <a:latin typeface="Georgia" pitchFamily="34" charset="0"/>
                <a:ea typeface="Georgia" pitchFamily="34" charset="-122"/>
                <a:cs typeface="Georgia" pitchFamily="34" charset="-120"/>
              </a:rPr>
              <a:t>The gap is the </a:t>
            </a:r>
            <a:pPr algn="ctr" indent="0" marL="0">
              <a:buNone/>
            </a:pPr>
            <a:r>
              <a:rPr lang="en-US" sz="1800" b="1" i="1" dirty="0">
                <a:solidFill>
                  <a:srgbClr val="C9A86A"/>
                </a:solidFill>
                <a:latin typeface="Georgia" pitchFamily="34" charset="0"/>
                <a:ea typeface="Georgia" pitchFamily="34" charset="-122"/>
                <a:cs typeface="Georgia" pitchFamily="34" charset="-120"/>
              </a:rPr>
              <a:t>rail</a:t>
            </a:r>
            <a:pPr algn="ctr" indent="0" marL="0">
              <a:buNone/>
            </a:pPr>
            <a:r>
              <a:rPr lang="en-US" sz="1800" b="1" dirty="0">
                <a:solidFill>
                  <a:srgbClr val="F5F0E8"/>
                </a:solidFill>
                <a:latin typeface="Georgia" pitchFamily="34" charset="0"/>
                <a:ea typeface="Georgia" pitchFamily="34" charset="-122"/>
                <a:cs typeface="Georgia" pitchFamily="34" charset="-120"/>
              </a:rPr>
              <a: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a:ln/>
        </p:spPr>
        <p:txBody>
          <a:bodyPr wrap="square" lIns="0" tIns="0" rIns="0" bIns="0" rtlCol="0" anchor="ctr"/>
          <a:lstStyle/>
          <a:p>
            <a:pPr indent="0" marL="0">
              <a:buNone/>
            </a:pPr>
            <a:r>
              <a:rPr lang="en-US" sz="950" b="1" spc="400" kern="0" dirty="0">
                <a:solidFill>
                  <a:srgbClr val="0E7C7B"/>
                </a:solidFill>
                <a:latin typeface="Consolas" pitchFamily="34" charset="0"/>
                <a:ea typeface="Consolas" pitchFamily="34" charset="-122"/>
                <a:cs typeface="Consolas" pitchFamily="34" charset="-120"/>
              </a:rPr>
              <a:t>02  /  PROTOCOL ARCHITECTURE</a:t>
            </a:r>
            <a:endParaRPr lang="en-US" sz="950" dirty="0"/>
          </a:p>
        </p:txBody>
      </p:sp>
      <p:sp>
        <p:nvSpPr>
          <p:cNvPr id="4" name="Text 2"/>
          <p:cNvSpPr/>
          <p:nvPr/>
        </p:nvSpPr>
        <p:spPr>
          <a:xfrm>
            <a:off x="10911535" y="274320"/>
            <a:ext cx="914400" cy="228600"/>
          </a:xfrm>
          <a:prstGeom prst="rect">
            <a:avLst/>
          </a:prstGeom>
          <a:noFill/>
          <a:ln/>
        </p:spPr>
        <p:txBody>
          <a:bodyPr wrap="square" lIns="0" tIns="0" rIns="0" bIns="0" rtlCol="0" anchor="ctr"/>
          <a:lstStyle/>
          <a:p>
            <a:pPr algn="r" indent="0" marL="0">
              <a:buNone/>
            </a:pPr>
            <a:r>
              <a:rPr lang="en-US" sz="900" spc="300" kern="0" dirty="0">
                <a:solidFill>
                  <a:srgbClr val="8A8A90"/>
                </a:solidFill>
                <a:latin typeface="Consolas" pitchFamily="34" charset="0"/>
                <a:ea typeface="Consolas" pitchFamily="34" charset="-122"/>
                <a:cs typeface="Consolas" pitchFamily="34" charset="-120"/>
              </a:rPr>
              <a:t>02 / 09</a:t>
            </a:r>
            <a:endParaRPr lang="en-US" sz="900" dirty="0"/>
          </a:p>
        </p:txBody>
      </p:sp>
      <p:sp>
        <p:nvSpPr>
          <p:cNvPr id="5" name="Text 3"/>
          <p:cNvSpPr/>
          <p:nvPr/>
        </p:nvSpPr>
        <p:spPr>
          <a:xfrm>
            <a:off x="640080" y="777240"/>
            <a:ext cx="10911535" cy="777240"/>
          </a:xfrm>
          <a:prstGeom prst="rect">
            <a:avLst/>
          </a:prstGeom>
          <a:noFill/>
          <a:ln/>
        </p:spPr>
        <p:txBody>
          <a:bodyPr wrap="square" lIns="0" tIns="0" rIns="0" bIns="0" rtlCol="0" anchor="ctr"/>
          <a:lstStyle/>
          <a:p>
            <a:pPr indent="0" marL="0">
              <a:buNone/>
            </a:pPr>
            <a:r>
              <a:rPr lang="en-US" sz="3200" b="1" dirty="0">
                <a:solidFill>
                  <a:srgbClr val="F5F0E8"/>
                </a:solidFill>
                <a:latin typeface="Georgia" pitchFamily="34" charset="0"/>
                <a:ea typeface="Georgia" pitchFamily="34" charset="-122"/>
                <a:cs typeface="Georgia" pitchFamily="34" charset="-120"/>
              </a:rPr>
              <a:t>The on-chain credit rail.</a:t>
            </a:r>
            <a:endParaRPr lang="en-US" sz="3200" dirty="0"/>
          </a:p>
        </p:txBody>
      </p:sp>
      <p:sp>
        <p:nvSpPr>
          <p:cNvPr id="6" name="Text 4"/>
          <p:cNvSpPr/>
          <p:nvPr/>
        </p:nvSpPr>
        <p:spPr>
          <a:xfrm>
            <a:off x="640080" y="1554480"/>
            <a:ext cx="10911535" cy="365760"/>
          </a:xfrm>
          <a:prstGeom prst="rect">
            <a:avLst/>
          </a:prstGeom>
          <a:noFill/>
          <a:ln/>
        </p:spPr>
        <p:txBody>
          <a:bodyPr wrap="square" lIns="0" tIns="0" rIns="0" bIns="0" rtlCol="0" anchor="ctr"/>
          <a:lstStyle/>
          <a:p>
            <a:pPr indent="0" marL="0">
              <a:buNone/>
            </a:pPr>
            <a:r>
              <a:rPr lang="en-US" sz="1300" dirty="0">
                <a:solidFill>
                  <a:srgbClr val="C8C2B2"/>
                </a:solidFill>
                <a:latin typeface="Calibri" pitchFamily="34" charset="0"/>
                <a:ea typeface="Calibri" pitchFamily="34" charset="-122"/>
                <a:cs typeface="Calibri" pitchFamily="34" charset="-120"/>
              </a:rPr>
              <a:t>Vaulx orchestrates licensed counterparties — we don't hold capital, we don't take custody.</a:t>
            </a:r>
            <a:endParaRPr lang="en-US" sz="1300" dirty="0"/>
          </a:p>
        </p:txBody>
      </p:sp>
      <p:sp>
        <p:nvSpPr>
          <p:cNvPr id="7" name="Shape 5"/>
          <p:cNvSpPr/>
          <p:nvPr/>
        </p:nvSpPr>
        <p:spPr>
          <a:xfrm>
            <a:off x="640080" y="1993392"/>
            <a:ext cx="914400" cy="0"/>
          </a:xfrm>
          <a:prstGeom prst="line">
            <a:avLst/>
          </a:prstGeom>
          <a:noFill/>
          <a:ln w="15240">
            <a:solidFill>
              <a:srgbClr val="0E7C7B"/>
            </a:solidFill>
            <a:prstDash val="solid"/>
          </a:ln>
        </p:spPr>
      </p:sp>
      <p:sp>
        <p:nvSpPr>
          <p:cNvPr id="8" name="Shape 6"/>
          <p:cNvSpPr/>
          <p:nvPr/>
        </p:nvSpPr>
        <p:spPr>
          <a:xfrm>
            <a:off x="5227168" y="4434840"/>
            <a:ext cx="-1478128" cy="0"/>
          </a:xfrm>
          <a:prstGeom prst="line">
            <a:avLst/>
          </a:prstGeom>
          <a:noFill/>
          <a:ln w="12700">
            <a:solidFill>
              <a:srgbClr val="0E7C7B"/>
            </a:solidFill>
            <a:prstDash val="solid"/>
          </a:ln>
        </p:spPr>
      </p:sp>
      <p:sp>
        <p:nvSpPr>
          <p:cNvPr id="9" name="Shape 7"/>
          <p:cNvSpPr/>
          <p:nvPr/>
        </p:nvSpPr>
        <p:spPr>
          <a:xfrm>
            <a:off x="6095848" y="3566160"/>
            <a:ext cx="0" cy="-502920"/>
          </a:xfrm>
          <a:prstGeom prst="line">
            <a:avLst/>
          </a:prstGeom>
          <a:noFill/>
          <a:ln w="12700">
            <a:solidFill>
              <a:srgbClr val="0E7C7B"/>
            </a:solidFill>
            <a:prstDash val="solid"/>
          </a:ln>
        </p:spPr>
      </p:sp>
      <p:sp>
        <p:nvSpPr>
          <p:cNvPr id="10" name="Shape 8"/>
          <p:cNvSpPr/>
          <p:nvPr/>
        </p:nvSpPr>
        <p:spPr>
          <a:xfrm>
            <a:off x="6964528" y="4434840"/>
            <a:ext cx="1478128" cy="0"/>
          </a:xfrm>
          <a:prstGeom prst="line">
            <a:avLst/>
          </a:prstGeom>
          <a:noFill/>
          <a:ln w="12700">
            <a:solidFill>
              <a:srgbClr val="0E7C7B"/>
            </a:solidFill>
            <a:prstDash val="solid"/>
          </a:ln>
        </p:spPr>
      </p:sp>
      <p:sp>
        <p:nvSpPr>
          <p:cNvPr id="11" name="Shape 9"/>
          <p:cNvSpPr/>
          <p:nvPr/>
        </p:nvSpPr>
        <p:spPr>
          <a:xfrm>
            <a:off x="5227168" y="3566160"/>
            <a:ext cx="1737360" cy="1737360"/>
          </a:xfrm>
          <a:prstGeom prst="ellipse">
            <a:avLst/>
          </a:prstGeom>
          <a:solidFill>
            <a:srgbClr val="12131A"/>
          </a:solidFill>
          <a:ln w="19050">
            <a:solidFill>
              <a:srgbClr val="0E7C7B"/>
            </a:solidFill>
            <a:prstDash val="solid"/>
          </a:ln>
        </p:spPr>
      </p:sp>
      <p:sp>
        <p:nvSpPr>
          <p:cNvPr id="12" name="Text 10"/>
          <p:cNvSpPr/>
          <p:nvPr/>
        </p:nvSpPr>
        <p:spPr>
          <a:xfrm>
            <a:off x="5227168" y="3794760"/>
            <a:ext cx="1737360" cy="640080"/>
          </a:xfrm>
          <a:prstGeom prst="rect">
            <a:avLst/>
          </a:prstGeom>
          <a:noFill/>
          <a:ln/>
        </p:spPr>
        <p:txBody>
          <a:bodyPr wrap="square" lIns="0" tIns="0" rIns="0" bIns="0" rtlCol="0" anchor="ctr"/>
          <a:lstStyle/>
          <a:p>
            <a:pPr algn="ctr" indent="0" marL="0">
              <a:buNone/>
            </a:pPr>
            <a:r>
              <a:rPr lang="en-US" sz="2600" b="1" dirty="0">
                <a:solidFill>
                  <a:srgbClr val="F5F0E8"/>
                </a:solidFill>
                <a:latin typeface="Georgia" pitchFamily="34" charset="0"/>
                <a:ea typeface="Georgia" pitchFamily="34" charset="-122"/>
                <a:cs typeface="Georgia" pitchFamily="34" charset="-120"/>
              </a:rPr>
              <a:t>Vaulx</a:t>
            </a:r>
            <a:endParaRPr lang="en-US" sz="2600" dirty="0"/>
          </a:p>
        </p:txBody>
      </p:sp>
      <p:sp>
        <p:nvSpPr>
          <p:cNvPr id="13" name="Text 11"/>
          <p:cNvSpPr/>
          <p:nvPr/>
        </p:nvSpPr>
        <p:spPr>
          <a:xfrm>
            <a:off x="5227168" y="4434840"/>
            <a:ext cx="1737360" cy="365760"/>
          </a:xfrm>
          <a:prstGeom prst="rect">
            <a:avLst/>
          </a:prstGeom>
          <a:noFill/>
          <a:ln/>
        </p:spPr>
        <p:txBody>
          <a:bodyPr wrap="square" lIns="0" tIns="0" rIns="0" bIns="0" rtlCol="0" anchor="ctr"/>
          <a:lstStyle/>
          <a:p>
            <a:pPr algn="ctr" indent="0" marL="0">
              <a:buNone/>
            </a:pPr>
            <a:r>
              <a:rPr lang="en-US" sz="900" b="1" spc="400" kern="0" dirty="0">
                <a:solidFill>
                  <a:srgbClr val="0E7C7B"/>
                </a:solidFill>
                <a:latin typeface="Consolas" pitchFamily="34" charset="0"/>
                <a:ea typeface="Consolas" pitchFamily="34" charset="-122"/>
                <a:cs typeface="Consolas" pitchFamily="34" charset="-120"/>
              </a:rPr>
              <a:t>ORCHESTRATOR</a:t>
            </a:r>
            <a:endParaRPr lang="en-US" sz="900" dirty="0"/>
          </a:p>
        </p:txBody>
      </p:sp>
      <p:sp>
        <p:nvSpPr>
          <p:cNvPr id="14" name="Text 12"/>
          <p:cNvSpPr/>
          <p:nvPr/>
        </p:nvSpPr>
        <p:spPr>
          <a:xfrm>
            <a:off x="5227168" y="4773168"/>
            <a:ext cx="1737360" cy="292608"/>
          </a:xfrm>
          <a:prstGeom prst="rect">
            <a:avLst/>
          </a:prstGeom>
          <a:noFill/>
          <a:ln/>
        </p:spPr>
        <p:txBody>
          <a:bodyPr wrap="square" lIns="0" tIns="0" rIns="0" bIns="0" rtlCol="0" anchor="ctr"/>
          <a:lstStyle/>
          <a:p>
            <a:pPr algn="ctr" indent="0" marL="0">
              <a:buNone/>
            </a:pPr>
            <a:r>
              <a:rPr lang="en-US" sz="900" i="1" dirty="0">
                <a:solidFill>
                  <a:srgbClr val="8A8A90"/>
                </a:solidFill>
                <a:latin typeface="Consolas" pitchFamily="34" charset="0"/>
                <a:ea typeface="Consolas" pitchFamily="34" charset="-122"/>
                <a:cs typeface="Consolas" pitchFamily="34" charset="-120"/>
              </a:rPr>
              <a:t>4 Anchor programs</a:t>
            </a:r>
            <a:endParaRPr lang="en-US" sz="900" dirty="0"/>
          </a:p>
        </p:txBody>
      </p:sp>
      <p:sp>
        <p:nvSpPr>
          <p:cNvPr id="15" name="Shape 13"/>
          <p:cNvSpPr/>
          <p:nvPr/>
        </p:nvSpPr>
        <p:spPr>
          <a:xfrm>
            <a:off x="640080" y="3589020"/>
            <a:ext cx="3108960" cy="1691640"/>
          </a:xfrm>
          <a:prstGeom prst="rect">
            <a:avLst/>
          </a:prstGeom>
          <a:solidFill>
            <a:srgbClr val="12131A"/>
          </a:solidFill>
          <a:ln w="9525">
            <a:solidFill>
              <a:srgbClr val="0E7C7B"/>
            </a:solidFill>
            <a:prstDash val="solid"/>
          </a:ln>
        </p:spPr>
      </p:sp>
      <p:pic>
        <p:nvPicPr>
          <p:cNvPr id="16" name="Image 0" descr="preencoded.png">    </p:cNvPr>
          <p:cNvPicPr>
            <a:picLocks noChangeAspect="1"/>
          </p:cNvPicPr>
          <p:nvPr/>
        </p:nvPicPr>
        <p:blipFill>
          <a:blip r:embed="rId1"/>
          <a:stretch>
            <a:fillRect/>
          </a:stretch>
        </p:blipFill>
        <p:spPr>
          <a:xfrm>
            <a:off x="868680" y="3790188"/>
            <a:ext cx="365760" cy="365760"/>
          </a:xfrm>
          <a:prstGeom prst="rect">
            <a:avLst/>
          </a:prstGeom>
        </p:spPr>
      </p:pic>
      <p:sp>
        <p:nvSpPr>
          <p:cNvPr id="17" name="Text 14"/>
          <p:cNvSpPr/>
          <p:nvPr/>
        </p:nvSpPr>
        <p:spPr>
          <a:xfrm>
            <a:off x="1371600" y="3790188"/>
            <a:ext cx="2240280" cy="274320"/>
          </a:xfrm>
          <a:prstGeom prst="rect">
            <a:avLst/>
          </a:prstGeom>
          <a:noFill/>
          <a:ln/>
        </p:spPr>
        <p:txBody>
          <a:bodyPr wrap="square" lIns="0" tIns="0" rIns="0" bIns="0" rtlCol="0" anchor="ctr"/>
          <a:lstStyle/>
          <a:p>
            <a:pPr indent="0" marL="0">
              <a:buNone/>
            </a:pPr>
            <a:r>
              <a:rPr lang="en-US" sz="1000" b="1" spc="400" kern="0" dirty="0">
                <a:solidFill>
                  <a:srgbClr val="0E7C7B"/>
                </a:solidFill>
                <a:latin typeface="Consolas" pitchFamily="34" charset="0"/>
                <a:ea typeface="Consolas" pitchFamily="34" charset="-122"/>
                <a:cs typeface="Consolas" pitchFamily="34" charset="-120"/>
              </a:rPr>
              <a:t>BORROWERS</a:t>
            </a:r>
            <a:endParaRPr lang="en-US" sz="1000" dirty="0"/>
          </a:p>
        </p:txBody>
      </p:sp>
      <p:sp>
        <p:nvSpPr>
          <p:cNvPr id="18" name="Text 15"/>
          <p:cNvSpPr/>
          <p:nvPr/>
        </p:nvSpPr>
        <p:spPr>
          <a:xfrm>
            <a:off x="1371600" y="4046220"/>
            <a:ext cx="2240280" cy="274320"/>
          </a:xfrm>
          <a:prstGeom prst="rect">
            <a:avLst/>
          </a:prstGeom>
          <a:noFill/>
          <a:ln/>
        </p:spPr>
        <p:txBody>
          <a:bodyPr wrap="square" lIns="0" tIns="0" rIns="0" bIns="0" rtlCol="0" anchor="ctr"/>
          <a:lstStyle/>
          <a:p>
            <a:pPr indent="0" marL="0">
              <a:buNone/>
            </a:pPr>
            <a:r>
              <a:rPr lang="en-US" sz="1400" i="1" dirty="0">
                <a:solidFill>
                  <a:srgbClr val="F5F0E8"/>
                </a:solidFill>
                <a:latin typeface="Georgia" pitchFamily="34" charset="0"/>
                <a:ea typeface="Georgia" pitchFamily="34" charset="-122"/>
                <a:cs typeface="Georgia" pitchFamily="34" charset="-120"/>
              </a:rPr>
              <a:t>Sumsub KYC</a:t>
            </a:r>
            <a:endParaRPr lang="en-US" sz="1400" dirty="0"/>
          </a:p>
        </p:txBody>
      </p:sp>
      <p:sp>
        <p:nvSpPr>
          <p:cNvPr id="19" name="Shape 16"/>
          <p:cNvSpPr/>
          <p:nvPr/>
        </p:nvSpPr>
        <p:spPr>
          <a:xfrm>
            <a:off x="868680" y="4430268"/>
            <a:ext cx="2651760" cy="0"/>
          </a:xfrm>
          <a:prstGeom prst="line">
            <a:avLst/>
          </a:prstGeom>
          <a:noFill/>
          <a:ln w="6350">
            <a:solidFill>
              <a:srgbClr val="1F1F25"/>
            </a:solidFill>
            <a:prstDash val="solid"/>
          </a:ln>
        </p:spPr>
      </p:sp>
      <p:sp>
        <p:nvSpPr>
          <p:cNvPr id="20" name="Text 17"/>
          <p:cNvSpPr/>
          <p:nvPr/>
        </p:nvSpPr>
        <p:spPr>
          <a:xfrm>
            <a:off x="868680" y="4503420"/>
            <a:ext cx="2651760" cy="731520"/>
          </a:xfrm>
          <a:prstGeom prst="rect">
            <a:avLst/>
          </a:prstGeom>
          <a:noFill/>
          <a:ln/>
        </p:spPr>
        <p:txBody>
          <a:bodyPr wrap="square" lIns="0" tIns="0" rIns="0" bIns="0" rtlCol="0" anchor="ctr"/>
          <a:lstStyle/>
          <a:p>
            <a:pPr indent="0" marL="0">
              <a:lnSpc>
                <a:spcPts val="1600"/>
              </a:lnSpc>
              <a:buNone/>
            </a:pPr>
            <a:r>
              <a:rPr lang="en-US" sz="1100" dirty="0">
                <a:solidFill>
                  <a:srgbClr val="C8C2B2"/>
                </a:solidFill>
                <a:latin typeface="Calibri" pitchFamily="34" charset="0"/>
                <a:ea typeface="Calibri" pitchFamily="34" charset="-122"/>
                <a:cs typeface="Calibri" pitchFamily="34" charset="-120"/>
              </a:rPr>
              <a:t>Crossmint social login</a:t>
            </a:r>
            <a:endParaRPr lang="en-US" sz="1100" dirty="0"/>
          </a:p>
          <a:p>
            <a:pPr indent="0" marL="0">
              <a:lnSpc>
                <a:spcPts val="1600"/>
              </a:lnSpc>
              <a:buNone/>
            </a:pPr>
            <a:r>
              <a:rPr lang="en-US" sz="1100" dirty="0">
                <a:solidFill>
                  <a:srgbClr val="C8C2B2"/>
                </a:solidFill>
                <a:latin typeface="Calibri" pitchFamily="34" charset="0"/>
                <a:ea typeface="Calibri" pitchFamily="34" charset="-122"/>
                <a:cs typeface="Calibri" pitchFamily="34" charset="-120"/>
              </a:rPr>
              <a:t>Reusable SAS attestation</a:t>
            </a:r>
            <a:endParaRPr lang="en-US" sz="1100" dirty="0"/>
          </a:p>
          <a:p>
            <a:pPr indent="0" marL="0">
              <a:lnSpc>
                <a:spcPts val="1600"/>
              </a:lnSpc>
              <a:buNone/>
            </a:pPr>
            <a:r>
              <a:rPr lang="en-US" sz="1100" dirty="0">
                <a:solidFill>
                  <a:srgbClr val="C8C2B2"/>
                </a:solidFill>
                <a:latin typeface="Calibri" pitchFamily="34" charset="0"/>
                <a:ea typeface="Calibri" pitchFamily="34" charset="-122"/>
                <a:cs typeface="Calibri" pitchFamily="34" charset="-120"/>
              </a:rPr>
              <a:t>1-tap onchain identity</a:t>
            </a:r>
            <a:endParaRPr lang="en-US" sz="1100" dirty="0"/>
          </a:p>
        </p:txBody>
      </p:sp>
      <p:sp>
        <p:nvSpPr>
          <p:cNvPr id="21" name="Shape 18"/>
          <p:cNvSpPr/>
          <p:nvPr/>
        </p:nvSpPr>
        <p:spPr>
          <a:xfrm>
            <a:off x="4541368" y="1874520"/>
            <a:ext cx="3108960" cy="1188720"/>
          </a:xfrm>
          <a:prstGeom prst="rect">
            <a:avLst/>
          </a:prstGeom>
          <a:solidFill>
            <a:srgbClr val="12131A"/>
          </a:solidFill>
          <a:ln w="9525">
            <a:solidFill>
              <a:srgbClr val="0E7C7B"/>
            </a:solidFill>
            <a:prstDash val="solid"/>
          </a:ln>
        </p:spPr>
      </p:sp>
      <p:pic>
        <p:nvPicPr>
          <p:cNvPr id="22" name="Image 1" descr="preencoded.png">    </p:cNvPr>
          <p:cNvPicPr>
            <a:picLocks noChangeAspect="1"/>
          </p:cNvPicPr>
          <p:nvPr/>
        </p:nvPicPr>
        <p:blipFill>
          <a:blip r:embed="rId2"/>
          <a:stretch>
            <a:fillRect/>
          </a:stretch>
        </p:blipFill>
        <p:spPr>
          <a:xfrm>
            <a:off x="4769968" y="2075688"/>
            <a:ext cx="365760" cy="365760"/>
          </a:xfrm>
          <a:prstGeom prst="rect">
            <a:avLst/>
          </a:prstGeom>
        </p:spPr>
      </p:pic>
      <p:sp>
        <p:nvSpPr>
          <p:cNvPr id="23" name="Text 19"/>
          <p:cNvSpPr/>
          <p:nvPr/>
        </p:nvSpPr>
        <p:spPr>
          <a:xfrm>
            <a:off x="5272888" y="2075688"/>
            <a:ext cx="2240280" cy="274320"/>
          </a:xfrm>
          <a:prstGeom prst="rect">
            <a:avLst/>
          </a:prstGeom>
          <a:noFill/>
          <a:ln/>
        </p:spPr>
        <p:txBody>
          <a:bodyPr wrap="square" lIns="0" tIns="0" rIns="0" bIns="0" rtlCol="0" anchor="ctr"/>
          <a:lstStyle/>
          <a:p>
            <a:pPr indent="0" marL="0">
              <a:buNone/>
            </a:pPr>
            <a:r>
              <a:rPr lang="en-US" sz="1000" b="1" spc="400" kern="0" dirty="0">
                <a:solidFill>
                  <a:srgbClr val="0E7C7B"/>
                </a:solidFill>
                <a:latin typeface="Consolas" pitchFamily="34" charset="0"/>
                <a:ea typeface="Consolas" pitchFamily="34" charset="-122"/>
                <a:cs typeface="Consolas" pitchFamily="34" charset="-120"/>
              </a:rPr>
              <a:t>LICENSED CUSTODY</a:t>
            </a:r>
            <a:endParaRPr lang="en-US" sz="1000" dirty="0"/>
          </a:p>
        </p:txBody>
      </p:sp>
      <p:sp>
        <p:nvSpPr>
          <p:cNvPr id="24" name="Text 20"/>
          <p:cNvSpPr/>
          <p:nvPr/>
        </p:nvSpPr>
        <p:spPr>
          <a:xfrm>
            <a:off x="5272888" y="2331720"/>
            <a:ext cx="2240280" cy="274320"/>
          </a:xfrm>
          <a:prstGeom prst="rect">
            <a:avLst/>
          </a:prstGeom>
          <a:noFill/>
          <a:ln/>
        </p:spPr>
        <p:txBody>
          <a:bodyPr wrap="square" lIns="0" tIns="0" rIns="0" bIns="0" rtlCol="0" anchor="ctr"/>
          <a:lstStyle/>
          <a:p>
            <a:pPr indent="0" marL="0">
              <a:buNone/>
            </a:pPr>
            <a:r>
              <a:rPr lang="en-US" sz="1400" i="1" dirty="0">
                <a:solidFill>
                  <a:srgbClr val="F5F0E8"/>
                </a:solidFill>
                <a:latin typeface="Georgia" pitchFamily="34" charset="0"/>
                <a:ea typeface="Georgia" pitchFamily="34" charset="-122"/>
                <a:cs typeface="Georgia" pitchFamily="34" charset="-120"/>
              </a:rPr>
              <a:t>Sekuro intake</a:t>
            </a:r>
            <a:endParaRPr lang="en-US" sz="1400" dirty="0"/>
          </a:p>
        </p:txBody>
      </p:sp>
      <p:sp>
        <p:nvSpPr>
          <p:cNvPr id="25" name="Shape 21"/>
          <p:cNvSpPr/>
          <p:nvPr/>
        </p:nvSpPr>
        <p:spPr>
          <a:xfrm>
            <a:off x="4769968" y="2715768"/>
            <a:ext cx="2651760" cy="0"/>
          </a:xfrm>
          <a:prstGeom prst="line">
            <a:avLst/>
          </a:prstGeom>
          <a:noFill/>
          <a:ln w="6350">
            <a:solidFill>
              <a:srgbClr val="1F1F25"/>
            </a:solidFill>
            <a:prstDash val="solid"/>
          </a:ln>
        </p:spPr>
      </p:sp>
      <p:sp>
        <p:nvSpPr>
          <p:cNvPr id="26" name="Text 22"/>
          <p:cNvSpPr/>
          <p:nvPr/>
        </p:nvSpPr>
        <p:spPr>
          <a:xfrm>
            <a:off x="4769968" y="2788920"/>
            <a:ext cx="2651760" cy="228600"/>
          </a:xfrm>
          <a:prstGeom prst="rect">
            <a:avLst/>
          </a:prstGeom>
          <a:noFill/>
          <a:ln/>
        </p:spPr>
        <p:txBody>
          <a:bodyPr wrap="square" lIns="0" tIns="0" rIns="0" bIns="0" rtlCol="0" anchor="ctr"/>
          <a:lstStyle/>
          <a:p>
            <a:pPr indent="0" marL="0">
              <a:lnSpc>
                <a:spcPts val="1600"/>
              </a:lnSpc>
              <a:buNone/>
            </a:pPr>
            <a:r>
              <a:rPr lang="en-US" sz="1100" dirty="0">
                <a:solidFill>
                  <a:srgbClr val="C8C2B2"/>
                </a:solidFill>
                <a:latin typeface="Calibri" pitchFamily="34" charset="0"/>
                <a:ea typeface="Calibri" pitchFamily="34" charset="-122"/>
                <a:cs typeface="Calibri" pitchFamily="34" charset="-120"/>
              </a:rPr>
              <a:t>Brinks-class network · Lloyd's insurance · IoT-monitored vaulting</a:t>
            </a:r>
            <a:endParaRPr lang="en-US" sz="1100" dirty="0"/>
          </a:p>
        </p:txBody>
      </p:sp>
      <p:sp>
        <p:nvSpPr>
          <p:cNvPr id="27" name="Shape 23"/>
          <p:cNvSpPr/>
          <p:nvPr/>
        </p:nvSpPr>
        <p:spPr>
          <a:xfrm>
            <a:off x="8442655" y="3589020"/>
            <a:ext cx="3108960" cy="1691640"/>
          </a:xfrm>
          <a:prstGeom prst="rect">
            <a:avLst/>
          </a:prstGeom>
          <a:solidFill>
            <a:srgbClr val="12131A"/>
          </a:solidFill>
          <a:ln w="9525">
            <a:solidFill>
              <a:srgbClr val="0E7C7B"/>
            </a:solidFill>
            <a:prstDash val="solid"/>
          </a:ln>
        </p:spPr>
      </p:sp>
      <p:pic>
        <p:nvPicPr>
          <p:cNvPr id="28" name="Image 2" descr="preencoded.png">    </p:cNvPr>
          <p:cNvPicPr>
            <a:picLocks noChangeAspect="1"/>
          </p:cNvPicPr>
          <p:nvPr/>
        </p:nvPicPr>
        <p:blipFill>
          <a:blip r:embed="rId3"/>
          <a:stretch>
            <a:fillRect/>
          </a:stretch>
        </p:blipFill>
        <p:spPr>
          <a:xfrm>
            <a:off x="8671255" y="3790188"/>
            <a:ext cx="365760" cy="365760"/>
          </a:xfrm>
          <a:prstGeom prst="rect">
            <a:avLst/>
          </a:prstGeom>
        </p:spPr>
      </p:pic>
      <p:sp>
        <p:nvSpPr>
          <p:cNvPr id="29" name="Text 24"/>
          <p:cNvSpPr/>
          <p:nvPr/>
        </p:nvSpPr>
        <p:spPr>
          <a:xfrm>
            <a:off x="9174175" y="3790188"/>
            <a:ext cx="2240280" cy="274320"/>
          </a:xfrm>
          <a:prstGeom prst="rect">
            <a:avLst/>
          </a:prstGeom>
          <a:noFill/>
          <a:ln/>
        </p:spPr>
        <p:txBody>
          <a:bodyPr wrap="square" lIns="0" tIns="0" rIns="0" bIns="0" rtlCol="0" anchor="ctr"/>
          <a:lstStyle/>
          <a:p>
            <a:pPr indent="0" marL="0">
              <a:buNone/>
            </a:pPr>
            <a:r>
              <a:rPr lang="en-US" sz="1000" b="1" spc="400" kern="0" dirty="0">
                <a:solidFill>
                  <a:srgbClr val="0E7C7B"/>
                </a:solidFill>
                <a:latin typeface="Consolas" pitchFamily="34" charset="0"/>
                <a:ea typeface="Consolas" pitchFamily="34" charset="-122"/>
                <a:cs typeface="Consolas" pitchFamily="34" charset="-120"/>
              </a:rPr>
              <a:t>YIELD MARKETS</a:t>
            </a:r>
            <a:endParaRPr lang="en-US" sz="1000" dirty="0"/>
          </a:p>
        </p:txBody>
      </p:sp>
      <p:sp>
        <p:nvSpPr>
          <p:cNvPr id="30" name="Text 25"/>
          <p:cNvSpPr/>
          <p:nvPr/>
        </p:nvSpPr>
        <p:spPr>
          <a:xfrm>
            <a:off x="9174175" y="4046220"/>
            <a:ext cx="2240280" cy="274320"/>
          </a:xfrm>
          <a:prstGeom prst="rect">
            <a:avLst/>
          </a:prstGeom>
          <a:noFill/>
          <a:ln/>
        </p:spPr>
        <p:txBody>
          <a:bodyPr wrap="square" lIns="0" tIns="0" rIns="0" bIns="0" rtlCol="0" anchor="ctr"/>
          <a:lstStyle/>
          <a:p>
            <a:pPr indent="0" marL="0">
              <a:buNone/>
            </a:pPr>
            <a:r>
              <a:rPr lang="en-US" sz="1400" i="1" dirty="0">
                <a:solidFill>
                  <a:srgbClr val="F5F0E8"/>
                </a:solidFill>
                <a:latin typeface="Georgia" pitchFamily="34" charset="0"/>
                <a:ea typeface="Georgia" pitchFamily="34" charset="-122"/>
                <a:cs typeface="Georgia" pitchFamily="34" charset="-120"/>
              </a:rPr>
              <a:t>Kamino · Loopscale</a:t>
            </a:r>
            <a:endParaRPr lang="en-US" sz="1400" dirty="0"/>
          </a:p>
        </p:txBody>
      </p:sp>
      <p:sp>
        <p:nvSpPr>
          <p:cNvPr id="31" name="Shape 26"/>
          <p:cNvSpPr/>
          <p:nvPr/>
        </p:nvSpPr>
        <p:spPr>
          <a:xfrm>
            <a:off x="8671255" y="4430268"/>
            <a:ext cx="2651760" cy="0"/>
          </a:xfrm>
          <a:prstGeom prst="line">
            <a:avLst/>
          </a:prstGeom>
          <a:noFill/>
          <a:ln w="6350">
            <a:solidFill>
              <a:srgbClr val="1F1F25"/>
            </a:solidFill>
            <a:prstDash val="solid"/>
          </a:ln>
        </p:spPr>
      </p:sp>
      <p:sp>
        <p:nvSpPr>
          <p:cNvPr id="32" name="Text 27"/>
          <p:cNvSpPr/>
          <p:nvPr/>
        </p:nvSpPr>
        <p:spPr>
          <a:xfrm>
            <a:off x="8671255" y="4503420"/>
            <a:ext cx="2651760" cy="731520"/>
          </a:xfrm>
          <a:prstGeom prst="rect">
            <a:avLst/>
          </a:prstGeom>
          <a:noFill/>
          <a:ln/>
        </p:spPr>
        <p:txBody>
          <a:bodyPr wrap="square" lIns="0" tIns="0" rIns="0" bIns="0" rtlCol="0" anchor="ctr"/>
          <a:lstStyle/>
          <a:p>
            <a:pPr indent="0" marL="0">
              <a:lnSpc>
                <a:spcPts val="1600"/>
              </a:lnSpc>
              <a:buNone/>
            </a:pPr>
            <a:r>
              <a:rPr lang="en-US" sz="1100" dirty="0">
                <a:solidFill>
                  <a:srgbClr val="C8C2B2"/>
                </a:solidFill>
                <a:latin typeface="Calibri" pitchFamily="34" charset="0"/>
                <a:ea typeface="Calibri" pitchFamily="34" charset="-122"/>
                <a:cs typeface="Calibri" pitchFamily="34" charset="-120"/>
              </a:rPr>
              <a:t>Anchor CPI integration</a:t>
            </a:r>
            <a:endParaRPr lang="en-US" sz="1100" dirty="0"/>
          </a:p>
          <a:p>
            <a:pPr indent="0" marL="0">
              <a:lnSpc>
                <a:spcPts val="1600"/>
              </a:lnSpc>
              <a:buNone/>
            </a:pPr>
            <a:r>
              <a:rPr lang="en-US" sz="1100" dirty="0">
                <a:solidFill>
                  <a:srgbClr val="C8C2B2"/>
                </a:solidFill>
                <a:latin typeface="Calibri" pitchFamily="34" charset="0"/>
                <a:ea typeface="Calibri" pitchFamily="34" charset="-122"/>
                <a:cs typeface="Calibri" pitchFamily="34" charset="-120"/>
              </a:rPr>
              <a:t>Pyth + RedStone oracles</a:t>
            </a:r>
            <a:endParaRPr lang="en-US" sz="1100" dirty="0"/>
          </a:p>
          <a:p>
            <a:pPr indent="0" marL="0">
              <a:lnSpc>
                <a:spcPts val="1600"/>
              </a:lnSpc>
              <a:buNone/>
            </a:pPr>
            <a:r>
              <a:rPr lang="en-US" sz="1100" dirty="0">
                <a:solidFill>
                  <a:srgbClr val="C8C2B2"/>
                </a:solidFill>
                <a:latin typeface="Calibri" pitchFamily="34" charset="0"/>
                <a:ea typeface="Calibri" pitchFamily="34" charset="-122"/>
                <a:cs typeface="Calibri" pitchFamily="34" charset="-120"/>
              </a:rPr>
              <a:t>Global USDC liquidity</a:t>
            </a:r>
            <a:endParaRPr lang="en-US" sz="1100" dirty="0"/>
          </a:p>
        </p:txBody>
      </p:sp>
      <p:sp>
        <p:nvSpPr>
          <p:cNvPr id="33" name="Text 28"/>
          <p:cNvSpPr/>
          <p:nvPr/>
        </p:nvSpPr>
        <p:spPr>
          <a:xfrm>
            <a:off x="640080" y="6217920"/>
            <a:ext cx="10911535" cy="274320"/>
          </a:xfrm>
          <a:prstGeom prst="rect">
            <a:avLst/>
          </a:prstGeom>
          <a:noFill/>
          <a:ln/>
        </p:spPr>
        <p:txBody>
          <a:bodyPr wrap="square" lIns="0" tIns="0" rIns="0" bIns="0" rtlCol="0" anchor="ctr"/>
          <a:lstStyle/>
          <a:p>
            <a:pPr algn="ctr" indent="0" marL="0">
              <a:buNone/>
            </a:pPr>
            <a:r>
              <a:rPr lang="en-US" sz="1100" b="1" spc="600" kern="0" dirty="0">
                <a:solidFill>
                  <a:srgbClr val="0E7C7B"/>
                </a:solidFill>
                <a:latin typeface="Consolas" pitchFamily="34" charset="0"/>
                <a:ea typeface="Consolas" pitchFamily="34" charset="-122"/>
                <a:cs typeface="Consolas" pitchFamily="34" charset="-120"/>
              </a:rPr>
              <a:t>vault  ·  loan  ·  trdc  ·  auction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a:ln/>
        </p:spPr>
        <p:txBody>
          <a:bodyPr wrap="square" lIns="0" tIns="0" rIns="0" bIns="0" rtlCol="0" anchor="ctr"/>
          <a:lstStyle/>
          <a:p>
            <a:pPr indent="0" marL="0">
              <a:buNone/>
            </a:pPr>
            <a:r>
              <a:rPr lang="en-US" sz="950" b="1" spc="400" kern="0" dirty="0">
                <a:solidFill>
                  <a:srgbClr val="0E7C7B"/>
                </a:solidFill>
                <a:latin typeface="Consolas" pitchFamily="34" charset="0"/>
                <a:ea typeface="Consolas" pitchFamily="34" charset="-122"/>
                <a:cs typeface="Consolas" pitchFamily="34" charset="-120"/>
              </a:rPr>
              <a:t>03  /  THE ATOMIC GATE</a:t>
            </a:r>
            <a:endParaRPr lang="en-US" sz="950" dirty="0"/>
          </a:p>
        </p:txBody>
      </p:sp>
      <p:sp>
        <p:nvSpPr>
          <p:cNvPr id="4" name="Text 2"/>
          <p:cNvSpPr/>
          <p:nvPr/>
        </p:nvSpPr>
        <p:spPr>
          <a:xfrm>
            <a:off x="10911535" y="274320"/>
            <a:ext cx="914400" cy="228600"/>
          </a:xfrm>
          <a:prstGeom prst="rect">
            <a:avLst/>
          </a:prstGeom>
          <a:noFill/>
          <a:ln/>
        </p:spPr>
        <p:txBody>
          <a:bodyPr wrap="square" lIns="0" tIns="0" rIns="0" bIns="0" rtlCol="0" anchor="ctr"/>
          <a:lstStyle/>
          <a:p>
            <a:pPr algn="r" indent="0" marL="0">
              <a:buNone/>
            </a:pPr>
            <a:r>
              <a:rPr lang="en-US" sz="900" spc="300" kern="0" dirty="0">
                <a:solidFill>
                  <a:srgbClr val="8A8A90"/>
                </a:solidFill>
                <a:latin typeface="Consolas" pitchFamily="34" charset="0"/>
                <a:ea typeface="Consolas" pitchFamily="34" charset="-122"/>
                <a:cs typeface="Consolas" pitchFamily="34" charset="-120"/>
              </a:rPr>
              <a:t>03 / 09</a:t>
            </a:r>
            <a:endParaRPr lang="en-US" sz="900" dirty="0"/>
          </a:p>
        </p:txBody>
      </p:sp>
      <p:sp>
        <p:nvSpPr>
          <p:cNvPr id="5" name="Text 3"/>
          <p:cNvSpPr/>
          <p:nvPr/>
        </p:nvSpPr>
        <p:spPr>
          <a:xfrm>
            <a:off x="640080" y="777240"/>
            <a:ext cx="10911535" cy="777240"/>
          </a:xfrm>
          <a:prstGeom prst="rect">
            <a:avLst/>
          </a:prstGeom>
          <a:noFill/>
          <a:ln/>
        </p:spPr>
        <p:txBody>
          <a:bodyPr wrap="square" lIns="0" tIns="0" rIns="0" bIns="0" rtlCol="0" anchor="ctr"/>
          <a:lstStyle/>
          <a:p>
            <a:pPr indent="0" marL="0">
              <a:buNone/>
            </a:pPr>
            <a:r>
              <a:rPr lang="en-US" sz="3200" b="1" dirty="0">
                <a:solidFill>
                  <a:srgbClr val="F5F0E8"/>
                </a:solidFill>
                <a:latin typeface="Georgia" pitchFamily="34" charset="0"/>
                <a:ea typeface="Georgia" pitchFamily="34" charset="-122"/>
                <a:cs typeface="Georgia" pitchFamily="34" charset="-120"/>
              </a:rPr>
              <a:t>Five gates. One signature. No middleman.</a:t>
            </a:r>
            <a:endParaRPr lang="en-US" sz="3200" dirty="0"/>
          </a:p>
        </p:txBody>
      </p:sp>
      <p:sp>
        <p:nvSpPr>
          <p:cNvPr id="6" name="Text 4"/>
          <p:cNvSpPr/>
          <p:nvPr/>
        </p:nvSpPr>
        <p:spPr>
          <a:xfrm>
            <a:off x="640080" y="1554480"/>
            <a:ext cx="10911535" cy="365760"/>
          </a:xfrm>
          <a:prstGeom prst="rect">
            <a:avLst/>
          </a:prstGeom>
          <a:noFill/>
          <a:ln/>
        </p:spPr>
        <p:txBody>
          <a:bodyPr wrap="square" lIns="0" tIns="0" rIns="0" bIns="0" rtlCol="0" anchor="ctr"/>
          <a:lstStyle/>
          <a:p>
            <a:pPr indent="0" marL="0">
              <a:buNone/>
            </a:pPr>
            <a:r>
              <a:rPr lang="en-US" sz="1300" dirty="0">
                <a:solidFill>
                  <a:srgbClr val="C8C2B2"/>
                </a:solidFill>
                <a:latin typeface="Calibri" pitchFamily="34" charset="0"/>
                <a:ea typeface="Calibri" pitchFamily="34" charset="-122"/>
                <a:cs typeface="Calibri" pitchFamily="34" charset="-120"/>
              </a:rPr>
              <a:t>Atomic. Onchain. The licensed-custodian signature is the release trigger — same Solana transaction.</a:t>
            </a:r>
            <a:endParaRPr lang="en-US" sz="1300" dirty="0"/>
          </a:p>
        </p:txBody>
      </p:sp>
      <p:sp>
        <p:nvSpPr>
          <p:cNvPr id="7" name="Shape 5"/>
          <p:cNvSpPr/>
          <p:nvPr/>
        </p:nvSpPr>
        <p:spPr>
          <a:xfrm>
            <a:off x="640080" y="1993392"/>
            <a:ext cx="914400" cy="0"/>
          </a:xfrm>
          <a:prstGeom prst="line">
            <a:avLst/>
          </a:prstGeom>
          <a:noFill/>
          <a:ln w="15240">
            <a:solidFill>
              <a:srgbClr val="0E7C7B"/>
            </a:solidFill>
            <a:prstDash val="solid"/>
          </a:ln>
        </p:spPr>
      </p:sp>
      <p:sp>
        <p:nvSpPr>
          <p:cNvPr id="8" name="Shape 6"/>
          <p:cNvSpPr/>
          <p:nvPr/>
        </p:nvSpPr>
        <p:spPr>
          <a:xfrm>
            <a:off x="640080" y="2377440"/>
            <a:ext cx="1889699" cy="1554480"/>
          </a:xfrm>
          <a:prstGeom prst="rect">
            <a:avLst/>
          </a:prstGeom>
          <a:solidFill>
            <a:srgbClr val="12131A"/>
          </a:solidFill>
          <a:ln w="9525">
            <a:solidFill>
              <a:srgbClr val="0E7C7B"/>
            </a:solidFill>
            <a:prstDash val="solid"/>
          </a:ln>
        </p:spPr>
      </p:sp>
      <p:sp>
        <p:nvSpPr>
          <p:cNvPr id="9" name="Text 7"/>
          <p:cNvSpPr/>
          <p:nvPr/>
        </p:nvSpPr>
        <p:spPr>
          <a:xfrm>
            <a:off x="640080" y="2560320"/>
            <a:ext cx="1889699" cy="457200"/>
          </a:xfrm>
          <a:prstGeom prst="rect">
            <a:avLst/>
          </a:prstGeom>
          <a:noFill/>
          <a:ln/>
        </p:spPr>
        <p:txBody>
          <a:bodyPr wrap="square" lIns="0" tIns="0" rIns="0" bIns="0" rtlCol="0" anchor="ctr"/>
          <a:lstStyle/>
          <a:p>
            <a:pPr algn="ctr" indent="0" marL="0">
              <a:buNone/>
            </a:pPr>
            <a:r>
              <a:rPr lang="en-US" sz="3200" b="1" dirty="0">
                <a:solidFill>
                  <a:srgbClr val="C9A86A"/>
                </a:solidFill>
                <a:latin typeface="Georgia" pitchFamily="34" charset="0"/>
                <a:ea typeface="Georgia" pitchFamily="34" charset="-122"/>
                <a:cs typeface="Georgia" pitchFamily="34" charset="-120"/>
              </a:rPr>
              <a:t>1</a:t>
            </a:r>
            <a:endParaRPr lang="en-US" sz="3200" dirty="0"/>
          </a:p>
        </p:txBody>
      </p:sp>
      <p:pic>
        <p:nvPicPr>
          <p:cNvPr id="10" name="Image 0" descr="preencoded.png">    </p:cNvPr>
          <p:cNvPicPr>
            <a:picLocks noChangeAspect="1"/>
          </p:cNvPicPr>
          <p:nvPr/>
        </p:nvPicPr>
        <p:blipFill>
          <a:blip r:embed="rId1"/>
          <a:stretch>
            <a:fillRect/>
          </a:stretch>
        </p:blipFill>
        <p:spPr>
          <a:xfrm>
            <a:off x="1383762" y="3090672"/>
            <a:ext cx="402336" cy="402336"/>
          </a:xfrm>
          <a:prstGeom prst="rect">
            <a:avLst/>
          </a:prstGeom>
        </p:spPr>
      </p:pic>
      <p:sp>
        <p:nvSpPr>
          <p:cNvPr id="11" name="Text 8"/>
          <p:cNvSpPr/>
          <p:nvPr/>
        </p:nvSpPr>
        <p:spPr>
          <a:xfrm>
            <a:off x="640080" y="3520440"/>
            <a:ext cx="1889699" cy="320040"/>
          </a:xfrm>
          <a:prstGeom prst="rect">
            <a:avLst/>
          </a:prstGeom>
          <a:noFill/>
          <a:ln/>
        </p:spPr>
        <p:txBody>
          <a:bodyPr wrap="square" lIns="0" tIns="0" rIns="0" bIns="0" rtlCol="0" anchor="ctr"/>
          <a:lstStyle/>
          <a:p>
            <a:pPr algn="ctr" indent="0" marL="0">
              <a:buNone/>
            </a:pPr>
            <a:r>
              <a:rPr lang="en-US" sz="1400" b="1" dirty="0">
                <a:solidFill>
                  <a:srgbClr val="F5F0E8"/>
                </a:solidFill>
                <a:latin typeface="Georgia" pitchFamily="34" charset="0"/>
                <a:ea typeface="Georgia" pitchFamily="34" charset="-122"/>
                <a:cs typeface="Georgia" pitchFamily="34" charset="-120"/>
              </a:rPr>
              <a:t>Appraisal</a:t>
            </a:r>
            <a:endParaRPr lang="en-US" sz="1400" dirty="0"/>
          </a:p>
        </p:txBody>
      </p:sp>
      <p:sp>
        <p:nvSpPr>
          <p:cNvPr id="12" name="Text 9"/>
          <p:cNvSpPr/>
          <p:nvPr/>
        </p:nvSpPr>
        <p:spPr>
          <a:xfrm>
            <a:off x="2529779" y="2926080"/>
            <a:ext cx="365760" cy="457200"/>
          </a:xfrm>
          <a:prstGeom prst="rect">
            <a:avLst/>
          </a:prstGeom>
          <a:noFill/>
          <a:ln/>
        </p:spPr>
        <p:txBody>
          <a:bodyPr wrap="square" lIns="0" tIns="0" rIns="0" bIns="0" rtlCol="0" anchor="ctr"/>
          <a:lstStyle/>
          <a:p>
            <a:pPr algn="ctr" indent="0" marL="0">
              <a:buNone/>
            </a:pPr>
            <a:r>
              <a:rPr lang="en-US" sz="2200" dirty="0">
                <a:solidFill>
                  <a:srgbClr val="0E7C7B"/>
                </a:solidFill>
                <a:latin typeface="Calibri" pitchFamily="34" charset="0"/>
                <a:ea typeface="Calibri" pitchFamily="34" charset="-122"/>
                <a:cs typeface="Calibri" pitchFamily="34" charset="-120"/>
              </a:rPr>
              <a:t>→</a:t>
            </a:r>
            <a:endParaRPr lang="en-US" sz="2200" dirty="0"/>
          </a:p>
        </p:txBody>
      </p:sp>
      <p:sp>
        <p:nvSpPr>
          <p:cNvPr id="13" name="Shape 10"/>
          <p:cNvSpPr/>
          <p:nvPr/>
        </p:nvSpPr>
        <p:spPr>
          <a:xfrm>
            <a:off x="2895539" y="2377440"/>
            <a:ext cx="1889699" cy="1554480"/>
          </a:xfrm>
          <a:prstGeom prst="rect">
            <a:avLst/>
          </a:prstGeom>
          <a:solidFill>
            <a:srgbClr val="12131A"/>
          </a:solidFill>
          <a:ln w="9525">
            <a:solidFill>
              <a:srgbClr val="0E7C7B"/>
            </a:solidFill>
            <a:prstDash val="solid"/>
          </a:ln>
        </p:spPr>
      </p:sp>
      <p:sp>
        <p:nvSpPr>
          <p:cNvPr id="14" name="Text 11"/>
          <p:cNvSpPr/>
          <p:nvPr/>
        </p:nvSpPr>
        <p:spPr>
          <a:xfrm>
            <a:off x="2895539" y="2560320"/>
            <a:ext cx="1889699" cy="457200"/>
          </a:xfrm>
          <a:prstGeom prst="rect">
            <a:avLst/>
          </a:prstGeom>
          <a:noFill/>
          <a:ln/>
        </p:spPr>
        <p:txBody>
          <a:bodyPr wrap="square" lIns="0" tIns="0" rIns="0" bIns="0" rtlCol="0" anchor="ctr"/>
          <a:lstStyle/>
          <a:p>
            <a:pPr algn="ctr" indent="0" marL="0">
              <a:buNone/>
            </a:pPr>
            <a:r>
              <a:rPr lang="en-US" sz="3200" b="1" dirty="0">
                <a:solidFill>
                  <a:srgbClr val="C9A86A"/>
                </a:solidFill>
                <a:latin typeface="Georgia" pitchFamily="34" charset="0"/>
                <a:ea typeface="Georgia" pitchFamily="34" charset="-122"/>
                <a:cs typeface="Georgia" pitchFamily="34" charset="-120"/>
              </a:rPr>
              <a:t>2</a:t>
            </a:r>
            <a:endParaRPr lang="en-US" sz="3200" dirty="0"/>
          </a:p>
        </p:txBody>
      </p:sp>
      <p:pic>
        <p:nvPicPr>
          <p:cNvPr id="15" name="Image 1" descr="preencoded.png">    </p:cNvPr>
          <p:cNvPicPr>
            <a:picLocks noChangeAspect="1"/>
          </p:cNvPicPr>
          <p:nvPr/>
        </p:nvPicPr>
        <p:blipFill>
          <a:blip r:embed="rId2"/>
          <a:stretch>
            <a:fillRect/>
          </a:stretch>
        </p:blipFill>
        <p:spPr>
          <a:xfrm>
            <a:off x="3639221" y="3090672"/>
            <a:ext cx="402336" cy="402336"/>
          </a:xfrm>
          <a:prstGeom prst="rect">
            <a:avLst/>
          </a:prstGeom>
        </p:spPr>
      </p:pic>
      <p:sp>
        <p:nvSpPr>
          <p:cNvPr id="16" name="Text 12"/>
          <p:cNvSpPr/>
          <p:nvPr/>
        </p:nvSpPr>
        <p:spPr>
          <a:xfrm>
            <a:off x="2895539" y="3520440"/>
            <a:ext cx="1889699" cy="320040"/>
          </a:xfrm>
          <a:prstGeom prst="rect">
            <a:avLst/>
          </a:prstGeom>
          <a:noFill/>
          <a:ln/>
        </p:spPr>
        <p:txBody>
          <a:bodyPr wrap="square" lIns="0" tIns="0" rIns="0" bIns="0" rtlCol="0" anchor="ctr"/>
          <a:lstStyle/>
          <a:p>
            <a:pPr algn="ctr" indent="0" marL="0">
              <a:buNone/>
            </a:pPr>
            <a:r>
              <a:rPr lang="en-US" sz="1400" b="1" dirty="0">
                <a:solidFill>
                  <a:srgbClr val="F5F0E8"/>
                </a:solidFill>
                <a:latin typeface="Georgia" pitchFamily="34" charset="0"/>
                <a:ea typeface="Georgia" pitchFamily="34" charset="-122"/>
                <a:cs typeface="Georgia" pitchFamily="34" charset="-120"/>
              </a:rPr>
              <a:t>Custody</a:t>
            </a:r>
            <a:endParaRPr lang="en-US" sz="1400" dirty="0"/>
          </a:p>
        </p:txBody>
      </p:sp>
      <p:sp>
        <p:nvSpPr>
          <p:cNvPr id="17" name="Text 13"/>
          <p:cNvSpPr/>
          <p:nvPr/>
        </p:nvSpPr>
        <p:spPr>
          <a:xfrm>
            <a:off x="4785238" y="2926080"/>
            <a:ext cx="365760" cy="457200"/>
          </a:xfrm>
          <a:prstGeom prst="rect">
            <a:avLst/>
          </a:prstGeom>
          <a:noFill/>
          <a:ln/>
        </p:spPr>
        <p:txBody>
          <a:bodyPr wrap="square" lIns="0" tIns="0" rIns="0" bIns="0" rtlCol="0" anchor="ctr"/>
          <a:lstStyle/>
          <a:p>
            <a:pPr algn="ctr" indent="0" marL="0">
              <a:buNone/>
            </a:pPr>
            <a:r>
              <a:rPr lang="en-US" sz="2200" dirty="0">
                <a:solidFill>
                  <a:srgbClr val="0E7C7B"/>
                </a:solidFill>
                <a:latin typeface="Calibri" pitchFamily="34" charset="0"/>
                <a:ea typeface="Calibri" pitchFamily="34" charset="-122"/>
                <a:cs typeface="Calibri" pitchFamily="34" charset="-120"/>
              </a:rPr>
              <a:t>→</a:t>
            </a:r>
            <a:endParaRPr lang="en-US" sz="2200" dirty="0"/>
          </a:p>
        </p:txBody>
      </p:sp>
      <p:sp>
        <p:nvSpPr>
          <p:cNvPr id="18" name="Shape 14"/>
          <p:cNvSpPr/>
          <p:nvPr/>
        </p:nvSpPr>
        <p:spPr>
          <a:xfrm>
            <a:off x="5150998" y="2377440"/>
            <a:ext cx="1889699" cy="1554480"/>
          </a:xfrm>
          <a:prstGeom prst="rect">
            <a:avLst/>
          </a:prstGeom>
          <a:solidFill>
            <a:srgbClr val="12131A"/>
          </a:solidFill>
          <a:ln w="9525">
            <a:solidFill>
              <a:srgbClr val="0E7C7B"/>
            </a:solidFill>
            <a:prstDash val="solid"/>
          </a:ln>
        </p:spPr>
      </p:sp>
      <p:sp>
        <p:nvSpPr>
          <p:cNvPr id="19" name="Text 15"/>
          <p:cNvSpPr/>
          <p:nvPr/>
        </p:nvSpPr>
        <p:spPr>
          <a:xfrm>
            <a:off x="5150998" y="2560320"/>
            <a:ext cx="1889699" cy="457200"/>
          </a:xfrm>
          <a:prstGeom prst="rect">
            <a:avLst/>
          </a:prstGeom>
          <a:noFill/>
          <a:ln/>
        </p:spPr>
        <p:txBody>
          <a:bodyPr wrap="square" lIns="0" tIns="0" rIns="0" bIns="0" rtlCol="0" anchor="ctr"/>
          <a:lstStyle/>
          <a:p>
            <a:pPr algn="ctr" indent="0" marL="0">
              <a:buNone/>
            </a:pPr>
            <a:r>
              <a:rPr lang="en-US" sz="3200" b="1" dirty="0">
                <a:solidFill>
                  <a:srgbClr val="C9A86A"/>
                </a:solidFill>
                <a:latin typeface="Georgia" pitchFamily="34" charset="0"/>
                <a:ea typeface="Georgia" pitchFamily="34" charset="-122"/>
                <a:cs typeface="Georgia" pitchFamily="34" charset="-120"/>
              </a:rPr>
              <a:t>3</a:t>
            </a:r>
            <a:endParaRPr lang="en-US" sz="3200" dirty="0"/>
          </a:p>
        </p:txBody>
      </p:sp>
      <p:pic>
        <p:nvPicPr>
          <p:cNvPr id="20" name="Image 2" descr="preencoded.png">    </p:cNvPr>
          <p:cNvPicPr>
            <a:picLocks noChangeAspect="1"/>
          </p:cNvPicPr>
          <p:nvPr/>
        </p:nvPicPr>
        <p:blipFill>
          <a:blip r:embed="rId3"/>
          <a:stretch>
            <a:fillRect/>
          </a:stretch>
        </p:blipFill>
        <p:spPr>
          <a:xfrm>
            <a:off x="5894680" y="3090672"/>
            <a:ext cx="402336" cy="402336"/>
          </a:xfrm>
          <a:prstGeom prst="rect">
            <a:avLst/>
          </a:prstGeom>
        </p:spPr>
      </p:pic>
      <p:sp>
        <p:nvSpPr>
          <p:cNvPr id="21" name="Text 16"/>
          <p:cNvSpPr/>
          <p:nvPr/>
        </p:nvSpPr>
        <p:spPr>
          <a:xfrm>
            <a:off x="5150998" y="3520440"/>
            <a:ext cx="1889699" cy="320040"/>
          </a:xfrm>
          <a:prstGeom prst="rect">
            <a:avLst/>
          </a:prstGeom>
          <a:noFill/>
          <a:ln/>
        </p:spPr>
        <p:txBody>
          <a:bodyPr wrap="square" lIns="0" tIns="0" rIns="0" bIns="0" rtlCol="0" anchor="ctr"/>
          <a:lstStyle/>
          <a:p>
            <a:pPr algn="ctr" indent="0" marL="0">
              <a:buNone/>
            </a:pPr>
            <a:r>
              <a:rPr lang="en-US" sz="1400" b="1" dirty="0">
                <a:solidFill>
                  <a:srgbClr val="F5F0E8"/>
                </a:solidFill>
                <a:latin typeface="Georgia" pitchFamily="34" charset="0"/>
                <a:ea typeface="Georgia" pitchFamily="34" charset="-122"/>
                <a:cs typeface="Georgia" pitchFamily="34" charset="-120"/>
              </a:rPr>
              <a:t>cNFT Mint</a:t>
            </a:r>
            <a:endParaRPr lang="en-US" sz="1400" dirty="0"/>
          </a:p>
        </p:txBody>
      </p:sp>
      <p:sp>
        <p:nvSpPr>
          <p:cNvPr id="22" name="Text 17"/>
          <p:cNvSpPr/>
          <p:nvPr/>
        </p:nvSpPr>
        <p:spPr>
          <a:xfrm>
            <a:off x="7040697" y="2926080"/>
            <a:ext cx="365760" cy="457200"/>
          </a:xfrm>
          <a:prstGeom prst="rect">
            <a:avLst/>
          </a:prstGeom>
          <a:noFill/>
          <a:ln/>
        </p:spPr>
        <p:txBody>
          <a:bodyPr wrap="square" lIns="0" tIns="0" rIns="0" bIns="0" rtlCol="0" anchor="ctr"/>
          <a:lstStyle/>
          <a:p>
            <a:pPr algn="ctr" indent="0" marL="0">
              <a:buNone/>
            </a:pPr>
            <a:r>
              <a:rPr lang="en-US" sz="2200" dirty="0">
                <a:solidFill>
                  <a:srgbClr val="0E7C7B"/>
                </a:solidFill>
                <a:latin typeface="Calibri" pitchFamily="34" charset="0"/>
                <a:ea typeface="Calibri" pitchFamily="34" charset="-122"/>
                <a:cs typeface="Calibri" pitchFamily="34" charset="-120"/>
              </a:rPr>
              <a:t>→</a:t>
            </a:r>
            <a:endParaRPr lang="en-US" sz="2200" dirty="0"/>
          </a:p>
        </p:txBody>
      </p:sp>
      <p:sp>
        <p:nvSpPr>
          <p:cNvPr id="23" name="Shape 18"/>
          <p:cNvSpPr/>
          <p:nvPr/>
        </p:nvSpPr>
        <p:spPr>
          <a:xfrm>
            <a:off x="7406457" y="2377440"/>
            <a:ext cx="1889699" cy="1554480"/>
          </a:xfrm>
          <a:prstGeom prst="rect">
            <a:avLst/>
          </a:prstGeom>
          <a:solidFill>
            <a:srgbClr val="12131A"/>
          </a:solidFill>
          <a:ln w="9525">
            <a:solidFill>
              <a:srgbClr val="0E7C7B"/>
            </a:solidFill>
            <a:prstDash val="solid"/>
          </a:ln>
        </p:spPr>
      </p:sp>
      <p:sp>
        <p:nvSpPr>
          <p:cNvPr id="24" name="Text 19"/>
          <p:cNvSpPr/>
          <p:nvPr/>
        </p:nvSpPr>
        <p:spPr>
          <a:xfrm>
            <a:off x="7406457" y="2560320"/>
            <a:ext cx="1889699" cy="457200"/>
          </a:xfrm>
          <a:prstGeom prst="rect">
            <a:avLst/>
          </a:prstGeom>
          <a:noFill/>
          <a:ln/>
        </p:spPr>
        <p:txBody>
          <a:bodyPr wrap="square" lIns="0" tIns="0" rIns="0" bIns="0" rtlCol="0" anchor="ctr"/>
          <a:lstStyle/>
          <a:p>
            <a:pPr algn="ctr" indent="0" marL="0">
              <a:buNone/>
            </a:pPr>
            <a:r>
              <a:rPr lang="en-US" sz="3200" b="1" dirty="0">
                <a:solidFill>
                  <a:srgbClr val="C9A86A"/>
                </a:solidFill>
                <a:latin typeface="Georgia" pitchFamily="34" charset="0"/>
                <a:ea typeface="Georgia" pitchFamily="34" charset="-122"/>
                <a:cs typeface="Georgia" pitchFamily="34" charset="-120"/>
              </a:rPr>
              <a:t>4</a:t>
            </a:r>
            <a:endParaRPr lang="en-US" sz="3200" dirty="0"/>
          </a:p>
        </p:txBody>
      </p:sp>
      <p:pic>
        <p:nvPicPr>
          <p:cNvPr id="25" name="Image 3" descr="preencoded.png">    </p:cNvPr>
          <p:cNvPicPr>
            <a:picLocks noChangeAspect="1"/>
          </p:cNvPicPr>
          <p:nvPr/>
        </p:nvPicPr>
        <p:blipFill>
          <a:blip r:embed="rId4"/>
          <a:stretch>
            <a:fillRect/>
          </a:stretch>
        </p:blipFill>
        <p:spPr>
          <a:xfrm>
            <a:off x="8150139" y="3090672"/>
            <a:ext cx="402336" cy="402336"/>
          </a:xfrm>
          <a:prstGeom prst="rect">
            <a:avLst/>
          </a:prstGeom>
        </p:spPr>
      </p:pic>
      <p:sp>
        <p:nvSpPr>
          <p:cNvPr id="26" name="Text 20"/>
          <p:cNvSpPr/>
          <p:nvPr/>
        </p:nvSpPr>
        <p:spPr>
          <a:xfrm>
            <a:off x="7406457" y="3520440"/>
            <a:ext cx="1889699" cy="320040"/>
          </a:xfrm>
          <a:prstGeom prst="rect">
            <a:avLst/>
          </a:prstGeom>
          <a:noFill/>
          <a:ln/>
        </p:spPr>
        <p:txBody>
          <a:bodyPr wrap="square" lIns="0" tIns="0" rIns="0" bIns="0" rtlCol="0" anchor="ctr"/>
          <a:lstStyle/>
          <a:p>
            <a:pPr algn="ctr" indent="0" marL="0">
              <a:buNone/>
            </a:pPr>
            <a:r>
              <a:rPr lang="en-US" sz="1400" b="1" dirty="0">
                <a:solidFill>
                  <a:srgbClr val="F5F0E8"/>
                </a:solidFill>
                <a:latin typeface="Georgia" pitchFamily="34" charset="0"/>
                <a:ea typeface="Georgia" pitchFamily="34" charset="-122"/>
                <a:cs typeface="Georgia" pitchFamily="34" charset="-120"/>
              </a:rPr>
              <a:t>Borrow</a:t>
            </a:r>
            <a:endParaRPr lang="en-US" sz="1400" dirty="0"/>
          </a:p>
        </p:txBody>
      </p:sp>
      <p:sp>
        <p:nvSpPr>
          <p:cNvPr id="27" name="Text 21"/>
          <p:cNvSpPr/>
          <p:nvPr/>
        </p:nvSpPr>
        <p:spPr>
          <a:xfrm>
            <a:off x="9296156" y="2926080"/>
            <a:ext cx="365760" cy="457200"/>
          </a:xfrm>
          <a:prstGeom prst="rect">
            <a:avLst/>
          </a:prstGeom>
          <a:noFill/>
          <a:ln/>
        </p:spPr>
        <p:txBody>
          <a:bodyPr wrap="square" lIns="0" tIns="0" rIns="0" bIns="0" rtlCol="0" anchor="ctr"/>
          <a:lstStyle/>
          <a:p>
            <a:pPr algn="ctr" indent="0" marL="0">
              <a:buNone/>
            </a:pPr>
            <a:r>
              <a:rPr lang="en-US" sz="2200" dirty="0">
                <a:solidFill>
                  <a:srgbClr val="0E7C7B"/>
                </a:solidFill>
                <a:latin typeface="Calibri" pitchFamily="34" charset="0"/>
                <a:ea typeface="Calibri" pitchFamily="34" charset="-122"/>
                <a:cs typeface="Calibri" pitchFamily="34" charset="-120"/>
              </a:rPr>
              <a:t>→</a:t>
            </a:r>
            <a:endParaRPr lang="en-US" sz="2200" dirty="0"/>
          </a:p>
        </p:txBody>
      </p:sp>
      <p:sp>
        <p:nvSpPr>
          <p:cNvPr id="28" name="Shape 22"/>
          <p:cNvSpPr/>
          <p:nvPr/>
        </p:nvSpPr>
        <p:spPr>
          <a:xfrm>
            <a:off x="9661916" y="2377440"/>
            <a:ext cx="1889699" cy="1554480"/>
          </a:xfrm>
          <a:prstGeom prst="rect">
            <a:avLst/>
          </a:prstGeom>
          <a:solidFill>
            <a:srgbClr val="12131A"/>
          </a:solidFill>
          <a:ln w="9525">
            <a:solidFill>
              <a:srgbClr val="0E7C7B"/>
            </a:solidFill>
            <a:prstDash val="solid"/>
          </a:ln>
        </p:spPr>
      </p:sp>
      <p:sp>
        <p:nvSpPr>
          <p:cNvPr id="29" name="Text 23"/>
          <p:cNvSpPr/>
          <p:nvPr/>
        </p:nvSpPr>
        <p:spPr>
          <a:xfrm>
            <a:off x="9661916" y="2560320"/>
            <a:ext cx="1889699" cy="457200"/>
          </a:xfrm>
          <a:prstGeom prst="rect">
            <a:avLst/>
          </a:prstGeom>
          <a:noFill/>
          <a:ln/>
        </p:spPr>
        <p:txBody>
          <a:bodyPr wrap="square" lIns="0" tIns="0" rIns="0" bIns="0" rtlCol="0" anchor="ctr"/>
          <a:lstStyle/>
          <a:p>
            <a:pPr algn="ctr" indent="0" marL="0">
              <a:buNone/>
            </a:pPr>
            <a:r>
              <a:rPr lang="en-US" sz="3200" b="1" dirty="0">
                <a:solidFill>
                  <a:srgbClr val="C9A86A"/>
                </a:solidFill>
                <a:latin typeface="Georgia" pitchFamily="34" charset="0"/>
                <a:ea typeface="Georgia" pitchFamily="34" charset="-122"/>
                <a:cs typeface="Georgia" pitchFamily="34" charset="-120"/>
              </a:rPr>
              <a:t>5</a:t>
            </a:r>
            <a:endParaRPr lang="en-US" sz="3200" dirty="0"/>
          </a:p>
        </p:txBody>
      </p:sp>
      <p:pic>
        <p:nvPicPr>
          <p:cNvPr id="30" name="Image 4" descr="preencoded.png">    </p:cNvPr>
          <p:cNvPicPr>
            <a:picLocks noChangeAspect="1"/>
          </p:cNvPicPr>
          <p:nvPr/>
        </p:nvPicPr>
        <p:blipFill>
          <a:blip r:embed="rId5"/>
          <a:stretch>
            <a:fillRect/>
          </a:stretch>
        </p:blipFill>
        <p:spPr>
          <a:xfrm>
            <a:off x="10405598" y="3090672"/>
            <a:ext cx="402336" cy="402336"/>
          </a:xfrm>
          <a:prstGeom prst="rect">
            <a:avLst/>
          </a:prstGeom>
        </p:spPr>
      </p:pic>
      <p:sp>
        <p:nvSpPr>
          <p:cNvPr id="31" name="Text 24"/>
          <p:cNvSpPr/>
          <p:nvPr/>
        </p:nvSpPr>
        <p:spPr>
          <a:xfrm>
            <a:off x="9661916" y="3520440"/>
            <a:ext cx="1889699" cy="320040"/>
          </a:xfrm>
          <a:prstGeom prst="rect">
            <a:avLst/>
          </a:prstGeom>
          <a:noFill/>
          <a:ln/>
        </p:spPr>
        <p:txBody>
          <a:bodyPr wrap="square" lIns="0" tIns="0" rIns="0" bIns="0" rtlCol="0" anchor="ctr"/>
          <a:lstStyle/>
          <a:p>
            <a:pPr algn="ctr" indent="0" marL="0">
              <a:buNone/>
            </a:pPr>
            <a:r>
              <a:rPr lang="en-US" sz="1400" b="1" dirty="0">
                <a:solidFill>
                  <a:srgbClr val="F5F0E8"/>
                </a:solidFill>
                <a:latin typeface="Georgia" pitchFamily="34" charset="0"/>
                <a:ea typeface="Georgia" pitchFamily="34" charset="-122"/>
                <a:cs typeface="Georgia" pitchFamily="34" charset="-120"/>
              </a:rPr>
              <a:t>Repay / Default</a:t>
            </a:r>
            <a:endParaRPr lang="en-US" sz="1400" dirty="0"/>
          </a:p>
        </p:txBody>
      </p:sp>
      <p:sp>
        <p:nvSpPr>
          <p:cNvPr id="32" name="Shape 25"/>
          <p:cNvSpPr/>
          <p:nvPr/>
        </p:nvSpPr>
        <p:spPr>
          <a:xfrm>
            <a:off x="640080" y="4434840"/>
            <a:ext cx="10911535" cy="1508760"/>
          </a:xfrm>
          <a:prstGeom prst="rect">
            <a:avLst/>
          </a:prstGeom>
          <a:solidFill>
            <a:srgbClr val="0E7C7B"/>
          </a:solidFill>
          <a:ln w="12700">
            <a:solidFill>
              <a:srgbClr val="0E7C7B"/>
            </a:solidFill>
            <a:prstDash val="solid"/>
          </a:ln>
        </p:spPr>
      </p:sp>
      <p:sp>
        <p:nvSpPr>
          <p:cNvPr id="33" name="Text 26"/>
          <p:cNvSpPr/>
          <p:nvPr/>
        </p:nvSpPr>
        <p:spPr>
          <a:xfrm>
            <a:off x="868680" y="4636008"/>
            <a:ext cx="10500055" cy="274320"/>
          </a:xfrm>
          <a:prstGeom prst="rect">
            <a:avLst/>
          </a:prstGeom>
          <a:noFill/>
          <a:ln/>
        </p:spPr>
        <p:txBody>
          <a:bodyPr wrap="square" lIns="0" tIns="0" rIns="0" bIns="0" rtlCol="0" anchor="ctr"/>
          <a:lstStyle/>
          <a:p>
            <a:pPr indent="0" marL="0">
              <a:buNone/>
            </a:pPr>
            <a:r>
              <a:rPr lang="en-US" sz="1100" b="1" spc="600" kern="0" dirty="0">
                <a:solidFill>
                  <a:srgbClr val="C9A86A"/>
                </a:solidFill>
                <a:latin typeface="Consolas" pitchFamily="34" charset="0"/>
                <a:ea typeface="Consolas" pitchFamily="34" charset="-122"/>
                <a:cs typeface="Consolas" pitchFamily="34" charset="-120"/>
              </a:rPr>
              <a:t>THE INVARIANT</a:t>
            </a:r>
            <a:endParaRPr lang="en-US" sz="1100" dirty="0"/>
          </a:p>
        </p:txBody>
      </p:sp>
      <p:sp>
        <p:nvSpPr>
          <p:cNvPr id="34" name="Text 27"/>
          <p:cNvSpPr/>
          <p:nvPr/>
        </p:nvSpPr>
        <p:spPr>
          <a:xfrm>
            <a:off x="868680" y="4937760"/>
            <a:ext cx="10500055" cy="914400"/>
          </a:xfrm>
          <a:prstGeom prst="rect">
            <a:avLst/>
          </a:prstGeom>
          <a:noFill/>
          <a:ln/>
        </p:spPr>
        <p:txBody>
          <a:bodyPr wrap="square" lIns="0" tIns="0" rIns="0" bIns="0" rtlCol="0" anchor="ctr"/>
          <a:lstStyle/>
          <a:p>
            <a:pPr indent="0" marL="0">
              <a:lnSpc>
                <a:spcPts val="3200"/>
              </a:lnSpc>
              <a:buNone/>
            </a:pPr>
            <a:r>
              <a:rPr lang="en-US" sz="2200" i="1" dirty="0">
                <a:solidFill>
                  <a:srgbClr val="F5F0E8"/>
                </a:solidFill>
                <a:latin typeface="Georgia" pitchFamily="34" charset="0"/>
                <a:ea typeface="Georgia" pitchFamily="34" charset="-122"/>
                <a:cs typeface="Georgia" pitchFamily="34" charset="-120"/>
              </a:rPr>
              <a:t>No USDC is released until the licensed custodian confirms physical custody onchain — atomically, in the same transaction.</a:t>
            </a:r>
            <a:endParaRPr lang="en-US" sz="2200" dirty="0"/>
          </a:p>
        </p:txBody>
      </p:sp>
      <p:sp>
        <p:nvSpPr>
          <p:cNvPr id="35" name="Text 28"/>
          <p:cNvSpPr/>
          <p:nvPr/>
        </p:nvSpPr>
        <p:spPr>
          <a:xfrm>
            <a:off x="640080" y="6355080"/>
            <a:ext cx="10911535" cy="320040"/>
          </a:xfrm>
          <a:prstGeom prst="rect">
            <a:avLst/>
          </a:prstGeom>
          <a:noFill/>
          <a:ln/>
        </p:spPr>
        <p:txBody>
          <a:bodyPr wrap="square" lIns="0" tIns="0" rIns="0" bIns="0" rtlCol="0" anchor="ctr"/>
          <a:lstStyle/>
          <a:p>
            <a:pPr indent="0" marL="0">
              <a:buNone/>
            </a:pPr>
            <a:r>
              <a:rPr lang="en-US" sz="1300" dirty="0">
                <a:solidFill>
                  <a:srgbClr val="0E7C7B"/>
                </a:solidFill>
                <a:latin typeface="Georgia" pitchFamily="34" charset="0"/>
                <a:ea typeface="Georgia" pitchFamily="34" charset="-122"/>
                <a:cs typeface="Georgia" pitchFamily="34" charset="-120"/>
              </a:rPr>
              <a:t>→  </a:t>
            </a:r>
            <a:pPr indent="0" marL="0">
              <a:buNone/>
            </a:pPr>
            <a:r>
              <a:rPr lang="en-US" sz="1300" i="1" dirty="0">
                <a:solidFill>
                  <a:srgbClr val="F5F0E8"/>
                </a:solidFill>
                <a:latin typeface="Georgia" pitchFamily="34" charset="0"/>
                <a:ea typeface="Georgia" pitchFamily="34" charset="-122"/>
                <a:cs typeface="Georgia" pitchFamily="34" charset="-120"/>
              </a:rPr>
              <a:t>No competitor in physical-collateral lending has shipped this onchain.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a:ln/>
        </p:spPr>
        <p:txBody>
          <a:bodyPr wrap="square" lIns="0" tIns="0" rIns="0" bIns="0" rtlCol="0" anchor="ctr"/>
          <a:lstStyle/>
          <a:p>
            <a:pPr indent="0" marL="0">
              <a:buNone/>
            </a:pPr>
            <a:r>
              <a:rPr lang="en-US" sz="950" b="1" spc="400" kern="0" dirty="0">
                <a:solidFill>
                  <a:srgbClr val="0E7C7B"/>
                </a:solidFill>
                <a:latin typeface="Consolas" pitchFamily="34" charset="0"/>
                <a:ea typeface="Consolas" pitchFamily="34" charset="-122"/>
                <a:cs typeface="Consolas" pitchFamily="34" charset="-120"/>
              </a:rPr>
              <a:t>04  /  UNIT ECONOMICS</a:t>
            </a:r>
            <a:endParaRPr lang="en-US" sz="950" dirty="0"/>
          </a:p>
        </p:txBody>
      </p:sp>
      <p:sp>
        <p:nvSpPr>
          <p:cNvPr id="4" name="Text 2"/>
          <p:cNvSpPr/>
          <p:nvPr/>
        </p:nvSpPr>
        <p:spPr>
          <a:xfrm>
            <a:off x="10911535" y="274320"/>
            <a:ext cx="914400" cy="228600"/>
          </a:xfrm>
          <a:prstGeom prst="rect">
            <a:avLst/>
          </a:prstGeom>
          <a:noFill/>
          <a:ln/>
        </p:spPr>
        <p:txBody>
          <a:bodyPr wrap="square" lIns="0" tIns="0" rIns="0" bIns="0" rtlCol="0" anchor="ctr"/>
          <a:lstStyle/>
          <a:p>
            <a:pPr algn="r" indent="0" marL="0">
              <a:buNone/>
            </a:pPr>
            <a:r>
              <a:rPr lang="en-US" sz="900" spc="300" kern="0" dirty="0">
                <a:solidFill>
                  <a:srgbClr val="8A8A90"/>
                </a:solidFill>
                <a:latin typeface="Consolas" pitchFamily="34" charset="0"/>
                <a:ea typeface="Consolas" pitchFamily="34" charset="-122"/>
                <a:cs typeface="Consolas" pitchFamily="34" charset="-120"/>
              </a:rPr>
              <a:t>04 / 09</a:t>
            </a:r>
            <a:endParaRPr lang="en-US" sz="900" dirty="0"/>
          </a:p>
        </p:txBody>
      </p:sp>
      <p:sp>
        <p:nvSpPr>
          <p:cNvPr id="5" name="Text 3"/>
          <p:cNvSpPr/>
          <p:nvPr/>
        </p:nvSpPr>
        <p:spPr>
          <a:xfrm>
            <a:off x="640080" y="777240"/>
            <a:ext cx="10911535" cy="777240"/>
          </a:xfrm>
          <a:prstGeom prst="rect">
            <a:avLst/>
          </a:prstGeom>
          <a:noFill/>
          <a:ln/>
        </p:spPr>
        <p:txBody>
          <a:bodyPr wrap="square" lIns="0" tIns="0" rIns="0" bIns="0" rtlCol="0" anchor="ctr"/>
          <a:lstStyle/>
          <a:p>
            <a:pPr indent="0" marL="0">
              <a:buNone/>
            </a:pPr>
            <a:r>
              <a:rPr lang="en-US" sz="3200" b="1" dirty="0">
                <a:solidFill>
                  <a:srgbClr val="F5F0E8"/>
                </a:solidFill>
                <a:latin typeface="Georgia" pitchFamily="34" charset="0"/>
                <a:ea typeface="Georgia" pitchFamily="34" charset="-122"/>
                <a:cs typeface="Georgia" pitchFamily="34" charset="-120"/>
              </a:rPr>
              <a:t>Cheaper than formal credit. 2.5× more capital.</a:t>
            </a:r>
            <a:endParaRPr lang="en-US" sz="3200" dirty="0"/>
          </a:p>
        </p:txBody>
      </p:sp>
      <p:sp>
        <p:nvSpPr>
          <p:cNvPr id="6" name="Shape 4"/>
          <p:cNvSpPr/>
          <p:nvPr/>
        </p:nvSpPr>
        <p:spPr>
          <a:xfrm>
            <a:off x="640080" y="1691640"/>
            <a:ext cx="914400" cy="0"/>
          </a:xfrm>
          <a:prstGeom prst="line">
            <a:avLst/>
          </a:prstGeom>
          <a:noFill/>
          <a:ln w="15240">
            <a:solidFill>
              <a:srgbClr val="0E7C7B"/>
            </a:solidFill>
            <a:prstDash val="solid"/>
          </a:ln>
        </p:spPr>
      </p:sp>
      <p:sp>
        <p:nvSpPr>
          <p:cNvPr id="7" name="Text 5"/>
          <p:cNvSpPr/>
          <p:nvPr/>
        </p:nvSpPr>
        <p:spPr>
          <a:xfrm>
            <a:off x="640080" y="2011680"/>
            <a:ext cx="5852160" cy="274320"/>
          </a:xfrm>
          <a:prstGeom prst="rect">
            <a:avLst/>
          </a:prstGeom>
          <a:noFill/>
          <a:ln/>
        </p:spPr>
        <p:txBody>
          <a:bodyPr wrap="square" lIns="0" tIns="0" rIns="0" bIns="0" rtlCol="0" anchor="ctr"/>
          <a:lstStyle/>
          <a:p>
            <a:pPr indent="0" marL="0">
              <a:buNone/>
            </a:pPr>
            <a:r>
              <a:rPr lang="en-US" sz="1000" b="1" spc="400" kern="0" dirty="0">
                <a:solidFill>
                  <a:srgbClr val="0E7C7B"/>
                </a:solidFill>
                <a:latin typeface="Consolas" pitchFamily="34" charset="0"/>
                <a:ea typeface="Consolas" pitchFamily="34" charset="-122"/>
                <a:cs typeface="Consolas" pitchFamily="34" charset="-120"/>
              </a:rPr>
              <a:t>CAPITAL PER ASSET  ·  $14k Rolex</a:t>
            </a:r>
            <a:endParaRPr lang="en-US" sz="1000" dirty="0"/>
          </a:p>
        </p:txBody>
      </p:sp>
      <p:sp>
        <p:nvSpPr>
          <p:cNvPr id="8" name="Shape 6"/>
          <p:cNvSpPr/>
          <p:nvPr/>
        </p:nvSpPr>
        <p:spPr>
          <a:xfrm>
            <a:off x="640080" y="2331720"/>
            <a:ext cx="5852160" cy="0"/>
          </a:xfrm>
          <a:prstGeom prst="line">
            <a:avLst/>
          </a:prstGeom>
          <a:noFill/>
          <a:ln w="6350">
            <a:solidFill>
              <a:srgbClr val="1F1F25"/>
            </a:solidFill>
            <a:prstDash val="solid"/>
          </a:ln>
        </p:spPr>
      </p:sp>
      <p:sp>
        <p:nvSpPr>
          <p:cNvPr id="9" name="Text 7"/>
          <p:cNvSpPr/>
          <p:nvPr/>
        </p:nvSpPr>
        <p:spPr>
          <a:xfrm>
            <a:off x="640080" y="2606040"/>
            <a:ext cx="1463040" cy="274320"/>
          </a:xfrm>
          <a:prstGeom prst="rect">
            <a:avLst/>
          </a:prstGeom>
          <a:noFill/>
          <a:ln/>
        </p:spPr>
        <p:txBody>
          <a:bodyPr wrap="square" lIns="0" tIns="0" rIns="0" bIns="0" rtlCol="0" anchor="ctr"/>
          <a:lstStyle/>
          <a:p>
            <a:pPr indent="0" marL="0">
              <a:buNone/>
            </a:pPr>
            <a:r>
              <a:rPr lang="en-US" sz="1400" dirty="0">
                <a:solidFill>
                  <a:srgbClr val="C8C2B2"/>
                </a:solidFill>
                <a:latin typeface="Georgia" pitchFamily="34" charset="0"/>
                <a:ea typeface="Georgia" pitchFamily="34" charset="-122"/>
                <a:cs typeface="Georgia" pitchFamily="34" charset="-120"/>
              </a:rPr>
              <a:t>Caixa Pawn</a:t>
            </a:r>
            <a:endParaRPr lang="en-US" sz="1400" dirty="0"/>
          </a:p>
        </p:txBody>
      </p:sp>
      <p:sp>
        <p:nvSpPr>
          <p:cNvPr id="10" name="Text 8"/>
          <p:cNvSpPr/>
          <p:nvPr/>
        </p:nvSpPr>
        <p:spPr>
          <a:xfrm>
            <a:off x="640080" y="2880360"/>
            <a:ext cx="1463040" cy="228600"/>
          </a:xfrm>
          <a:prstGeom prst="rect">
            <a:avLst/>
          </a:prstGeom>
          <a:noFill/>
          <a:ln/>
        </p:spPr>
        <p:txBody>
          <a:bodyPr wrap="square" lIns="0" tIns="0" rIns="0" bIns="0" rtlCol="0" anchor="ctr"/>
          <a:lstStyle/>
          <a:p>
            <a:pPr indent="0" marL="0">
              <a:buNone/>
            </a:pPr>
            <a:r>
              <a:rPr lang="en-US" sz="1000" i="1" dirty="0">
                <a:solidFill>
                  <a:srgbClr val="8A8A90"/>
                </a:solidFill>
                <a:latin typeface="Consolas" pitchFamily="34" charset="0"/>
                <a:ea typeface="Consolas" pitchFamily="34" charset="-122"/>
                <a:cs typeface="Consolas" pitchFamily="34" charset="-120"/>
              </a:rPr>
              <a:t>20% LTV</a:t>
            </a:r>
            <a:endParaRPr lang="en-US" sz="1000" dirty="0"/>
          </a:p>
        </p:txBody>
      </p:sp>
      <p:sp>
        <p:nvSpPr>
          <p:cNvPr id="11" name="Shape 9"/>
          <p:cNvSpPr/>
          <p:nvPr/>
        </p:nvSpPr>
        <p:spPr>
          <a:xfrm>
            <a:off x="2194560" y="2651760"/>
            <a:ext cx="4572000" cy="502920"/>
          </a:xfrm>
          <a:prstGeom prst="rect">
            <a:avLst/>
          </a:prstGeom>
          <a:solidFill>
            <a:srgbClr val="12131A"/>
          </a:solidFill>
          <a:ln w="12700">
            <a:solidFill>
              <a:srgbClr val="1F1F25"/>
            </a:solidFill>
            <a:prstDash val="solid"/>
          </a:ln>
        </p:spPr>
      </p:sp>
      <p:sp>
        <p:nvSpPr>
          <p:cNvPr id="12" name="Shape 10"/>
          <p:cNvSpPr/>
          <p:nvPr/>
        </p:nvSpPr>
        <p:spPr>
          <a:xfrm>
            <a:off x="2194560" y="2651760"/>
            <a:ext cx="914400" cy="502920"/>
          </a:xfrm>
          <a:prstGeom prst="rect">
            <a:avLst/>
          </a:prstGeom>
          <a:solidFill>
            <a:srgbClr val="C8C2B2"/>
          </a:solidFill>
          <a:ln w="12700">
            <a:solidFill>
              <a:srgbClr val="C8C2B2"/>
            </a:solidFill>
            <a:prstDash val="solid"/>
          </a:ln>
        </p:spPr>
      </p:sp>
      <p:sp>
        <p:nvSpPr>
          <p:cNvPr id="13" name="Text 11"/>
          <p:cNvSpPr/>
          <p:nvPr/>
        </p:nvSpPr>
        <p:spPr>
          <a:xfrm>
            <a:off x="3200400" y="2651760"/>
            <a:ext cx="1371600" cy="502920"/>
          </a:xfrm>
          <a:prstGeom prst="rect">
            <a:avLst/>
          </a:prstGeom>
          <a:noFill/>
          <a:ln/>
        </p:spPr>
        <p:txBody>
          <a:bodyPr wrap="square" lIns="0" tIns="0" rIns="0" bIns="0" rtlCol="0" anchor="ctr"/>
          <a:lstStyle/>
          <a:p>
            <a:pPr indent="0" marL="0">
              <a:buNone/>
            </a:pPr>
            <a:r>
              <a:rPr lang="en-US" sz="1200" b="1" dirty="0">
                <a:solidFill>
                  <a:srgbClr val="F5F0E8"/>
                </a:solidFill>
                <a:latin typeface="Consolas" pitchFamily="34" charset="0"/>
                <a:ea typeface="Consolas" pitchFamily="34" charset="-122"/>
                <a:cs typeface="Consolas" pitchFamily="34" charset="-120"/>
              </a:rPr>
              <a:t>$2,800</a:t>
            </a:r>
            <a:endParaRPr lang="en-US" sz="1200" dirty="0"/>
          </a:p>
        </p:txBody>
      </p:sp>
      <p:sp>
        <p:nvSpPr>
          <p:cNvPr id="14" name="Text 12"/>
          <p:cNvSpPr/>
          <p:nvPr/>
        </p:nvSpPr>
        <p:spPr>
          <a:xfrm>
            <a:off x="640080" y="3566160"/>
            <a:ext cx="1463040" cy="274320"/>
          </a:xfrm>
          <a:prstGeom prst="rect">
            <a:avLst/>
          </a:prstGeom>
          <a:noFill/>
          <a:ln/>
        </p:spPr>
        <p:txBody>
          <a:bodyPr wrap="square" lIns="0" tIns="0" rIns="0" bIns="0" rtlCol="0" anchor="ctr"/>
          <a:lstStyle/>
          <a:p>
            <a:pPr indent="0" marL="0">
              <a:buNone/>
            </a:pPr>
            <a:r>
              <a:rPr lang="en-US" sz="1400" b="1" dirty="0">
                <a:solidFill>
                  <a:srgbClr val="F5F0E8"/>
                </a:solidFill>
                <a:latin typeface="Georgia" pitchFamily="34" charset="0"/>
                <a:ea typeface="Georgia" pitchFamily="34" charset="-122"/>
                <a:cs typeface="Georgia" pitchFamily="34" charset="-120"/>
              </a:rPr>
              <a:t>Vaulx</a:t>
            </a:r>
            <a:endParaRPr lang="en-US" sz="1400" dirty="0"/>
          </a:p>
        </p:txBody>
      </p:sp>
      <p:sp>
        <p:nvSpPr>
          <p:cNvPr id="15" name="Text 13"/>
          <p:cNvSpPr/>
          <p:nvPr/>
        </p:nvSpPr>
        <p:spPr>
          <a:xfrm>
            <a:off x="640080" y="3840480"/>
            <a:ext cx="1463040" cy="228600"/>
          </a:xfrm>
          <a:prstGeom prst="rect">
            <a:avLst/>
          </a:prstGeom>
          <a:noFill/>
          <a:ln/>
        </p:spPr>
        <p:txBody>
          <a:bodyPr wrap="square" lIns="0" tIns="0" rIns="0" bIns="0" rtlCol="0" anchor="ctr"/>
          <a:lstStyle/>
          <a:p>
            <a:pPr indent="0" marL="0">
              <a:buNone/>
            </a:pPr>
            <a:r>
              <a:rPr lang="en-US" sz="1000" i="1" dirty="0">
                <a:solidFill>
                  <a:srgbClr val="0E7C7B"/>
                </a:solidFill>
                <a:latin typeface="Consolas" pitchFamily="34" charset="0"/>
                <a:ea typeface="Consolas" pitchFamily="34" charset="-122"/>
                <a:cs typeface="Consolas" pitchFamily="34" charset="-120"/>
              </a:rPr>
              <a:t>50% LTV</a:t>
            </a:r>
            <a:endParaRPr lang="en-US" sz="1000" dirty="0"/>
          </a:p>
        </p:txBody>
      </p:sp>
      <p:sp>
        <p:nvSpPr>
          <p:cNvPr id="16" name="Shape 14"/>
          <p:cNvSpPr/>
          <p:nvPr/>
        </p:nvSpPr>
        <p:spPr>
          <a:xfrm>
            <a:off x="2194560" y="3611880"/>
            <a:ext cx="4572000" cy="502920"/>
          </a:xfrm>
          <a:prstGeom prst="rect">
            <a:avLst/>
          </a:prstGeom>
          <a:solidFill>
            <a:srgbClr val="12131A"/>
          </a:solidFill>
          <a:ln w="12700">
            <a:solidFill>
              <a:srgbClr val="1F1F25"/>
            </a:solidFill>
            <a:prstDash val="solid"/>
          </a:ln>
        </p:spPr>
      </p:sp>
      <p:sp>
        <p:nvSpPr>
          <p:cNvPr id="17" name="Shape 15"/>
          <p:cNvSpPr/>
          <p:nvPr/>
        </p:nvSpPr>
        <p:spPr>
          <a:xfrm>
            <a:off x="2194560" y="3611880"/>
            <a:ext cx="2286000" cy="502920"/>
          </a:xfrm>
          <a:prstGeom prst="rect">
            <a:avLst/>
          </a:prstGeom>
          <a:solidFill>
            <a:srgbClr val="0E7C7B"/>
          </a:solidFill>
          <a:ln w="12700">
            <a:solidFill>
              <a:srgbClr val="0E7C7B"/>
            </a:solidFill>
            <a:prstDash val="solid"/>
          </a:ln>
        </p:spPr>
      </p:sp>
      <p:sp>
        <p:nvSpPr>
          <p:cNvPr id="18" name="Text 16"/>
          <p:cNvSpPr/>
          <p:nvPr/>
        </p:nvSpPr>
        <p:spPr>
          <a:xfrm>
            <a:off x="4572000" y="3611880"/>
            <a:ext cx="1371600" cy="502920"/>
          </a:xfrm>
          <a:prstGeom prst="rect">
            <a:avLst/>
          </a:prstGeom>
          <a:noFill/>
          <a:ln/>
        </p:spPr>
        <p:txBody>
          <a:bodyPr wrap="square" lIns="0" tIns="0" rIns="0" bIns="0" rtlCol="0" anchor="ctr"/>
          <a:lstStyle/>
          <a:p>
            <a:pPr indent="0" marL="0">
              <a:buNone/>
            </a:pPr>
            <a:r>
              <a:rPr lang="en-US" sz="1200" b="1" dirty="0">
                <a:solidFill>
                  <a:srgbClr val="F5F0E8"/>
                </a:solidFill>
                <a:latin typeface="Consolas" pitchFamily="34" charset="0"/>
                <a:ea typeface="Consolas" pitchFamily="34" charset="-122"/>
                <a:cs typeface="Consolas" pitchFamily="34" charset="-120"/>
              </a:rPr>
              <a:t>$7,000</a:t>
            </a:r>
            <a:endParaRPr lang="en-US" sz="1200" dirty="0"/>
          </a:p>
        </p:txBody>
      </p:sp>
      <p:sp>
        <p:nvSpPr>
          <p:cNvPr id="19" name="Text 17"/>
          <p:cNvSpPr/>
          <p:nvPr/>
        </p:nvSpPr>
        <p:spPr>
          <a:xfrm>
            <a:off x="640080" y="4526280"/>
            <a:ext cx="5852160" cy="640080"/>
          </a:xfrm>
          <a:prstGeom prst="rect">
            <a:avLst/>
          </a:prstGeom>
          <a:noFill/>
          <a:ln/>
        </p:spPr>
        <p:txBody>
          <a:bodyPr wrap="square" lIns="0" tIns="0" rIns="0" bIns="0" rtlCol="0" anchor="ctr"/>
          <a:lstStyle/>
          <a:p>
            <a:pPr algn="l" indent="0" marL="0">
              <a:buNone/>
            </a:pPr>
            <a:r>
              <a:rPr lang="en-US" sz="3600" b="1" dirty="0">
                <a:solidFill>
                  <a:srgbClr val="C9A86A"/>
                </a:solidFill>
                <a:latin typeface="Georgia" pitchFamily="34" charset="0"/>
                <a:ea typeface="Georgia" pitchFamily="34" charset="-122"/>
                <a:cs typeface="Georgia" pitchFamily="34" charset="-120"/>
              </a:rPr>
              <a:t>2.5×</a:t>
            </a:r>
            <a:pPr algn="l" indent="0" marL="0">
              <a:buNone/>
            </a:pPr>
            <a:r>
              <a:rPr lang="en-US" sz="1800" i="1" dirty="0">
                <a:solidFill>
                  <a:srgbClr val="F5F0E8"/>
                </a:solidFill>
                <a:latin typeface="Georgia" pitchFamily="34" charset="0"/>
                <a:ea typeface="Georgia" pitchFamily="34" charset="-122"/>
                <a:cs typeface="Georgia" pitchFamily="34" charset="-120"/>
              </a:rPr>
              <a:t>  more capital per asset</a:t>
            </a:r>
            <a:endParaRPr lang="en-US" sz="3600" dirty="0"/>
          </a:p>
        </p:txBody>
      </p:sp>
      <p:sp>
        <p:nvSpPr>
          <p:cNvPr id="20" name="Text 18"/>
          <p:cNvSpPr/>
          <p:nvPr/>
        </p:nvSpPr>
        <p:spPr>
          <a:xfrm>
            <a:off x="7315200" y="2011680"/>
            <a:ext cx="4236415" cy="274320"/>
          </a:xfrm>
          <a:prstGeom prst="rect">
            <a:avLst/>
          </a:prstGeom>
          <a:noFill/>
          <a:ln/>
        </p:spPr>
        <p:txBody>
          <a:bodyPr wrap="square" lIns="0" tIns="0" rIns="0" bIns="0" rtlCol="0" anchor="ctr"/>
          <a:lstStyle/>
          <a:p>
            <a:pPr indent="0" marL="0">
              <a:buNone/>
            </a:pPr>
            <a:r>
              <a:rPr lang="en-US" sz="1000" b="1" spc="400" kern="0" dirty="0">
                <a:solidFill>
                  <a:srgbClr val="0E7C7B"/>
                </a:solidFill>
                <a:latin typeface="Consolas" pitchFamily="34" charset="0"/>
                <a:ea typeface="Consolas" pitchFamily="34" charset="-122"/>
                <a:cs typeface="Consolas" pitchFamily="34" charset="-120"/>
              </a:rPr>
              <a:t>BORROWER ALL-IN  ·  24% APR</a:t>
            </a:r>
            <a:endParaRPr lang="en-US" sz="1000" dirty="0"/>
          </a:p>
        </p:txBody>
      </p:sp>
      <p:sp>
        <p:nvSpPr>
          <p:cNvPr id="21" name="Shape 19"/>
          <p:cNvSpPr/>
          <p:nvPr/>
        </p:nvSpPr>
        <p:spPr>
          <a:xfrm>
            <a:off x="7315200" y="2331720"/>
            <a:ext cx="4236415" cy="0"/>
          </a:xfrm>
          <a:prstGeom prst="line">
            <a:avLst/>
          </a:prstGeom>
          <a:noFill/>
          <a:ln w="6350">
            <a:solidFill>
              <a:srgbClr val="1F1F25"/>
            </a:solidFill>
            <a:prstDash val="solid"/>
          </a:ln>
        </p:spPr>
      </p:sp>
      <p:sp>
        <p:nvSpPr>
          <p:cNvPr id="22" name="Shape 20"/>
          <p:cNvSpPr/>
          <p:nvPr/>
        </p:nvSpPr>
        <p:spPr>
          <a:xfrm>
            <a:off x="7772400" y="2651760"/>
            <a:ext cx="914400" cy="609600"/>
          </a:xfrm>
          <a:prstGeom prst="rect">
            <a:avLst/>
          </a:prstGeom>
          <a:solidFill>
            <a:srgbClr val="B8412C"/>
          </a:solidFill>
          <a:ln w="12700">
            <a:solidFill>
              <a:srgbClr val="B8412C"/>
            </a:solidFill>
            <a:prstDash val="solid"/>
          </a:ln>
        </p:spPr>
      </p:sp>
      <p:sp>
        <p:nvSpPr>
          <p:cNvPr id="23" name="Text 21"/>
          <p:cNvSpPr/>
          <p:nvPr/>
        </p:nvSpPr>
        <p:spPr>
          <a:xfrm>
            <a:off x="7772400" y="2651760"/>
            <a:ext cx="914400" cy="609600"/>
          </a:xfrm>
          <a:prstGeom prst="rect">
            <a:avLst/>
          </a:prstGeom>
          <a:noFill/>
          <a:ln/>
        </p:spPr>
        <p:txBody>
          <a:bodyPr wrap="square" lIns="0" tIns="0" rIns="0" bIns="0" rtlCol="0" anchor="ctr"/>
          <a:lstStyle/>
          <a:p>
            <a:pPr algn="ctr" indent="0" marL="0">
              <a:buNone/>
            </a:pPr>
            <a:r>
              <a:rPr lang="en-US" sz="1800" b="1" dirty="0">
                <a:solidFill>
                  <a:srgbClr val="0A0A0B"/>
                </a:solidFill>
                <a:latin typeface="Georgia" pitchFamily="34" charset="0"/>
                <a:ea typeface="Georgia" pitchFamily="34" charset="-122"/>
                <a:cs typeface="Georgia" pitchFamily="34" charset="-120"/>
              </a:rPr>
              <a:t>4%</a:t>
            </a:r>
            <a:endParaRPr lang="en-US" sz="1800" dirty="0"/>
          </a:p>
        </p:txBody>
      </p:sp>
      <p:sp>
        <p:nvSpPr>
          <p:cNvPr id="24" name="Text 22"/>
          <p:cNvSpPr/>
          <p:nvPr/>
        </p:nvSpPr>
        <p:spPr>
          <a:xfrm>
            <a:off x="8869680" y="2791968"/>
            <a:ext cx="2681935" cy="274320"/>
          </a:xfrm>
          <a:prstGeom prst="rect">
            <a:avLst/>
          </a:prstGeom>
          <a:noFill/>
          <a:ln/>
        </p:spPr>
        <p:txBody>
          <a:bodyPr wrap="square" lIns="0" tIns="0" rIns="0" bIns="0" rtlCol="0" anchor="ctr"/>
          <a:lstStyle/>
          <a:p>
            <a:pPr indent="0" marL="0">
              <a:buNone/>
            </a:pPr>
            <a:r>
              <a:rPr lang="en-US" sz="1400" b="1" dirty="0">
                <a:solidFill>
                  <a:srgbClr val="F5F0E8"/>
                </a:solidFill>
                <a:latin typeface="Georgia" pitchFamily="34" charset="0"/>
                <a:ea typeface="Georgia" pitchFamily="34" charset="-122"/>
                <a:cs typeface="Georgia" pitchFamily="34" charset="-120"/>
              </a:rPr>
              <a:t>Risk Margin</a:t>
            </a:r>
            <a:endParaRPr lang="en-US" sz="1400" dirty="0"/>
          </a:p>
        </p:txBody>
      </p:sp>
      <p:sp>
        <p:nvSpPr>
          <p:cNvPr id="25" name="Text 23"/>
          <p:cNvSpPr/>
          <p:nvPr/>
        </p:nvSpPr>
        <p:spPr>
          <a:xfrm>
            <a:off x="8869680" y="3002280"/>
            <a:ext cx="2681935" cy="228600"/>
          </a:xfrm>
          <a:prstGeom prst="rect">
            <a:avLst/>
          </a:prstGeom>
          <a:noFill/>
          <a:ln/>
        </p:spPr>
        <p:txBody>
          <a:bodyPr wrap="square" lIns="0" tIns="0" rIns="0" bIns="0" rtlCol="0" anchor="ctr"/>
          <a:lstStyle/>
          <a:p>
            <a:pPr indent="0" marL="0">
              <a:buNone/>
            </a:pPr>
            <a:r>
              <a:rPr lang="en-US" sz="1000" i="1" dirty="0">
                <a:solidFill>
                  <a:srgbClr val="8A8A90"/>
                </a:solidFill>
                <a:latin typeface="Calibri" pitchFamily="34" charset="0"/>
                <a:ea typeface="Calibri" pitchFamily="34" charset="-122"/>
                <a:cs typeface="Calibri" pitchFamily="34" charset="-120"/>
              </a:rPr>
              <a:t>POL + risk reserve</a:t>
            </a:r>
            <a:endParaRPr lang="en-US" sz="1000" dirty="0"/>
          </a:p>
        </p:txBody>
      </p:sp>
      <p:sp>
        <p:nvSpPr>
          <p:cNvPr id="26" name="Shape 24"/>
          <p:cNvSpPr/>
          <p:nvPr/>
        </p:nvSpPr>
        <p:spPr>
          <a:xfrm>
            <a:off x="7772400" y="3261360"/>
            <a:ext cx="914400" cy="1828800"/>
          </a:xfrm>
          <a:prstGeom prst="rect">
            <a:avLst/>
          </a:prstGeom>
          <a:solidFill>
            <a:srgbClr val="C9A86A"/>
          </a:solidFill>
          <a:ln w="12700">
            <a:solidFill>
              <a:srgbClr val="C9A86A"/>
            </a:solidFill>
            <a:prstDash val="solid"/>
          </a:ln>
        </p:spPr>
      </p:sp>
      <p:sp>
        <p:nvSpPr>
          <p:cNvPr id="27" name="Text 25"/>
          <p:cNvSpPr/>
          <p:nvPr/>
        </p:nvSpPr>
        <p:spPr>
          <a:xfrm>
            <a:off x="7772400" y="3261360"/>
            <a:ext cx="914400" cy="1828800"/>
          </a:xfrm>
          <a:prstGeom prst="rect">
            <a:avLst/>
          </a:prstGeom>
          <a:noFill/>
          <a:ln/>
        </p:spPr>
        <p:txBody>
          <a:bodyPr wrap="square" lIns="0" tIns="0" rIns="0" bIns="0" rtlCol="0" anchor="ctr"/>
          <a:lstStyle/>
          <a:p>
            <a:pPr algn="ctr" indent="0" marL="0">
              <a:buNone/>
            </a:pPr>
            <a:r>
              <a:rPr lang="en-US" sz="1800" b="1" dirty="0">
                <a:solidFill>
                  <a:srgbClr val="0A0A0B"/>
                </a:solidFill>
                <a:latin typeface="Georgia" pitchFamily="34" charset="0"/>
                <a:ea typeface="Georgia" pitchFamily="34" charset="-122"/>
                <a:cs typeface="Georgia" pitchFamily="34" charset="-120"/>
              </a:rPr>
              <a:t>12%</a:t>
            </a:r>
            <a:endParaRPr lang="en-US" sz="1800" dirty="0"/>
          </a:p>
        </p:txBody>
      </p:sp>
      <p:sp>
        <p:nvSpPr>
          <p:cNvPr id="28" name="Text 26"/>
          <p:cNvSpPr/>
          <p:nvPr/>
        </p:nvSpPr>
        <p:spPr>
          <a:xfrm>
            <a:off x="8869680" y="4011168"/>
            <a:ext cx="2681935" cy="274320"/>
          </a:xfrm>
          <a:prstGeom prst="rect">
            <a:avLst/>
          </a:prstGeom>
          <a:noFill/>
          <a:ln/>
        </p:spPr>
        <p:txBody>
          <a:bodyPr wrap="square" lIns="0" tIns="0" rIns="0" bIns="0" rtlCol="0" anchor="ctr"/>
          <a:lstStyle/>
          <a:p>
            <a:pPr indent="0" marL="0">
              <a:buNone/>
            </a:pPr>
            <a:r>
              <a:rPr lang="en-US" sz="1400" b="1" dirty="0">
                <a:solidFill>
                  <a:srgbClr val="F5F0E8"/>
                </a:solidFill>
                <a:latin typeface="Georgia" pitchFamily="34" charset="0"/>
                <a:ea typeface="Georgia" pitchFamily="34" charset="-122"/>
                <a:cs typeface="Georgia" pitchFamily="34" charset="-120"/>
              </a:rPr>
              <a:t>Operations</a:t>
            </a:r>
            <a:endParaRPr lang="en-US" sz="1400" dirty="0"/>
          </a:p>
        </p:txBody>
      </p:sp>
      <p:sp>
        <p:nvSpPr>
          <p:cNvPr id="29" name="Text 27"/>
          <p:cNvSpPr/>
          <p:nvPr/>
        </p:nvSpPr>
        <p:spPr>
          <a:xfrm>
            <a:off x="8869680" y="4221480"/>
            <a:ext cx="2681935" cy="228600"/>
          </a:xfrm>
          <a:prstGeom prst="rect">
            <a:avLst/>
          </a:prstGeom>
          <a:noFill/>
          <a:ln/>
        </p:spPr>
        <p:txBody>
          <a:bodyPr wrap="square" lIns="0" tIns="0" rIns="0" bIns="0" rtlCol="0" anchor="ctr"/>
          <a:lstStyle/>
          <a:p>
            <a:pPr indent="0" marL="0">
              <a:buNone/>
            </a:pPr>
            <a:r>
              <a:rPr lang="en-US" sz="1000" i="1" dirty="0">
                <a:solidFill>
                  <a:srgbClr val="8A8A90"/>
                </a:solidFill>
                <a:latin typeface="Calibri" pitchFamily="34" charset="0"/>
                <a:ea typeface="Calibri" pitchFamily="34" charset="-122"/>
                <a:cs typeface="Calibri" pitchFamily="34" charset="-120"/>
              </a:rPr>
              <a:t>appraisal · custody · insurance · servicing</a:t>
            </a:r>
            <a:endParaRPr lang="en-US" sz="1000" dirty="0"/>
          </a:p>
        </p:txBody>
      </p:sp>
      <p:sp>
        <p:nvSpPr>
          <p:cNvPr id="30" name="Shape 28"/>
          <p:cNvSpPr/>
          <p:nvPr/>
        </p:nvSpPr>
        <p:spPr>
          <a:xfrm>
            <a:off x="7772400" y="5090160"/>
            <a:ext cx="914400" cy="1219200"/>
          </a:xfrm>
          <a:prstGeom prst="rect">
            <a:avLst/>
          </a:prstGeom>
          <a:solidFill>
            <a:srgbClr val="0E7C7B"/>
          </a:solidFill>
          <a:ln w="12700">
            <a:solidFill>
              <a:srgbClr val="0E7C7B"/>
            </a:solidFill>
            <a:prstDash val="solid"/>
          </a:ln>
        </p:spPr>
      </p:sp>
      <p:sp>
        <p:nvSpPr>
          <p:cNvPr id="31" name="Text 29"/>
          <p:cNvSpPr/>
          <p:nvPr/>
        </p:nvSpPr>
        <p:spPr>
          <a:xfrm>
            <a:off x="7772400" y="5090160"/>
            <a:ext cx="914400" cy="1219200"/>
          </a:xfrm>
          <a:prstGeom prst="rect">
            <a:avLst/>
          </a:prstGeom>
          <a:noFill/>
          <a:ln/>
        </p:spPr>
        <p:txBody>
          <a:bodyPr wrap="square" lIns="0" tIns="0" rIns="0" bIns="0" rtlCol="0" anchor="ctr"/>
          <a:lstStyle/>
          <a:p>
            <a:pPr algn="ctr" indent="0" marL="0">
              <a:buNone/>
            </a:pPr>
            <a:r>
              <a:rPr lang="en-US" sz="1800" b="1" dirty="0">
                <a:solidFill>
                  <a:srgbClr val="0A0A0B"/>
                </a:solidFill>
                <a:latin typeface="Georgia" pitchFamily="34" charset="0"/>
                <a:ea typeface="Georgia" pitchFamily="34" charset="-122"/>
                <a:cs typeface="Georgia" pitchFamily="34" charset="-120"/>
              </a:rPr>
              <a:t>8%</a:t>
            </a:r>
            <a:endParaRPr lang="en-US" sz="1800" dirty="0"/>
          </a:p>
        </p:txBody>
      </p:sp>
      <p:sp>
        <p:nvSpPr>
          <p:cNvPr id="32" name="Text 30"/>
          <p:cNvSpPr/>
          <p:nvPr/>
        </p:nvSpPr>
        <p:spPr>
          <a:xfrm>
            <a:off x="8869680" y="5535168"/>
            <a:ext cx="2681935" cy="274320"/>
          </a:xfrm>
          <a:prstGeom prst="rect">
            <a:avLst/>
          </a:prstGeom>
          <a:noFill/>
          <a:ln/>
        </p:spPr>
        <p:txBody>
          <a:bodyPr wrap="square" lIns="0" tIns="0" rIns="0" bIns="0" rtlCol="0" anchor="ctr"/>
          <a:lstStyle/>
          <a:p>
            <a:pPr indent="0" marL="0">
              <a:buNone/>
            </a:pPr>
            <a:r>
              <a:rPr lang="en-US" sz="1400" b="1" dirty="0">
                <a:solidFill>
                  <a:srgbClr val="F5F0E8"/>
                </a:solidFill>
                <a:latin typeface="Georgia" pitchFamily="34" charset="0"/>
                <a:ea typeface="Georgia" pitchFamily="34" charset="-122"/>
                <a:cs typeface="Georgia" pitchFamily="34" charset="-120"/>
              </a:rPr>
              <a:t>LP Yield</a:t>
            </a:r>
            <a:endParaRPr lang="en-US" sz="1400" dirty="0"/>
          </a:p>
        </p:txBody>
      </p:sp>
      <p:sp>
        <p:nvSpPr>
          <p:cNvPr id="33" name="Text 31"/>
          <p:cNvSpPr/>
          <p:nvPr/>
        </p:nvSpPr>
        <p:spPr>
          <a:xfrm>
            <a:off x="8869680" y="5745480"/>
            <a:ext cx="2681935" cy="228600"/>
          </a:xfrm>
          <a:prstGeom prst="rect">
            <a:avLst/>
          </a:prstGeom>
          <a:noFill/>
          <a:ln/>
        </p:spPr>
        <p:txBody>
          <a:bodyPr wrap="square" lIns="0" tIns="0" rIns="0" bIns="0" rtlCol="0" anchor="ctr"/>
          <a:lstStyle/>
          <a:p>
            <a:pPr indent="0" marL="0">
              <a:buNone/>
            </a:pPr>
            <a:r>
              <a:rPr lang="en-US" sz="1000" i="1" dirty="0">
                <a:solidFill>
                  <a:srgbClr val="8A8A90"/>
                </a:solidFill>
                <a:latin typeface="Calibri" pitchFamily="34" charset="0"/>
                <a:ea typeface="Calibri" pitchFamily="34" charset="-122"/>
                <a:cs typeface="Calibri" pitchFamily="34" charset="-120"/>
              </a:rPr>
              <a:t>cost of capital</a:t>
            </a:r>
            <a:endParaRPr lang="en-US" sz="1000" dirty="0"/>
          </a:p>
        </p:txBody>
      </p:sp>
      <p:sp>
        <p:nvSpPr>
          <p:cNvPr id="34" name="Shape 32"/>
          <p:cNvSpPr/>
          <p:nvPr/>
        </p:nvSpPr>
        <p:spPr>
          <a:xfrm>
            <a:off x="640080" y="6355080"/>
            <a:ext cx="10911535" cy="0"/>
          </a:xfrm>
          <a:prstGeom prst="line">
            <a:avLst/>
          </a:prstGeom>
          <a:noFill/>
          <a:ln w="6350">
            <a:solidFill>
              <a:srgbClr val="1F1F25"/>
            </a:solidFill>
            <a:prstDash val="solid"/>
          </a:ln>
        </p:spPr>
      </p:sp>
      <p:sp>
        <p:nvSpPr>
          <p:cNvPr id="35" name="Text 33"/>
          <p:cNvSpPr/>
          <p:nvPr/>
        </p:nvSpPr>
        <p:spPr>
          <a:xfrm>
            <a:off x="640080" y="6446520"/>
            <a:ext cx="10911535" cy="320040"/>
          </a:xfrm>
          <a:prstGeom prst="rect">
            <a:avLst/>
          </a:prstGeom>
          <a:noFill/>
          <a:ln/>
        </p:spPr>
        <p:txBody>
          <a:bodyPr wrap="square" lIns="0" tIns="0" rIns="0" bIns="0" rtlCol="0" anchor="ctr"/>
          <a:lstStyle/>
          <a:p>
            <a:pPr algn="ctr" indent="0" marL="0">
              <a:buNone/>
            </a:pPr>
            <a:r>
              <a:rPr lang="en-US" sz="1400" dirty="0">
                <a:solidFill>
                  <a:srgbClr val="C8C2B2"/>
                </a:solidFill>
                <a:latin typeface="Georgia" pitchFamily="34" charset="0"/>
                <a:ea typeface="Georgia" pitchFamily="34" charset="-122"/>
                <a:cs typeface="Georgia" pitchFamily="34" charset="-120"/>
              </a:rPr>
              <a:t>Vaulx revenue:  </a:t>
            </a:r>
            <a:pPr algn="ctr" indent="0" marL="0">
              <a:buNone/>
            </a:pPr>
            <a:r>
              <a:rPr lang="en-US" sz="1400" b="1" dirty="0">
                <a:solidFill>
                  <a:srgbClr val="C9A86A"/>
                </a:solidFill>
                <a:latin typeface="Georgia" pitchFamily="34" charset="0"/>
                <a:ea typeface="Georgia" pitchFamily="34" charset="-122"/>
                <a:cs typeface="Georgia" pitchFamily="34" charset="-120"/>
              </a:rPr>
              <a:t>$300–600</a:t>
            </a:r>
            <a:pPr algn="ctr" indent="0" marL="0">
              <a:buNone/>
            </a:pPr>
            <a:r>
              <a:rPr lang="en-US" sz="1400" dirty="0">
                <a:solidFill>
                  <a:srgbClr val="C8C2B2"/>
                </a:solidFill>
                <a:latin typeface="Georgia" pitchFamily="34" charset="0"/>
                <a:ea typeface="Georgia" pitchFamily="34" charset="-122"/>
                <a:cs typeface="Georgia" pitchFamily="34" charset="-120"/>
              </a:rPr>
              <a:t>  per asset / year  ·  </a:t>
            </a:r>
            <a:pPr algn="ctr" indent="0" marL="0">
              <a:buNone/>
            </a:pPr>
            <a:r>
              <a:rPr lang="en-US" sz="1400" dirty="0">
                <a:solidFill>
                  <a:srgbClr val="F5F0E8"/>
                </a:solidFill>
                <a:latin typeface="Georgia" pitchFamily="34" charset="0"/>
                <a:ea typeface="Georgia" pitchFamily="34" charset="-122"/>
                <a:cs typeface="Georgia" pitchFamily="34" charset="-120"/>
              </a:rPr>
              <a:t>LP net ~5% APR</a:t>
            </a:r>
            <a:pPr algn="ctr" indent="0" marL="0">
              <a:buNone/>
            </a:pPr>
            <a:r>
              <a:rPr lang="en-US" sz="1400" i="1" dirty="0">
                <a:solidFill>
                  <a:srgbClr val="8A8A90"/>
                </a:solidFill>
                <a:latin typeface="Georgia" pitchFamily="34" charset="0"/>
                <a:ea typeface="Georgia" pitchFamily="34" charset="-122"/>
                <a:cs typeface="Georgia" pitchFamily="34" charset="-120"/>
              </a:rPr>
              <a:t>  (collateralized · insured)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a:ln/>
        </p:spPr>
        <p:txBody>
          <a:bodyPr wrap="square" lIns="0" tIns="0" rIns="0" bIns="0" rtlCol="0" anchor="ctr"/>
          <a:lstStyle/>
          <a:p>
            <a:pPr indent="0" marL="0">
              <a:buNone/>
            </a:pPr>
            <a:r>
              <a:rPr lang="en-US" sz="950" b="1" spc="400" kern="0" dirty="0">
                <a:solidFill>
                  <a:srgbClr val="0E7C7B"/>
                </a:solidFill>
                <a:latin typeface="Consolas" pitchFamily="34" charset="0"/>
                <a:ea typeface="Consolas" pitchFamily="34" charset="-122"/>
                <a:cs typeface="Consolas" pitchFamily="34" charset="-120"/>
              </a:rPr>
              <a:t>05  /  RISK · LP TRANCHES · DEFAULT</a:t>
            </a:r>
            <a:endParaRPr lang="en-US" sz="950" dirty="0"/>
          </a:p>
        </p:txBody>
      </p:sp>
      <p:sp>
        <p:nvSpPr>
          <p:cNvPr id="4" name="Text 2"/>
          <p:cNvSpPr/>
          <p:nvPr/>
        </p:nvSpPr>
        <p:spPr>
          <a:xfrm>
            <a:off x="10911535" y="274320"/>
            <a:ext cx="914400" cy="228600"/>
          </a:xfrm>
          <a:prstGeom prst="rect">
            <a:avLst/>
          </a:prstGeom>
          <a:noFill/>
          <a:ln/>
        </p:spPr>
        <p:txBody>
          <a:bodyPr wrap="square" lIns="0" tIns="0" rIns="0" bIns="0" rtlCol="0" anchor="ctr"/>
          <a:lstStyle/>
          <a:p>
            <a:pPr algn="r" indent="0" marL="0">
              <a:buNone/>
            </a:pPr>
            <a:r>
              <a:rPr lang="en-US" sz="900" spc="300" kern="0" dirty="0">
                <a:solidFill>
                  <a:srgbClr val="8A8A90"/>
                </a:solidFill>
                <a:latin typeface="Consolas" pitchFamily="34" charset="0"/>
                <a:ea typeface="Consolas" pitchFamily="34" charset="-122"/>
                <a:cs typeface="Consolas" pitchFamily="34" charset="-120"/>
              </a:rPr>
              <a:t>05 / 09</a:t>
            </a:r>
            <a:endParaRPr lang="en-US" sz="900" dirty="0"/>
          </a:p>
        </p:txBody>
      </p:sp>
      <p:sp>
        <p:nvSpPr>
          <p:cNvPr id="5" name="Text 3"/>
          <p:cNvSpPr/>
          <p:nvPr/>
        </p:nvSpPr>
        <p:spPr>
          <a:xfrm>
            <a:off x="640080" y="777240"/>
            <a:ext cx="10911535" cy="777240"/>
          </a:xfrm>
          <a:prstGeom prst="rect">
            <a:avLst/>
          </a:prstGeom>
          <a:noFill/>
          <a:ln/>
        </p:spPr>
        <p:txBody>
          <a:bodyPr wrap="square" lIns="0" tIns="0" rIns="0" bIns="0" rtlCol="0" anchor="ctr"/>
          <a:lstStyle/>
          <a:p>
            <a:pPr indent="0" marL="0">
              <a:buNone/>
            </a:pPr>
            <a:r>
              <a:rPr lang="en-US" sz="3200" b="1" dirty="0">
                <a:solidFill>
                  <a:srgbClr val="F5F0E8"/>
                </a:solidFill>
                <a:latin typeface="Georgia" pitchFamily="34" charset="0"/>
                <a:ea typeface="Georgia" pitchFamily="34" charset="-122"/>
                <a:cs typeface="Georgia" pitchFamily="34" charset="-120"/>
              </a:rPr>
              <a:t>Risk is tiered. Default is choreographed.</a:t>
            </a:r>
            <a:endParaRPr lang="en-US" sz="3200" dirty="0"/>
          </a:p>
        </p:txBody>
      </p:sp>
      <p:sp>
        <p:nvSpPr>
          <p:cNvPr id="6" name="Shape 4"/>
          <p:cNvSpPr/>
          <p:nvPr/>
        </p:nvSpPr>
        <p:spPr>
          <a:xfrm>
            <a:off x="640080" y="1691640"/>
            <a:ext cx="914400" cy="0"/>
          </a:xfrm>
          <a:prstGeom prst="line">
            <a:avLst/>
          </a:prstGeom>
          <a:noFill/>
          <a:ln w="15240">
            <a:solidFill>
              <a:srgbClr val="0E7C7B"/>
            </a:solidFill>
            <a:prstDash val="solid"/>
          </a:ln>
        </p:spPr>
      </p:sp>
      <p:sp>
        <p:nvSpPr>
          <p:cNvPr id="7" name="Text 5"/>
          <p:cNvSpPr/>
          <p:nvPr/>
        </p:nvSpPr>
        <p:spPr>
          <a:xfrm>
            <a:off x="640080" y="1965960"/>
            <a:ext cx="5852160" cy="274320"/>
          </a:xfrm>
          <a:prstGeom prst="rect">
            <a:avLst/>
          </a:prstGeom>
          <a:noFill/>
          <a:ln/>
        </p:spPr>
        <p:txBody>
          <a:bodyPr wrap="square" lIns="0" tIns="0" rIns="0" bIns="0" rtlCol="0" anchor="ctr"/>
          <a:lstStyle/>
          <a:p>
            <a:pPr indent="0" marL="0">
              <a:buNone/>
            </a:pPr>
            <a:r>
              <a:rPr lang="en-US" sz="1000" b="1" spc="400" kern="0" dirty="0">
                <a:solidFill>
                  <a:srgbClr val="0E7C7B"/>
                </a:solidFill>
                <a:latin typeface="Consolas" pitchFamily="34" charset="0"/>
                <a:ea typeface="Consolas" pitchFamily="34" charset="-122"/>
                <a:cs typeface="Consolas" pitchFamily="34" charset="-120"/>
              </a:rPr>
              <a:t>LP CAPITAL STACK</a:t>
            </a:r>
            <a:endParaRPr lang="en-US" sz="1000" dirty="0"/>
          </a:p>
        </p:txBody>
      </p:sp>
      <p:sp>
        <p:nvSpPr>
          <p:cNvPr id="8" name="Shape 6"/>
          <p:cNvSpPr/>
          <p:nvPr/>
        </p:nvSpPr>
        <p:spPr>
          <a:xfrm>
            <a:off x="640080" y="2286000"/>
            <a:ext cx="5852160" cy="0"/>
          </a:xfrm>
          <a:prstGeom prst="line">
            <a:avLst/>
          </a:prstGeom>
          <a:noFill/>
          <a:ln w="6350">
            <a:solidFill>
              <a:srgbClr val="1F1F25"/>
            </a:solidFill>
            <a:prstDash val="solid"/>
          </a:ln>
        </p:spPr>
      </p:sp>
      <p:sp>
        <p:nvSpPr>
          <p:cNvPr id="9" name="Shape 7"/>
          <p:cNvSpPr/>
          <p:nvPr/>
        </p:nvSpPr>
        <p:spPr>
          <a:xfrm>
            <a:off x="1280160" y="2606040"/>
            <a:ext cx="4572000" cy="777240"/>
          </a:xfrm>
          <a:prstGeom prst="rect">
            <a:avLst/>
          </a:prstGeom>
          <a:solidFill>
            <a:srgbClr val="0E7C7B"/>
          </a:solidFill>
          <a:ln w="12700">
            <a:solidFill>
              <a:srgbClr val="0E7C7B"/>
            </a:solidFill>
            <a:prstDash val="solid"/>
          </a:ln>
        </p:spPr>
      </p:sp>
      <p:sp>
        <p:nvSpPr>
          <p:cNvPr id="10" name="Text 8"/>
          <p:cNvSpPr/>
          <p:nvPr/>
        </p:nvSpPr>
        <p:spPr>
          <a:xfrm>
            <a:off x="1280160" y="2679192"/>
            <a:ext cx="4572000" cy="292608"/>
          </a:xfrm>
          <a:prstGeom prst="rect">
            <a:avLst/>
          </a:prstGeom>
          <a:noFill/>
          <a:ln/>
        </p:spPr>
        <p:txBody>
          <a:bodyPr wrap="square" lIns="0" tIns="0" rIns="0" bIns="0" rtlCol="0" anchor="ctr"/>
          <a:lstStyle/>
          <a:p>
            <a:pPr algn="ctr" indent="0" marL="0">
              <a:buNone/>
            </a:pPr>
            <a:r>
              <a:rPr lang="en-US" sz="1600" b="1" dirty="0">
                <a:solidFill>
                  <a:srgbClr val="0A0A0B"/>
                </a:solidFill>
                <a:latin typeface="Georgia" pitchFamily="34" charset="0"/>
                <a:ea typeface="Georgia" pitchFamily="34" charset="-122"/>
                <a:cs typeface="Georgia" pitchFamily="34" charset="-120"/>
              </a:rPr>
              <a:t>SENIOR  ·  8% APR</a:t>
            </a:r>
            <a:endParaRPr lang="en-US" sz="1600" dirty="0"/>
          </a:p>
        </p:txBody>
      </p:sp>
      <p:sp>
        <p:nvSpPr>
          <p:cNvPr id="11" name="Text 9"/>
          <p:cNvSpPr/>
          <p:nvPr/>
        </p:nvSpPr>
        <p:spPr>
          <a:xfrm>
            <a:off x="1280160" y="3017520"/>
            <a:ext cx="4572000" cy="292608"/>
          </a:xfrm>
          <a:prstGeom prst="rect">
            <a:avLst/>
          </a:prstGeom>
          <a:noFill/>
          <a:ln/>
        </p:spPr>
        <p:txBody>
          <a:bodyPr wrap="square" lIns="0" tIns="0" rIns="0" bIns="0" rtlCol="0" anchor="ctr"/>
          <a:lstStyle/>
          <a:p>
            <a:pPr algn="ctr" indent="0" marL="0">
              <a:buNone/>
            </a:pPr>
            <a:r>
              <a:rPr lang="en-US" sz="1000" i="1" dirty="0">
                <a:solidFill>
                  <a:srgbClr val="0A0A0B"/>
                </a:solidFill>
                <a:latin typeface="Consolas" pitchFamily="34" charset="0"/>
                <a:ea typeface="Consolas" pitchFamily="34" charset="-122"/>
                <a:cs typeface="Consolas" pitchFamily="34" charset="-120"/>
              </a:rPr>
              <a:t>~75% capital  ·  last to take losses</a:t>
            </a:r>
            <a:endParaRPr lang="en-US" sz="1000" dirty="0"/>
          </a:p>
        </p:txBody>
      </p:sp>
      <p:sp>
        <p:nvSpPr>
          <p:cNvPr id="12" name="Shape 10"/>
          <p:cNvSpPr/>
          <p:nvPr/>
        </p:nvSpPr>
        <p:spPr>
          <a:xfrm>
            <a:off x="2080260" y="3493008"/>
            <a:ext cx="2971800" cy="777240"/>
          </a:xfrm>
          <a:prstGeom prst="rect">
            <a:avLst/>
          </a:prstGeom>
          <a:solidFill>
            <a:srgbClr val="C9A86A"/>
          </a:solidFill>
          <a:ln w="12700">
            <a:solidFill>
              <a:srgbClr val="C9A86A"/>
            </a:solidFill>
            <a:prstDash val="solid"/>
          </a:ln>
        </p:spPr>
      </p:sp>
      <p:sp>
        <p:nvSpPr>
          <p:cNvPr id="13" name="Text 11"/>
          <p:cNvSpPr/>
          <p:nvPr/>
        </p:nvSpPr>
        <p:spPr>
          <a:xfrm>
            <a:off x="2080260" y="3566160"/>
            <a:ext cx="2971800" cy="292608"/>
          </a:xfrm>
          <a:prstGeom prst="rect">
            <a:avLst/>
          </a:prstGeom>
          <a:noFill/>
          <a:ln/>
        </p:spPr>
        <p:txBody>
          <a:bodyPr wrap="square" lIns="0" tIns="0" rIns="0" bIns="0" rtlCol="0" anchor="ctr"/>
          <a:lstStyle/>
          <a:p>
            <a:pPr algn="ctr" indent="0" marL="0">
              <a:buNone/>
            </a:pPr>
            <a:r>
              <a:rPr lang="en-US" sz="1600" b="1" dirty="0">
                <a:solidFill>
                  <a:srgbClr val="0A0A0B"/>
                </a:solidFill>
                <a:latin typeface="Georgia" pitchFamily="34" charset="0"/>
                <a:ea typeface="Georgia" pitchFamily="34" charset="-122"/>
                <a:cs typeface="Georgia" pitchFamily="34" charset="-120"/>
              </a:rPr>
              <a:t>JUNIOR  ·  12% APR</a:t>
            </a:r>
            <a:endParaRPr lang="en-US" sz="1600" dirty="0"/>
          </a:p>
        </p:txBody>
      </p:sp>
      <p:sp>
        <p:nvSpPr>
          <p:cNvPr id="14" name="Text 12"/>
          <p:cNvSpPr/>
          <p:nvPr/>
        </p:nvSpPr>
        <p:spPr>
          <a:xfrm>
            <a:off x="2080260" y="3904488"/>
            <a:ext cx="2971800" cy="292608"/>
          </a:xfrm>
          <a:prstGeom prst="rect">
            <a:avLst/>
          </a:prstGeom>
          <a:noFill/>
          <a:ln/>
        </p:spPr>
        <p:txBody>
          <a:bodyPr wrap="square" lIns="0" tIns="0" rIns="0" bIns="0" rtlCol="0" anchor="ctr"/>
          <a:lstStyle/>
          <a:p>
            <a:pPr algn="ctr" indent="0" marL="0">
              <a:buNone/>
            </a:pPr>
            <a:r>
              <a:rPr lang="en-US" sz="1000" i="1" dirty="0">
                <a:solidFill>
                  <a:srgbClr val="0A0A0B"/>
                </a:solidFill>
                <a:latin typeface="Consolas" pitchFamily="34" charset="0"/>
                <a:ea typeface="Consolas" pitchFamily="34" charset="-122"/>
                <a:cs typeface="Consolas" pitchFamily="34" charset="-120"/>
              </a:rPr>
              <a:t>~25% capital  ·  first above POL</a:t>
            </a:r>
            <a:endParaRPr lang="en-US" sz="1000" dirty="0"/>
          </a:p>
        </p:txBody>
      </p:sp>
      <p:sp>
        <p:nvSpPr>
          <p:cNvPr id="15" name="Shape 13"/>
          <p:cNvSpPr/>
          <p:nvPr/>
        </p:nvSpPr>
        <p:spPr>
          <a:xfrm>
            <a:off x="2834640" y="4379976"/>
            <a:ext cx="1463040" cy="777240"/>
          </a:xfrm>
          <a:prstGeom prst="rect">
            <a:avLst/>
          </a:prstGeom>
          <a:solidFill>
            <a:srgbClr val="12131A"/>
          </a:solidFill>
          <a:ln w="19050">
            <a:solidFill>
              <a:srgbClr val="B8412C"/>
            </a:solidFill>
            <a:prstDash val="solid"/>
          </a:ln>
        </p:spPr>
      </p:sp>
      <p:sp>
        <p:nvSpPr>
          <p:cNvPr id="16" name="Text 14"/>
          <p:cNvSpPr/>
          <p:nvPr/>
        </p:nvSpPr>
        <p:spPr>
          <a:xfrm>
            <a:off x="2834640" y="4453128"/>
            <a:ext cx="1463040" cy="292608"/>
          </a:xfrm>
          <a:prstGeom prst="rect">
            <a:avLst/>
          </a:prstGeom>
          <a:noFill/>
          <a:ln/>
        </p:spPr>
        <p:txBody>
          <a:bodyPr wrap="square" lIns="0" tIns="0" rIns="0" bIns="0" rtlCol="0" anchor="ctr"/>
          <a:lstStyle/>
          <a:p>
            <a:pPr algn="ctr" indent="0" marL="0">
              <a:buNone/>
            </a:pPr>
            <a:r>
              <a:rPr lang="en-US" sz="1600" b="1" dirty="0">
                <a:solidFill>
                  <a:srgbClr val="B8412C"/>
                </a:solidFill>
                <a:latin typeface="Georgia" pitchFamily="34" charset="0"/>
                <a:ea typeface="Georgia" pitchFamily="34" charset="-122"/>
                <a:cs typeface="Georgia" pitchFamily="34" charset="-120"/>
              </a:rPr>
              <a:t>VAULX POL  ·  —</a:t>
            </a:r>
            <a:endParaRPr lang="en-US" sz="1600" dirty="0"/>
          </a:p>
        </p:txBody>
      </p:sp>
      <p:sp>
        <p:nvSpPr>
          <p:cNvPr id="17" name="Text 15"/>
          <p:cNvSpPr/>
          <p:nvPr/>
        </p:nvSpPr>
        <p:spPr>
          <a:xfrm>
            <a:off x="2834640" y="4791456"/>
            <a:ext cx="1463040" cy="292608"/>
          </a:xfrm>
          <a:prstGeom prst="rect">
            <a:avLst/>
          </a:prstGeom>
          <a:noFill/>
          <a:ln/>
        </p:spPr>
        <p:txBody>
          <a:bodyPr wrap="square" lIns="0" tIns="0" rIns="0" bIns="0" rtlCol="0" anchor="ctr"/>
          <a:lstStyle/>
          <a:p>
            <a:pPr algn="ctr" indent="0" marL="0">
              <a:buNone/>
            </a:pPr>
            <a:r>
              <a:rPr lang="en-US" sz="1000" i="1" dirty="0">
                <a:solidFill>
                  <a:srgbClr val="C8C2B2"/>
                </a:solidFill>
                <a:latin typeface="Consolas" pitchFamily="34" charset="0"/>
                <a:ea typeface="Consolas" pitchFamily="34" charset="-122"/>
                <a:cs typeface="Consolas" pitchFamily="34" charset="-120"/>
              </a:rPr>
              <a:t>5% of every loan  ·  absorbs first 5% of any default</a:t>
            </a:r>
            <a:endParaRPr lang="en-US" sz="1000" dirty="0"/>
          </a:p>
        </p:txBody>
      </p:sp>
      <p:sp>
        <p:nvSpPr>
          <p:cNvPr id="18" name="Text 16"/>
          <p:cNvSpPr/>
          <p:nvPr/>
        </p:nvSpPr>
        <p:spPr>
          <a:xfrm>
            <a:off x="640080" y="5404104"/>
            <a:ext cx="5852160" cy="365760"/>
          </a:xfrm>
          <a:prstGeom prst="rect">
            <a:avLst/>
          </a:prstGeom>
          <a:noFill/>
          <a:ln/>
        </p:spPr>
        <p:txBody>
          <a:bodyPr wrap="square" lIns="0" tIns="0" rIns="0" bIns="0" rtlCol="0" anchor="ctr"/>
          <a:lstStyle/>
          <a:p>
            <a:pPr algn="ctr" indent="0" marL="0">
              <a:buNone/>
            </a:pPr>
            <a:r>
              <a:rPr lang="en-US" sz="1300" b="1" spc="300" kern="0" dirty="0">
                <a:solidFill>
                  <a:srgbClr val="C9A86A"/>
                </a:solidFill>
                <a:latin typeface="Georgia" pitchFamily="34" charset="0"/>
                <a:ea typeface="Georgia" pitchFamily="34" charset="-122"/>
                <a:cs typeface="Georgia" pitchFamily="34" charset="-120"/>
              </a:rPr>
              <a:t>LOSS WATERFALL  ·  </a:t>
            </a:r>
            <a:pPr algn="ctr" indent="0" marL="0">
              <a:buNone/>
            </a:pPr>
            <a:r>
              <a:rPr lang="en-US" sz="1300" i="1" dirty="0">
                <a:solidFill>
                  <a:srgbClr val="F5F0E8"/>
                </a:solidFill>
                <a:latin typeface="Georgia" pitchFamily="34" charset="0"/>
                <a:ea typeface="Georgia" pitchFamily="34" charset="-122"/>
                <a:cs typeface="Georgia" pitchFamily="34" charset="-120"/>
              </a:rPr>
              <a:t>Borrower equity  →  POL  →  Junior  →  Senior</a:t>
            </a:r>
            <a:endParaRPr lang="en-US" sz="1300" dirty="0"/>
          </a:p>
        </p:txBody>
      </p:sp>
      <p:sp>
        <p:nvSpPr>
          <p:cNvPr id="19" name="Text 17"/>
          <p:cNvSpPr/>
          <p:nvPr/>
        </p:nvSpPr>
        <p:spPr>
          <a:xfrm>
            <a:off x="640080" y="5815584"/>
            <a:ext cx="5852160" cy="274320"/>
          </a:xfrm>
          <a:prstGeom prst="rect">
            <a:avLst/>
          </a:prstGeom>
          <a:noFill/>
          <a:ln/>
        </p:spPr>
        <p:txBody>
          <a:bodyPr wrap="square" lIns="0" tIns="0" rIns="0" bIns="0" rtlCol="0" anchor="ctr"/>
          <a:lstStyle/>
          <a:p>
            <a:pPr algn="ctr" indent="0" marL="0">
              <a:buNone/>
            </a:pPr>
            <a:r>
              <a:rPr lang="en-US" sz="1000" i="1" dirty="0">
                <a:solidFill>
                  <a:srgbClr val="8A8A90"/>
                </a:solidFill>
                <a:latin typeface="Consolas" pitchFamily="34" charset="0"/>
                <a:ea typeface="Consolas" pitchFamily="34" charset="-122"/>
                <a:cs typeface="Consolas" pitchFamily="34" charset="-120"/>
              </a:rPr>
              <a:t>Senior beats Maple syrupUSDC (~7%) by 100 bps.</a:t>
            </a:r>
            <a:endParaRPr lang="en-US" sz="1000" dirty="0"/>
          </a:p>
        </p:txBody>
      </p:sp>
      <p:sp>
        <p:nvSpPr>
          <p:cNvPr id="20" name="Text 18"/>
          <p:cNvSpPr/>
          <p:nvPr/>
        </p:nvSpPr>
        <p:spPr>
          <a:xfrm>
            <a:off x="7040880" y="1965960"/>
            <a:ext cx="4510735" cy="274320"/>
          </a:xfrm>
          <a:prstGeom prst="rect">
            <a:avLst/>
          </a:prstGeom>
          <a:noFill/>
          <a:ln/>
        </p:spPr>
        <p:txBody>
          <a:bodyPr wrap="square" lIns="0" tIns="0" rIns="0" bIns="0" rtlCol="0" anchor="ctr"/>
          <a:lstStyle/>
          <a:p>
            <a:pPr indent="0" marL="0">
              <a:buNone/>
            </a:pPr>
            <a:r>
              <a:rPr lang="en-US" sz="1000" b="1" spc="400" kern="0" dirty="0">
                <a:solidFill>
                  <a:srgbClr val="0E7C7B"/>
                </a:solidFill>
                <a:latin typeface="Consolas" pitchFamily="34" charset="0"/>
                <a:ea typeface="Consolas" pitchFamily="34" charset="-122"/>
                <a:cs typeface="Consolas" pitchFamily="34" charset="-120"/>
              </a:rPr>
              <a:t>14-DAY DEFAULT PATH</a:t>
            </a:r>
            <a:endParaRPr lang="en-US" sz="1000" dirty="0"/>
          </a:p>
        </p:txBody>
      </p:sp>
      <p:sp>
        <p:nvSpPr>
          <p:cNvPr id="21" name="Shape 19"/>
          <p:cNvSpPr/>
          <p:nvPr/>
        </p:nvSpPr>
        <p:spPr>
          <a:xfrm>
            <a:off x="7040880" y="2286000"/>
            <a:ext cx="4510735" cy="0"/>
          </a:xfrm>
          <a:prstGeom prst="line">
            <a:avLst/>
          </a:prstGeom>
          <a:noFill/>
          <a:ln w="6350">
            <a:solidFill>
              <a:srgbClr val="1F1F25"/>
            </a:solidFill>
            <a:prstDash val="solid"/>
          </a:ln>
        </p:spPr>
      </p:sp>
      <p:sp>
        <p:nvSpPr>
          <p:cNvPr id="22" name="Shape 20"/>
          <p:cNvSpPr/>
          <p:nvPr/>
        </p:nvSpPr>
        <p:spPr>
          <a:xfrm>
            <a:off x="7315200" y="2770632"/>
            <a:ext cx="164592" cy="164592"/>
          </a:xfrm>
          <a:prstGeom prst="ellipse">
            <a:avLst/>
          </a:prstGeom>
          <a:solidFill>
            <a:srgbClr val="0E7C7B"/>
          </a:solidFill>
          <a:ln w="12700">
            <a:solidFill>
              <a:srgbClr val="0E7C7B"/>
            </a:solidFill>
            <a:prstDash val="solid"/>
          </a:ln>
        </p:spPr>
      </p:sp>
      <p:sp>
        <p:nvSpPr>
          <p:cNvPr id="23" name="Shape 21"/>
          <p:cNvSpPr/>
          <p:nvPr/>
        </p:nvSpPr>
        <p:spPr>
          <a:xfrm>
            <a:off x="7397496" y="2935224"/>
            <a:ext cx="0" cy="475488"/>
          </a:xfrm>
          <a:prstGeom prst="line">
            <a:avLst/>
          </a:prstGeom>
          <a:noFill/>
          <a:ln w="12700">
            <a:solidFill>
              <a:srgbClr val="0E7C7B"/>
            </a:solidFill>
            <a:prstDash val="solid"/>
          </a:ln>
        </p:spPr>
      </p:sp>
      <p:sp>
        <p:nvSpPr>
          <p:cNvPr id="24" name="Text 22"/>
          <p:cNvSpPr/>
          <p:nvPr/>
        </p:nvSpPr>
        <p:spPr>
          <a:xfrm>
            <a:off x="7589520" y="2606040"/>
            <a:ext cx="822960" cy="292608"/>
          </a:xfrm>
          <a:prstGeom prst="rect">
            <a:avLst/>
          </a:prstGeom>
          <a:noFill/>
          <a:ln/>
        </p:spPr>
        <p:txBody>
          <a:bodyPr wrap="square" lIns="0" tIns="0" rIns="0" bIns="0" rtlCol="0" anchor="ctr"/>
          <a:lstStyle/>
          <a:p>
            <a:pPr indent="0" marL="0">
              <a:buNone/>
            </a:pPr>
            <a:r>
              <a:rPr lang="en-US" sz="1200" b="1" dirty="0">
                <a:solidFill>
                  <a:srgbClr val="C9A86A"/>
                </a:solidFill>
                <a:latin typeface="Consolas" pitchFamily="34" charset="0"/>
                <a:ea typeface="Consolas" pitchFamily="34" charset="-122"/>
                <a:cs typeface="Consolas" pitchFamily="34" charset="-120"/>
              </a:rPr>
              <a:t>T+0</a:t>
            </a:r>
            <a:endParaRPr lang="en-US" sz="1200" dirty="0"/>
          </a:p>
        </p:txBody>
      </p:sp>
      <p:sp>
        <p:nvSpPr>
          <p:cNvPr id="25" name="Text 23"/>
          <p:cNvSpPr/>
          <p:nvPr/>
        </p:nvSpPr>
        <p:spPr>
          <a:xfrm>
            <a:off x="8412480" y="2606040"/>
            <a:ext cx="3047695" cy="292608"/>
          </a:xfrm>
          <a:prstGeom prst="rect">
            <a:avLst/>
          </a:prstGeom>
          <a:noFill/>
          <a:ln/>
        </p:spPr>
        <p:txBody>
          <a:bodyPr wrap="square" lIns="0" tIns="0" rIns="0" bIns="0" rtlCol="0" anchor="ctr"/>
          <a:lstStyle/>
          <a:p>
            <a:pPr indent="0" marL="0">
              <a:buNone/>
            </a:pPr>
            <a:r>
              <a:rPr lang="en-US" sz="1400" b="1" dirty="0">
                <a:solidFill>
                  <a:srgbClr val="F5F0E8"/>
                </a:solidFill>
                <a:latin typeface="Georgia" pitchFamily="34" charset="0"/>
                <a:ea typeface="Georgia" pitchFamily="34" charset="-122"/>
                <a:cs typeface="Georgia" pitchFamily="34" charset="-120"/>
              </a:rPr>
              <a:t>Margin call</a:t>
            </a:r>
            <a:endParaRPr lang="en-US" sz="1400" dirty="0"/>
          </a:p>
        </p:txBody>
      </p:sp>
      <p:sp>
        <p:nvSpPr>
          <p:cNvPr id="26" name="Text 24"/>
          <p:cNvSpPr/>
          <p:nvPr/>
        </p:nvSpPr>
        <p:spPr>
          <a:xfrm>
            <a:off x="8412480" y="2880360"/>
            <a:ext cx="3047695" cy="256032"/>
          </a:xfrm>
          <a:prstGeom prst="rect">
            <a:avLst/>
          </a:prstGeom>
          <a:noFill/>
          <a:ln/>
        </p:spPr>
        <p:txBody>
          <a:bodyPr wrap="square" lIns="0" tIns="0" rIns="0" bIns="0" rtlCol="0" anchor="ctr"/>
          <a:lstStyle/>
          <a:p>
            <a:pPr indent="0" marL="0">
              <a:buNone/>
            </a:pPr>
            <a:r>
              <a:rPr lang="en-US" sz="1000" i="1" dirty="0">
                <a:solidFill>
                  <a:srgbClr val="8A8A90"/>
                </a:solidFill>
                <a:latin typeface="Calibri" pitchFamily="34" charset="0"/>
                <a:ea typeface="Calibri" pitchFamily="34" charset="-122"/>
                <a:cs typeface="Calibri" pitchFamily="34" charset="-120"/>
              </a:rPr>
              <a:t>24h to top up</a:t>
            </a:r>
            <a:endParaRPr lang="en-US" sz="1000" dirty="0"/>
          </a:p>
        </p:txBody>
      </p:sp>
      <p:sp>
        <p:nvSpPr>
          <p:cNvPr id="27" name="Shape 25"/>
          <p:cNvSpPr/>
          <p:nvPr/>
        </p:nvSpPr>
        <p:spPr>
          <a:xfrm>
            <a:off x="7315200" y="3410712"/>
            <a:ext cx="164592" cy="164592"/>
          </a:xfrm>
          <a:prstGeom prst="ellipse">
            <a:avLst/>
          </a:prstGeom>
          <a:solidFill>
            <a:srgbClr val="0E7C7B"/>
          </a:solidFill>
          <a:ln w="12700">
            <a:solidFill>
              <a:srgbClr val="0E7C7B"/>
            </a:solidFill>
            <a:prstDash val="solid"/>
          </a:ln>
        </p:spPr>
      </p:sp>
      <p:sp>
        <p:nvSpPr>
          <p:cNvPr id="28" name="Shape 26"/>
          <p:cNvSpPr/>
          <p:nvPr/>
        </p:nvSpPr>
        <p:spPr>
          <a:xfrm>
            <a:off x="7397496" y="3575304"/>
            <a:ext cx="0" cy="475488"/>
          </a:xfrm>
          <a:prstGeom prst="line">
            <a:avLst/>
          </a:prstGeom>
          <a:noFill/>
          <a:ln w="12700">
            <a:solidFill>
              <a:srgbClr val="0E7C7B"/>
            </a:solidFill>
            <a:prstDash val="solid"/>
          </a:ln>
        </p:spPr>
      </p:sp>
      <p:sp>
        <p:nvSpPr>
          <p:cNvPr id="29" name="Text 27"/>
          <p:cNvSpPr/>
          <p:nvPr/>
        </p:nvSpPr>
        <p:spPr>
          <a:xfrm>
            <a:off x="7589520" y="3246120"/>
            <a:ext cx="822960" cy="292608"/>
          </a:xfrm>
          <a:prstGeom prst="rect">
            <a:avLst/>
          </a:prstGeom>
          <a:noFill/>
          <a:ln/>
        </p:spPr>
        <p:txBody>
          <a:bodyPr wrap="square" lIns="0" tIns="0" rIns="0" bIns="0" rtlCol="0" anchor="ctr"/>
          <a:lstStyle/>
          <a:p>
            <a:pPr indent="0" marL="0">
              <a:buNone/>
            </a:pPr>
            <a:r>
              <a:rPr lang="en-US" sz="1200" b="1" dirty="0">
                <a:solidFill>
                  <a:srgbClr val="C9A86A"/>
                </a:solidFill>
                <a:latin typeface="Consolas" pitchFamily="34" charset="0"/>
                <a:ea typeface="Consolas" pitchFamily="34" charset="-122"/>
                <a:cs typeface="Consolas" pitchFamily="34" charset="-120"/>
              </a:rPr>
              <a:t>T+1</a:t>
            </a:r>
            <a:endParaRPr lang="en-US" sz="1200" dirty="0"/>
          </a:p>
        </p:txBody>
      </p:sp>
      <p:sp>
        <p:nvSpPr>
          <p:cNvPr id="30" name="Text 28"/>
          <p:cNvSpPr/>
          <p:nvPr/>
        </p:nvSpPr>
        <p:spPr>
          <a:xfrm>
            <a:off x="8412480" y="3246120"/>
            <a:ext cx="3047695" cy="292608"/>
          </a:xfrm>
          <a:prstGeom prst="rect">
            <a:avLst/>
          </a:prstGeom>
          <a:noFill/>
          <a:ln/>
        </p:spPr>
        <p:txBody>
          <a:bodyPr wrap="square" lIns="0" tIns="0" rIns="0" bIns="0" rtlCol="0" anchor="ctr"/>
          <a:lstStyle/>
          <a:p>
            <a:pPr indent="0" marL="0">
              <a:buNone/>
            </a:pPr>
            <a:r>
              <a:rPr lang="en-US" sz="1400" b="1" dirty="0">
                <a:solidFill>
                  <a:srgbClr val="F5F0E8"/>
                </a:solidFill>
                <a:latin typeface="Georgia" pitchFamily="34" charset="0"/>
                <a:ea typeface="Georgia" pitchFamily="34" charset="-122"/>
                <a:cs typeface="Georgia" pitchFamily="34" charset="-120"/>
              </a:rPr>
              <a:t>Pool LPs</a:t>
            </a:r>
            <a:endParaRPr lang="en-US" sz="1400" dirty="0"/>
          </a:p>
        </p:txBody>
      </p:sp>
      <p:sp>
        <p:nvSpPr>
          <p:cNvPr id="31" name="Text 29"/>
          <p:cNvSpPr/>
          <p:nvPr/>
        </p:nvSpPr>
        <p:spPr>
          <a:xfrm>
            <a:off x="8412480" y="3520440"/>
            <a:ext cx="3047695" cy="256032"/>
          </a:xfrm>
          <a:prstGeom prst="rect">
            <a:avLst/>
          </a:prstGeom>
          <a:noFill/>
          <a:ln/>
        </p:spPr>
        <p:txBody>
          <a:bodyPr wrap="square" lIns="0" tIns="0" rIns="0" bIns="0" rtlCol="0" anchor="ctr"/>
          <a:lstStyle/>
          <a:p>
            <a:pPr indent="0" marL="0">
              <a:buNone/>
            </a:pPr>
            <a:r>
              <a:rPr lang="en-US" sz="1000" i="1" dirty="0">
                <a:solidFill>
                  <a:srgbClr val="8A8A90"/>
                </a:solidFill>
                <a:latin typeface="Calibri" pitchFamily="34" charset="0"/>
                <a:ea typeface="Calibri" pitchFamily="34" charset="-122"/>
                <a:cs typeface="Calibri" pitchFamily="34" charset="-120"/>
              </a:rPr>
              <a:t>last appraisal floor</a:t>
            </a:r>
            <a:endParaRPr lang="en-US" sz="1000" dirty="0"/>
          </a:p>
        </p:txBody>
      </p:sp>
      <p:sp>
        <p:nvSpPr>
          <p:cNvPr id="32" name="Shape 30"/>
          <p:cNvSpPr/>
          <p:nvPr/>
        </p:nvSpPr>
        <p:spPr>
          <a:xfrm>
            <a:off x="7315200" y="4050792"/>
            <a:ext cx="164592" cy="164592"/>
          </a:xfrm>
          <a:prstGeom prst="ellipse">
            <a:avLst/>
          </a:prstGeom>
          <a:solidFill>
            <a:srgbClr val="0E7C7B"/>
          </a:solidFill>
          <a:ln w="12700">
            <a:solidFill>
              <a:srgbClr val="0E7C7B"/>
            </a:solidFill>
            <a:prstDash val="solid"/>
          </a:ln>
        </p:spPr>
      </p:sp>
      <p:sp>
        <p:nvSpPr>
          <p:cNvPr id="33" name="Shape 31"/>
          <p:cNvSpPr/>
          <p:nvPr/>
        </p:nvSpPr>
        <p:spPr>
          <a:xfrm>
            <a:off x="7397496" y="4215384"/>
            <a:ext cx="0" cy="475488"/>
          </a:xfrm>
          <a:prstGeom prst="line">
            <a:avLst/>
          </a:prstGeom>
          <a:noFill/>
          <a:ln w="12700">
            <a:solidFill>
              <a:srgbClr val="0E7C7B"/>
            </a:solidFill>
            <a:prstDash val="solid"/>
          </a:ln>
        </p:spPr>
      </p:sp>
      <p:sp>
        <p:nvSpPr>
          <p:cNvPr id="34" name="Text 32"/>
          <p:cNvSpPr/>
          <p:nvPr/>
        </p:nvSpPr>
        <p:spPr>
          <a:xfrm>
            <a:off x="7589520" y="3886200"/>
            <a:ext cx="822960" cy="292608"/>
          </a:xfrm>
          <a:prstGeom prst="rect">
            <a:avLst/>
          </a:prstGeom>
          <a:noFill/>
          <a:ln/>
        </p:spPr>
        <p:txBody>
          <a:bodyPr wrap="square" lIns="0" tIns="0" rIns="0" bIns="0" rtlCol="0" anchor="ctr"/>
          <a:lstStyle/>
          <a:p>
            <a:pPr indent="0" marL="0">
              <a:buNone/>
            </a:pPr>
            <a:r>
              <a:rPr lang="en-US" sz="1200" b="1" dirty="0">
                <a:solidFill>
                  <a:srgbClr val="C9A86A"/>
                </a:solidFill>
                <a:latin typeface="Consolas" pitchFamily="34" charset="0"/>
                <a:ea typeface="Consolas" pitchFamily="34" charset="-122"/>
                <a:cs typeface="Consolas" pitchFamily="34" charset="-120"/>
              </a:rPr>
              <a:t>T+3</a:t>
            </a:r>
            <a:endParaRPr lang="en-US" sz="1200" dirty="0"/>
          </a:p>
        </p:txBody>
      </p:sp>
      <p:sp>
        <p:nvSpPr>
          <p:cNvPr id="35" name="Text 33"/>
          <p:cNvSpPr/>
          <p:nvPr/>
        </p:nvSpPr>
        <p:spPr>
          <a:xfrm>
            <a:off x="8412480" y="3886200"/>
            <a:ext cx="3047695" cy="292608"/>
          </a:xfrm>
          <a:prstGeom prst="rect">
            <a:avLst/>
          </a:prstGeom>
          <a:noFill/>
          <a:ln/>
        </p:spPr>
        <p:txBody>
          <a:bodyPr wrap="square" lIns="0" tIns="0" rIns="0" bIns="0" rtlCol="0" anchor="ctr"/>
          <a:lstStyle/>
          <a:p>
            <a:pPr indent="0" marL="0">
              <a:buNone/>
            </a:pPr>
            <a:r>
              <a:rPr lang="en-US" sz="1400" b="1" dirty="0">
                <a:solidFill>
                  <a:srgbClr val="F5F0E8"/>
                </a:solidFill>
                <a:latin typeface="Georgia" pitchFamily="34" charset="0"/>
                <a:ea typeface="Georgia" pitchFamily="34" charset="-122"/>
                <a:cs typeface="Georgia" pitchFamily="34" charset="-120"/>
              </a:rPr>
              <a:t>Resellers</a:t>
            </a:r>
            <a:endParaRPr lang="en-US" sz="1400" dirty="0"/>
          </a:p>
        </p:txBody>
      </p:sp>
      <p:sp>
        <p:nvSpPr>
          <p:cNvPr id="36" name="Text 34"/>
          <p:cNvSpPr/>
          <p:nvPr/>
        </p:nvSpPr>
        <p:spPr>
          <a:xfrm>
            <a:off x="8412480" y="4160520"/>
            <a:ext cx="3047695" cy="256032"/>
          </a:xfrm>
          <a:prstGeom prst="rect">
            <a:avLst/>
          </a:prstGeom>
          <a:noFill/>
          <a:ln/>
        </p:spPr>
        <p:txBody>
          <a:bodyPr wrap="square" lIns="0" tIns="0" rIns="0" bIns="0" rtlCol="0" anchor="ctr"/>
          <a:lstStyle/>
          <a:p>
            <a:pPr indent="0" marL="0">
              <a:buNone/>
            </a:pPr>
            <a:r>
              <a:rPr lang="en-US" sz="1000" i="1" dirty="0">
                <a:solidFill>
                  <a:srgbClr val="8A8A90"/>
                </a:solidFill>
                <a:latin typeface="Calibri" pitchFamily="34" charset="0"/>
                <a:ea typeface="Calibri" pitchFamily="34" charset="-122"/>
                <a:cs typeface="Calibri" pitchFamily="34" charset="-120"/>
              </a:rPr>
              <a:t>authorized network</a:t>
            </a:r>
            <a:endParaRPr lang="en-US" sz="1000" dirty="0"/>
          </a:p>
        </p:txBody>
      </p:sp>
      <p:sp>
        <p:nvSpPr>
          <p:cNvPr id="37" name="Shape 35"/>
          <p:cNvSpPr/>
          <p:nvPr/>
        </p:nvSpPr>
        <p:spPr>
          <a:xfrm>
            <a:off x="7315200" y="4690872"/>
            <a:ext cx="164592" cy="164592"/>
          </a:xfrm>
          <a:prstGeom prst="ellipse">
            <a:avLst/>
          </a:prstGeom>
          <a:solidFill>
            <a:srgbClr val="0E7C7B"/>
          </a:solidFill>
          <a:ln w="12700">
            <a:solidFill>
              <a:srgbClr val="0E7C7B"/>
            </a:solidFill>
            <a:prstDash val="solid"/>
          </a:ln>
        </p:spPr>
      </p:sp>
      <p:sp>
        <p:nvSpPr>
          <p:cNvPr id="38" name="Shape 36"/>
          <p:cNvSpPr/>
          <p:nvPr/>
        </p:nvSpPr>
        <p:spPr>
          <a:xfrm>
            <a:off x="7397496" y="4855464"/>
            <a:ext cx="0" cy="475488"/>
          </a:xfrm>
          <a:prstGeom prst="line">
            <a:avLst/>
          </a:prstGeom>
          <a:noFill/>
          <a:ln w="12700">
            <a:solidFill>
              <a:srgbClr val="0E7C7B"/>
            </a:solidFill>
            <a:prstDash val="solid"/>
          </a:ln>
        </p:spPr>
      </p:sp>
      <p:sp>
        <p:nvSpPr>
          <p:cNvPr id="39" name="Text 37"/>
          <p:cNvSpPr/>
          <p:nvPr/>
        </p:nvSpPr>
        <p:spPr>
          <a:xfrm>
            <a:off x="7589520" y="4526280"/>
            <a:ext cx="822960" cy="292608"/>
          </a:xfrm>
          <a:prstGeom prst="rect">
            <a:avLst/>
          </a:prstGeom>
          <a:noFill/>
          <a:ln/>
        </p:spPr>
        <p:txBody>
          <a:bodyPr wrap="square" lIns="0" tIns="0" rIns="0" bIns="0" rtlCol="0" anchor="ctr"/>
          <a:lstStyle/>
          <a:p>
            <a:pPr indent="0" marL="0">
              <a:buNone/>
            </a:pPr>
            <a:r>
              <a:rPr lang="en-US" sz="1200" b="1" dirty="0">
                <a:solidFill>
                  <a:srgbClr val="C9A86A"/>
                </a:solidFill>
                <a:latin typeface="Consolas" pitchFamily="34" charset="0"/>
                <a:ea typeface="Consolas" pitchFamily="34" charset="-122"/>
                <a:cs typeface="Consolas" pitchFamily="34" charset="-120"/>
              </a:rPr>
              <a:t>T+7</a:t>
            </a:r>
            <a:endParaRPr lang="en-US" sz="1200" dirty="0"/>
          </a:p>
        </p:txBody>
      </p:sp>
      <p:sp>
        <p:nvSpPr>
          <p:cNvPr id="40" name="Text 38"/>
          <p:cNvSpPr/>
          <p:nvPr/>
        </p:nvSpPr>
        <p:spPr>
          <a:xfrm>
            <a:off x="8412480" y="4526280"/>
            <a:ext cx="3047695" cy="292608"/>
          </a:xfrm>
          <a:prstGeom prst="rect">
            <a:avLst/>
          </a:prstGeom>
          <a:noFill/>
          <a:ln/>
        </p:spPr>
        <p:txBody>
          <a:bodyPr wrap="square" lIns="0" tIns="0" rIns="0" bIns="0" rtlCol="0" anchor="ctr"/>
          <a:lstStyle/>
          <a:p>
            <a:pPr indent="0" marL="0">
              <a:buNone/>
            </a:pPr>
            <a:r>
              <a:rPr lang="en-US" sz="1400" b="1" dirty="0">
                <a:solidFill>
                  <a:srgbClr val="F5F0E8"/>
                </a:solidFill>
                <a:latin typeface="Georgia" pitchFamily="34" charset="0"/>
                <a:ea typeface="Georgia" pitchFamily="34" charset="-122"/>
                <a:cs typeface="Georgia" pitchFamily="34" charset="-120"/>
              </a:rPr>
              <a:t>Open Dutch auction</a:t>
            </a:r>
            <a:endParaRPr lang="en-US" sz="1400" dirty="0"/>
          </a:p>
        </p:txBody>
      </p:sp>
      <p:sp>
        <p:nvSpPr>
          <p:cNvPr id="41" name="Text 39"/>
          <p:cNvSpPr/>
          <p:nvPr/>
        </p:nvSpPr>
        <p:spPr>
          <a:xfrm>
            <a:off x="8412480" y="4800600"/>
            <a:ext cx="3047695" cy="256032"/>
          </a:xfrm>
          <a:prstGeom prst="rect">
            <a:avLst/>
          </a:prstGeom>
          <a:noFill/>
          <a:ln/>
        </p:spPr>
        <p:txBody>
          <a:bodyPr wrap="square" lIns="0" tIns="0" rIns="0" bIns="0" rtlCol="0" anchor="ctr"/>
          <a:lstStyle/>
          <a:p>
            <a:pPr indent="0" marL="0">
              <a:buNone/>
            </a:pPr>
            <a:r>
              <a:rPr lang="en-US" sz="1000" i="1" dirty="0">
                <a:solidFill>
                  <a:srgbClr val="8A8A90"/>
                </a:solidFill>
                <a:latin typeface="Calibri" pitchFamily="34" charset="0"/>
                <a:ea typeface="Calibri" pitchFamily="34" charset="-122"/>
                <a:cs typeface="Calibri" pitchFamily="34" charset="-120"/>
              </a:rPr>
              <a:t>onchain decay</a:t>
            </a:r>
            <a:endParaRPr lang="en-US" sz="1000" dirty="0"/>
          </a:p>
        </p:txBody>
      </p:sp>
      <p:sp>
        <p:nvSpPr>
          <p:cNvPr id="42" name="Shape 40"/>
          <p:cNvSpPr/>
          <p:nvPr/>
        </p:nvSpPr>
        <p:spPr>
          <a:xfrm>
            <a:off x="7315200" y="5330952"/>
            <a:ext cx="164592" cy="164592"/>
          </a:xfrm>
          <a:prstGeom prst="ellipse">
            <a:avLst/>
          </a:prstGeom>
          <a:solidFill>
            <a:srgbClr val="0E7C7B"/>
          </a:solidFill>
          <a:ln w="12700">
            <a:solidFill>
              <a:srgbClr val="0E7C7B"/>
            </a:solidFill>
            <a:prstDash val="solid"/>
          </a:ln>
        </p:spPr>
      </p:sp>
      <p:sp>
        <p:nvSpPr>
          <p:cNvPr id="43" name="Text 41"/>
          <p:cNvSpPr/>
          <p:nvPr/>
        </p:nvSpPr>
        <p:spPr>
          <a:xfrm>
            <a:off x="7589520" y="5166360"/>
            <a:ext cx="822960" cy="292608"/>
          </a:xfrm>
          <a:prstGeom prst="rect">
            <a:avLst/>
          </a:prstGeom>
          <a:noFill/>
          <a:ln/>
        </p:spPr>
        <p:txBody>
          <a:bodyPr wrap="square" lIns="0" tIns="0" rIns="0" bIns="0" rtlCol="0" anchor="ctr"/>
          <a:lstStyle/>
          <a:p>
            <a:pPr indent="0" marL="0">
              <a:buNone/>
            </a:pPr>
            <a:r>
              <a:rPr lang="en-US" sz="1200" b="1" dirty="0">
                <a:solidFill>
                  <a:srgbClr val="C9A86A"/>
                </a:solidFill>
                <a:latin typeface="Consolas" pitchFamily="34" charset="0"/>
                <a:ea typeface="Consolas" pitchFamily="34" charset="-122"/>
                <a:cs typeface="Consolas" pitchFamily="34" charset="-120"/>
              </a:rPr>
              <a:t>T+14</a:t>
            </a:r>
            <a:endParaRPr lang="en-US" sz="1200" dirty="0"/>
          </a:p>
        </p:txBody>
      </p:sp>
      <p:sp>
        <p:nvSpPr>
          <p:cNvPr id="44" name="Text 42"/>
          <p:cNvSpPr/>
          <p:nvPr/>
        </p:nvSpPr>
        <p:spPr>
          <a:xfrm>
            <a:off x="8412480" y="5166360"/>
            <a:ext cx="3047695" cy="292608"/>
          </a:xfrm>
          <a:prstGeom prst="rect">
            <a:avLst/>
          </a:prstGeom>
          <a:noFill/>
          <a:ln/>
        </p:spPr>
        <p:txBody>
          <a:bodyPr wrap="square" lIns="0" tIns="0" rIns="0" bIns="0" rtlCol="0" anchor="ctr"/>
          <a:lstStyle/>
          <a:p>
            <a:pPr indent="0" marL="0">
              <a:buNone/>
            </a:pPr>
            <a:r>
              <a:rPr lang="en-US" sz="1400" b="1" dirty="0">
                <a:solidFill>
                  <a:srgbClr val="F5F0E8"/>
                </a:solidFill>
                <a:latin typeface="Georgia" pitchFamily="34" charset="0"/>
                <a:ea typeface="Georgia" pitchFamily="34" charset="-122"/>
                <a:cs typeface="Georgia" pitchFamily="34" charset="-120"/>
              </a:rPr>
              <a:t>Offline backstop</a:t>
            </a:r>
            <a:endParaRPr lang="en-US" sz="1400" dirty="0"/>
          </a:p>
        </p:txBody>
      </p:sp>
      <p:sp>
        <p:nvSpPr>
          <p:cNvPr id="45" name="Text 43"/>
          <p:cNvSpPr/>
          <p:nvPr/>
        </p:nvSpPr>
        <p:spPr>
          <a:xfrm>
            <a:off x="8412480" y="5440680"/>
            <a:ext cx="3047695" cy="256032"/>
          </a:xfrm>
          <a:prstGeom prst="rect">
            <a:avLst/>
          </a:prstGeom>
          <a:noFill/>
          <a:ln/>
        </p:spPr>
        <p:txBody>
          <a:bodyPr wrap="square" lIns="0" tIns="0" rIns="0" bIns="0" rtlCol="0" anchor="ctr"/>
          <a:lstStyle/>
          <a:p>
            <a:pPr indent="0" marL="0">
              <a:buNone/>
            </a:pPr>
            <a:r>
              <a:rPr lang="en-US" sz="1000" i="1" dirty="0">
                <a:solidFill>
                  <a:srgbClr val="8A8A90"/>
                </a:solidFill>
                <a:latin typeface="Calibri" pitchFamily="34" charset="0"/>
                <a:ea typeface="Calibri" pitchFamily="34" charset="-122"/>
                <a:cs typeface="Calibri" pitchFamily="34" charset="-120"/>
              </a:rPr>
              <a:t>70% reserve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a:ln/>
        </p:spPr>
        <p:txBody>
          <a:bodyPr wrap="square" lIns="0" tIns="0" rIns="0" bIns="0" rtlCol="0" anchor="ctr"/>
          <a:lstStyle/>
          <a:p>
            <a:pPr indent="0" marL="0">
              <a:buNone/>
            </a:pPr>
            <a:r>
              <a:rPr lang="en-US" sz="950" b="1" spc="400" kern="0" dirty="0">
                <a:solidFill>
                  <a:srgbClr val="0E7C7B"/>
                </a:solidFill>
                <a:latin typeface="Consolas" pitchFamily="34" charset="0"/>
                <a:ea typeface="Consolas" pitchFamily="34" charset="-122"/>
                <a:cs typeface="Consolas" pitchFamily="34" charset="-120"/>
              </a:rPr>
              <a:t>06  /  TAM  ·  DISTRIBUTION</a:t>
            </a:r>
            <a:endParaRPr lang="en-US" sz="950" dirty="0"/>
          </a:p>
        </p:txBody>
      </p:sp>
      <p:sp>
        <p:nvSpPr>
          <p:cNvPr id="4" name="Text 2"/>
          <p:cNvSpPr/>
          <p:nvPr/>
        </p:nvSpPr>
        <p:spPr>
          <a:xfrm>
            <a:off x="10911535" y="274320"/>
            <a:ext cx="914400" cy="228600"/>
          </a:xfrm>
          <a:prstGeom prst="rect">
            <a:avLst/>
          </a:prstGeom>
          <a:noFill/>
          <a:ln/>
        </p:spPr>
        <p:txBody>
          <a:bodyPr wrap="square" lIns="0" tIns="0" rIns="0" bIns="0" rtlCol="0" anchor="ctr"/>
          <a:lstStyle/>
          <a:p>
            <a:pPr algn="r" indent="0" marL="0">
              <a:buNone/>
            </a:pPr>
            <a:r>
              <a:rPr lang="en-US" sz="900" spc="300" kern="0" dirty="0">
                <a:solidFill>
                  <a:srgbClr val="8A8A90"/>
                </a:solidFill>
                <a:latin typeface="Consolas" pitchFamily="34" charset="0"/>
                <a:ea typeface="Consolas" pitchFamily="34" charset="-122"/>
                <a:cs typeface="Consolas" pitchFamily="34" charset="-120"/>
              </a:rPr>
              <a:t>06 / 09</a:t>
            </a:r>
            <a:endParaRPr lang="en-US" sz="900" dirty="0"/>
          </a:p>
        </p:txBody>
      </p:sp>
      <p:sp>
        <p:nvSpPr>
          <p:cNvPr id="5" name="Text 3"/>
          <p:cNvSpPr/>
          <p:nvPr/>
        </p:nvSpPr>
        <p:spPr>
          <a:xfrm>
            <a:off x="640080" y="777240"/>
            <a:ext cx="10911535" cy="777240"/>
          </a:xfrm>
          <a:prstGeom prst="rect">
            <a:avLst/>
          </a:prstGeom>
          <a:noFill/>
          <a:ln/>
        </p:spPr>
        <p:txBody>
          <a:bodyPr wrap="square" lIns="0" tIns="0" rIns="0" bIns="0" rtlCol="0" anchor="ctr"/>
          <a:lstStyle/>
          <a:p>
            <a:pPr indent="0" marL="0">
              <a:buNone/>
            </a:pPr>
            <a:r>
              <a:rPr lang="en-US" sz="3200" b="1" dirty="0">
                <a:solidFill>
                  <a:srgbClr val="F5F0E8"/>
                </a:solidFill>
                <a:latin typeface="Georgia" pitchFamily="34" charset="0"/>
                <a:ea typeface="Georgia" pitchFamily="34" charset="-122"/>
                <a:cs typeface="Georgia" pitchFamily="34" charset="-120"/>
              </a:rPr>
              <a:t>Built to scale. Distribution is built-in.</a:t>
            </a:r>
            <a:endParaRPr lang="en-US" sz="3200" dirty="0"/>
          </a:p>
        </p:txBody>
      </p:sp>
      <p:sp>
        <p:nvSpPr>
          <p:cNvPr id="6" name="Shape 4"/>
          <p:cNvSpPr/>
          <p:nvPr/>
        </p:nvSpPr>
        <p:spPr>
          <a:xfrm>
            <a:off x="640080" y="1691640"/>
            <a:ext cx="914400" cy="0"/>
          </a:xfrm>
          <a:prstGeom prst="line">
            <a:avLst/>
          </a:prstGeom>
          <a:noFill/>
          <a:ln w="15240">
            <a:solidFill>
              <a:srgbClr val="0E7C7B"/>
            </a:solidFill>
            <a:prstDash val="solid"/>
          </a:ln>
        </p:spPr>
      </p:sp>
      <p:sp>
        <p:nvSpPr>
          <p:cNvPr id="7" name="Text 5"/>
          <p:cNvSpPr/>
          <p:nvPr/>
        </p:nvSpPr>
        <p:spPr>
          <a:xfrm>
            <a:off x="640080" y="1965960"/>
            <a:ext cx="5486400" cy="274320"/>
          </a:xfrm>
          <a:prstGeom prst="rect">
            <a:avLst/>
          </a:prstGeom>
          <a:noFill/>
          <a:ln/>
        </p:spPr>
        <p:txBody>
          <a:bodyPr wrap="square" lIns="0" tIns="0" rIns="0" bIns="0" rtlCol="0" anchor="ctr"/>
          <a:lstStyle/>
          <a:p>
            <a:pPr indent="0" marL="0">
              <a:buNone/>
            </a:pPr>
            <a:r>
              <a:rPr lang="en-US" sz="1000" b="1" spc="400" kern="0" dirty="0">
                <a:solidFill>
                  <a:srgbClr val="0E7C7B"/>
                </a:solidFill>
                <a:latin typeface="Consolas" pitchFamily="34" charset="0"/>
                <a:ea typeface="Consolas" pitchFamily="34" charset="-122"/>
                <a:cs typeface="Consolas" pitchFamily="34" charset="-120"/>
              </a:rPr>
              <a:t>ADDRESSABLE MARKET</a:t>
            </a:r>
            <a:endParaRPr lang="en-US" sz="1000" dirty="0"/>
          </a:p>
        </p:txBody>
      </p:sp>
      <p:sp>
        <p:nvSpPr>
          <p:cNvPr id="8" name="Shape 6"/>
          <p:cNvSpPr/>
          <p:nvPr/>
        </p:nvSpPr>
        <p:spPr>
          <a:xfrm>
            <a:off x="640080" y="2286000"/>
            <a:ext cx="5486400" cy="0"/>
          </a:xfrm>
          <a:prstGeom prst="line">
            <a:avLst/>
          </a:prstGeom>
          <a:noFill/>
          <a:ln w="6350">
            <a:solidFill>
              <a:srgbClr val="1F1F25"/>
            </a:solidFill>
            <a:prstDash val="solid"/>
          </a:ln>
        </p:spPr>
      </p:sp>
      <p:sp>
        <p:nvSpPr>
          <p:cNvPr id="9" name="Shape 7"/>
          <p:cNvSpPr/>
          <p:nvPr/>
        </p:nvSpPr>
        <p:spPr>
          <a:xfrm>
            <a:off x="1097280" y="2606040"/>
            <a:ext cx="4572000" cy="1051560"/>
          </a:xfrm>
          <a:prstGeom prst="rect">
            <a:avLst/>
          </a:prstGeom>
          <a:solidFill>
            <a:srgbClr val="0E7C7B"/>
          </a:solidFill>
          <a:ln w="12700">
            <a:solidFill>
              <a:srgbClr val="0E7C7B"/>
            </a:solidFill>
            <a:prstDash val="solid"/>
          </a:ln>
        </p:spPr>
      </p:sp>
      <p:sp>
        <p:nvSpPr>
          <p:cNvPr id="10" name="Text 8"/>
          <p:cNvSpPr/>
          <p:nvPr/>
        </p:nvSpPr>
        <p:spPr>
          <a:xfrm>
            <a:off x="1097280" y="2697480"/>
            <a:ext cx="4572000" cy="457200"/>
          </a:xfrm>
          <a:prstGeom prst="rect">
            <a:avLst/>
          </a:prstGeom>
          <a:noFill/>
          <a:ln/>
        </p:spPr>
        <p:txBody>
          <a:bodyPr wrap="square" lIns="0" tIns="0" rIns="0" bIns="0" rtlCol="0" anchor="ctr"/>
          <a:lstStyle/>
          <a:p>
            <a:pPr algn="ctr" indent="0" marL="0">
              <a:buNone/>
            </a:pPr>
            <a:r>
              <a:rPr lang="en-US" sz="2800" b="1" dirty="0">
                <a:solidFill>
                  <a:srgbClr val="0A0A0B"/>
                </a:solidFill>
                <a:latin typeface="Georgia" pitchFamily="34" charset="0"/>
                <a:ea typeface="Georgia" pitchFamily="34" charset="-122"/>
                <a:cs typeface="Georgia" pitchFamily="34" charset="-120"/>
              </a:rPr>
              <a:t>$90B</a:t>
            </a:r>
            <a:endParaRPr lang="en-US" sz="2800" dirty="0"/>
          </a:p>
        </p:txBody>
      </p:sp>
      <p:sp>
        <p:nvSpPr>
          <p:cNvPr id="11" name="Text 9"/>
          <p:cNvSpPr/>
          <p:nvPr/>
        </p:nvSpPr>
        <p:spPr>
          <a:xfrm>
            <a:off x="1097280" y="3108960"/>
            <a:ext cx="4572000" cy="292608"/>
          </a:xfrm>
          <a:prstGeom prst="rect">
            <a:avLst/>
          </a:prstGeom>
          <a:noFill/>
          <a:ln/>
        </p:spPr>
        <p:txBody>
          <a:bodyPr wrap="square" lIns="0" tIns="0" rIns="0" bIns="0" rtlCol="0" anchor="ctr"/>
          <a:lstStyle/>
          <a:p>
            <a:pPr algn="ctr" indent="0" marL="0">
              <a:buNone/>
            </a:pPr>
            <a:r>
              <a:rPr lang="en-US" sz="1000" b="1" spc="200" kern="0" dirty="0">
                <a:solidFill>
                  <a:srgbClr val="0A0A0B"/>
                </a:solidFill>
                <a:latin typeface="Consolas" pitchFamily="34" charset="0"/>
                <a:ea typeface="Consolas" pitchFamily="34" charset="-122"/>
                <a:cs typeface="Consolas" pitchFamily="34" charset="-120"/>
              </a:rPr>
              <a:t>Watches in private hands</a:t>
            </a:r>
            <a:endParaRPr lang="en-US" sz="1000" dirty="0"/>
          </a:p>
        </p:txBody>
      </p:sp>
      <p:sp>
        <p:nvSpPr>
          <p:cNvPr id="12" name="Text 10"/>
          <p:cNvSpPr/>
          <p:nvPr/>
        </p:nvSpPr>
        <p:spPr>
          <a:xfrm>
            <a:off x="1097280" y="3383280"/>
            <a:ext cx="4572000" cy="228600"/>
          </a:xfrm>
          <a:prstGeom prst="rect">
            <a:avLst/>
          </a:prstGeom>
          <a:noFill/>
          <a:ln/>
        </p:spPr>
        <p:txBody>
          <a:bodyPr wrap="square" lIns="0" tIns="0" rIns="0" bIns="0" rtlCol="0" anchor="ctr"/>
          <a:lstStyle/>
          <a:p>
            <a:pPr algn="ctr" indent="0" marL="0">
              <a:buNone/>
            </a:pPr>
            <a:r>
              <a:rPr lang="en-US" sz="950" i="1" dirty="0">
                <a:solidFill>
                  <a:srgbClr val="0A0A0B"/>
                </a:solidFill>
                <a:latin typeface="Calibri" pitchFamily="34" charset="0"/>
                <a:ea typeface="Calibri" pitchFamily="34" charset="-122"/>
                <a:cs typeface="Calibri" pitchFamily="34" charset="-120"/>
              </a:rPr>
              <a:t>high-credit-cost markets</a:t>
            </a:r>
            <a:endParaRPr lang="en-US" sz="950" dirty="0"/>
          </a:p>
        </p:txBody>
      </p:sp>
      <p:sp>
        <p:nvSpPr>
          <p:cNvPr id="13" name="Shape 11"/>
          <p:cNvSpPr/>
          <p:nvPr/>
        </p:nvSpPr>
        <p:spPr>
          <a:xfrm>
            <a:off x="1737360" y="3703320"/>
            <a:ext cx="3291840" cy="1051560"/>
          </a:xfrm>
          <a:prstGeom prst="rect">
            <a:avLst/>
          </a:prstGeom>
          <a:solidFill>
            <a:srgbClr val="1A9C9A"/>
          </a:solidFill>
          <a:ln w="12700">
            <a:solidFill>
              <a:srgbClr val="1A9C9A"/>
            </a:solidFill>
            <a:prstDash val="solid"/>
          </a:ln>
        </p:spPr>
      </p:sp>
      <p:sp>
        <p:nvSpPr>
          <p:cNvPr id="14" name="Text 12"/>
          <p:cNvSpPr/>
          <p:nvPr/>
        </p:nvSpPr>
        <p:spPr>
          <a:xfrm>
            <a:off x="1737360" y="3794760"/>
            <a:ext cx="3291840" cy="457200"/>
          </a:xfrm>
          <a:prstGeom prst="rect">
            <a:avLst/>
          </a:prstGeom>
          <a:noFill/>
          <a:ln/>
        </p:spPr>
        <p:txBody>
          <a:bodyPr wrap="square" lIns="0" tIns="0" rIns="0" bIns="0" rtlCol="0" anchor="ctr"/>
          <a:lstStyle/>
          <a:p>
            <a:pPr algn="ctr" indent="0" marL="0">
              <a:buNone/>
            </a:pPr>
            <a:r>
              <a:rPr lang="en-US" sz="2800" b="1" dirty="0">
                <a:solidFill>
                  <a:srgbClr val="0A0A0B"/>
                </a:solidFill>
                <a:latin typeface="Georgia" pitchFamily="34" charset="0"/>
                <a:ea typeface="Georgia" pitchFamily="34" charset="-122"/>
                <a:cs typeface="Georgia" pitchFamily="34" charset="-120"/>
              </a:rPr>
              <a:t>$20B</a:t>
            </a:r>
            <a:endParaRPr lang="en-US" sz="2800" dirty="0"/>
          </a:p>
        </p:txBody>
      </p:sp>
      <p:sp>
        <p:nvSpPr>
          <p:cNvPr id="15" name="Text 13"/>
          <p:cNvSpPr/>
          <p:nvPr/>
        </p:nvSpPr>
        <p:spPr>
          <a:xfrm>
            <a:off x="1737360" y="4206240"/>
            <a:ext cx="3291840" cy="292608"/>
          </a:xfrm>
          <a:prstGeom prst="rect">
            <a:avLst/>
          </a:prstGeom>
          <a:noFill/>
          <a:ln/>
        </p:spPr>
        <p:txBody>
          <a:bodyPr wrap="square" lIns="0" tIns="0" rIns="0" bIns="0" rtlCol="0" anchor="ctr"/>
          <a:lstStyle/>
          <a:p>
            <a:pPr algn="ctr" indent="0" marL="0">
              <a:buNone/>
            </a:pPr>
            <a:r>
              <a:rPr lang="en-US" sz="1000" b="1" spc="200" kern="0" dirty="0">
                <a:solidFill>
                  <a:srgbClr val="0A0A0B"/>
                </a:solidFill>
                <a:latin typeface="Consolas" pitchFamily="34" charset="0"/>
                <a:ea typeface="Consolas" pitchFamily="34" charset="-122"/>
                <a:cs typeface="Consolas" pitchFamily="34" charset="-120"/>
              </a:rPr>
              <a:t>Realistically addressable</a:t>
            </a:r>
            <a:endParaRPr lang="en-US" sz="1000" dirty="0"/>
          </a:p>
        </p:txBody>
      </p:sp>
      <p:sp>
        <p:nvSpPr>
          <p:cNvPr id="16" name="Text 14"/>
          <p:cNvSpPr/>
          <p:nvPr/>
        </p:nvSpPr>
        <p:spPr>
          <a:xfrm>
            <a:off x="1737360" y="4480560"/>
            <a:ext cx="3291840" cy="228600"/>
          </a:xfrm>
          <a:prstGeom prst="rect">
            <a:avLst/>
          </a:prstGeom>
          <a:noFill/>
          <a:ln/>
        </p:spPr>
        <p:txBody>
          <a:bodyPr wrap="square" lIns="0" tIns="0" rIns="0" bIns="0" rtlCol="0" anchor="ctr"/>
          <a:lstStyle/>
          <a:p>
            <a:pPr algn="ctr" indent="0" marL="0">
              <a:buNone/>
            </a:pPr>
            <a:r>
              <a:rPr lang="en-US" sz="950" i="1" dirty="0">
                <a:solidFill>
                  <a:srgbClr val="0A0A0B"/>
                </a:solidFill>
                <a:latin typeface="Calibri" pitchFamily="34" charset="0"/>
                <a:ea typeface="Calibri" pitchFamily="34" charset="-122"/>
                <a:cs typeface="Calibri" pitchFamily="34" charset="-120"/>
              </a:rPr>
              <a:t>5-yr horizon</a:t>
            </a:r>
            <a:endParaRPr lang="en-US" sz="950" dirty="0"/>
          </a:p>
        </p:txBody>
      </p:sp>
      <p:sp>
        <p:nvSpPr>
          <p:cNvPr id="17" name="Shape 15"/>
          <p:cNvSpPr/>
          <p:nvPr/>
        </p:nvSpPr>
        <p:spPr>
          <a:xfrm>
            <a:off x="2377440" y="4800600"/>
            <a:ext cx="2011680" cy="1051560"/>
          </a:xfrm>
          <a:prstGeom prst="rect">
            <a:avLst/>
          </a:prstGeom>
          <a:solidFill>
            <a:srgbClr val="C9A86A"/>
          </a:solidFill>
          <a:ln w="12700">
            <a:solidFill>
              <a:srgbClr val="C9A86A"/>
            </a:solidFill>
            <a:prstDash val="solid"/>
          </a:ln>
        </p:spPr>
      </p:sp>
      <p:sp>
        <p:nvSpPr>
          <p:cNvPr id="18" name="Text 16"/>
          <p:cNvSpPr/>
          <p:nvPr/>
        </p:nvSpPr>
        <p:spPr>
          <a:xfrm>
            <a:off x="2377440" y="4892040"/>
            <a:ext cx="2011680" cy="457200"/>
          </a:xfrm>
          <a:prstGeom prst="rect">
            <a:avLst/>
          </a:prstGeom>
          <a:noFill/>
          <a:ln/>
        </p:spPr>
        <p:txBody>
          <a:bodyPr wrap="square" lIns="0" tIns="0" rIns="0" bIns="0" rtlCol="0" anchor="ctr"/>
          <a:lstStyle/>
          <a:p>
            <a:pPr algn="ctr" indent="0" marL="0">
              <a:buNone/>
            </a:pPr>
            <a:r>
              <a:rPr lang="en-US" sz="2800" b="1" dirty="0">
                <a:solidFill>
                  <a:srgbClr val="0A0A0B"/>
                </a:solidFill>
                <a:latin typeface="Georgia" pitchFamily="34" charset="0"/>
                <a:ea typeface="Georgia" pitchFamily="34" charset="-122"/>
                <a:cs typeface="Georgia" pitchFamily="34" charset="-120"/>
              </a:rPr>
              <a:t>$1–3B</a:t>
            </a:r>
            <a:endParaRPr lang="en-US" sz="2800" dirty="0"/>
          </a:p>
        </p:txBody>
      </p:sp>
      <p:sp>
        <p:nvSpPr>
          <p:cNvPr id="19" name="Text 17"/>
          <p:cNvSpPr/>
          <p:nvPr/>
        </p:nvSpPr>
        <p:spPr>
          <a:xfrm>
            <a:off x="2377440" y="5303520"/>
            <a:ext cx="2011680" cy="292608"/>
          </a:xfrm>
          <a:prstGeom prst="rect">
            <a:avLst/>
          </a:prstGeom>
          <a:noFill/>
          <a:ln/>
        </p:spPr>
        <p:txBody>
          <a:bodyPr wrap="square" lIns="0" tIns="0" rIns="0" bIns="0" rtlCol="0" anchor="ctr"/>
          <a:lstStyle/>
          <a:p>
            <a:pPr algn="ctr" indent="0" marL="0">
              <a:buNone/>
            </a:pPr>
            <a:r>
              <a:rPr lang="en-US" sz="1000" b="1" spc="200" kern="0" dirty="0">
                <a:solidFill>
                  <a:srgbClr val="0A0A0B"/>
                </a:solidFill>
                <a:latin typeface="Consolas" pitchFamily="34" charset="0"/>
                <a:ea typeface="Consolas" pitchFamily="34" charset="-122"/>
                <a:cs typeface="Consolas" pitchFamily="34" charset="-120"/>
              </a:rPr>
              <a:t>Year-5 origination target</a:t>
            </a:r>
            <a:endParaRPr lang="en-US" sz="1000" dirty="0"/>
          </a:p>
        </p:txBody>
      </p:sp>
      <p:sp>
        <p:nvSpPr>
          <p:cNvPr id="20" name="Text 18"/>
          <p:cNvSpPr/>
          <p:nvPr/>
        </p:nvSpPr>
        <p:spPr>
          <a:xfrm>
            <a:off x="2377440" y="5577840"/>
            <a:ext cx="2011680" cy="228600"/>
          </a:xfrm>
          <a:prstGeom prst="rect">
            <a:avLst/>
          </a:prstGeom>
          <a:noFill/>
          <a:ln/>
        </p:spPr>
        <p:txBody>
          <a:bodyPr wrap="square" lIns="0" tIns="0" rIns="0" bIns="0" rtlCol="0" anchor="ctr"/>
          <a:lstStyle/>
          <a:p>
            <a:pPr algn="ctr" indent="0" marL="0">
              <a:buNone/>
            </a:pPr>
            <a:r>
              <a:rPr lang="en-US" sz="950" i="1" dirty="0">
                <a:solidFill>
                  <a:srgbClr val="0A0A0B"/>
                </a:solidFill>
                <a:latin typeface="Calibri" pitchFamily="34" charset="0"/>
                <a:ea typeface="Calibri" pitchFamily="34" charset="-122"/>
                <a:cs typeface="Calibri" pitchFamily="34" charset="-120"/>
              </a:rPr>
              <a:t>1–5% capture of pool</a:t>
            </a:r>
            <a:endParaRPr lang="en-US" sz="950" dirty="0"/>
          </a:p>
        </p:txBody>
      </p:sp>
      <p:sp>
        <p:nvSpPr>
          <p:cNvPr id="21" name="Text 19"/>
          <p:cNvSpPr/>
          <p:nvPr/>
        </p:nvSpPr>
        <p:spPr>
          <a:xfrm>
            <a:off x="6583680" y="1965960"/>
            <a:ext cx="4967935" cy="274320"/>
          </a:xfrm>
          <a:prstGeom prst="rect">
            <a:avLst/>
          </a:prstGeom>
          <a:noFill/>
          <a:ln/>
        </p:spPr>
        <p:txBody>
          <a:bodyPr wrap="square" lIns="0" tIns="0" rIns="0" bIns="0" rtlCol="0" anchor="ctr"/>
          <a:lstStyle/>
          <a:p>
            <a:pPr indent="0" marL="0">
              <a:buNone/>
            </a:pPr>
            <a:r>
              <a:rPr lang="en-US" sz="1000" b="1" spc="400" kern="0" dirty="0">
                <a:solidFill>
                  <a:srgbClr val="0E7C7B"/>
                </a:solidFill>
                <a:latin typeface="Consolas" pitchFamily="34" charset="0"/>
                <a:ea typeface="Consolas" pitchFamily="34" charset="-122"/>
                <a:cs typeface="Consolas" pitchFamily="34" charset="-120"/>
              </a:rPr>
              <a:t>PROPRIETARY DISTRIBUTION</a:t>
            </a:r>
            <a:endParaRPr lang="en-US" sz="1000" dirty="0"/>
          </a:p>
        </p:txBody>
      </p:sp>
      <p:sp>
        <p:nvSpPr>
          <p:cNvPr id="22" name="Shape 20"/>
          <p:cNvSpPr/>
          <p:nvPr/>
        </p:nvSpPr>
        <p:spPr>
          <a:xfrm>
            <a:off x="6583680" y="2286000"/>
            <a:ext cx="4967935" cy="0"/>
          </a:xfrm>
          <a:prstGeom prst="line">
            <a:avLst/>
          </a:prstGeom>
          <a:noFill/>
          <a:ln w="6350">
            <a:solidFill>
              <a:srgbClr val="1F1F25"/>
            </a:solidFill>
            <a:prstDash val="solid"/>
          </a:ln>
        </p:spPr>
      </p:sp>
      <p:sp>
        <p:nvSpPr>
          <p:cNvPr id="23" name="Shape 21"/>
          <p:cNvSpPr/>
          <p:nvPr/>
        </p:nvSpPr>
        <p:spPr>
          <a:xfrm>
            <a:off x="6583680" y="2606040"/>
            <a:ext cx="4967935" cy="1143000"/>
          </a:xfrm>
          <a:prstGeom prst="rect">
            <a:avLst/>
          </a:prstGeom>
          <a:solidFill>
            <a:srgbClr val="12131A"/>
          </a:solidFill>
          <a:ln w="9525">
            <a:solidFill>
              <a:srgbClr val="0E7C7B"/>
            </a:solidFill>
            <a:prstDash val="solid"/>
          </a:ln>
        </p:spPr>
      </p:sp>
      <p:pic>
        <p:nvPicPr>
          <p:cNvPr id="24" name="Image 0" descr="preencoded.png">    </p:cNvPr>
          <p:cNvPicPr>
            <a:picLocks noChangeAspect="1"/>
          </p:cNvPicPr>
          <p:nvPr/>
        </p:nvPicPr>
        <p:blipFill>
          <a:blip r:embed="rId1"/>
          <a:stretch>
            <a:fillRect/>
          </a:stretch>
        </p:blipFill>
        <p:spPr>
          <a:xfrm>
            <a:off x="6812280" y="2971800"/>
            <a:ext cx="411480" cy="411480"/>
          </a:xfrm>
          <a:prstGeom prst="rect">
            <a:avLst/>
          </a:prstGeom>
        </p:spPr>
      </p:pic>
      <p:sp>
        <p:nvSpPr>
          <p:cNvPr id="25" name="Text 22"/>
          <p:cNvSpPr/>
          <p:nvPr/>
        </p:nvSpPr>
        <p:spPr>
          <a:xfrm>
            <a:off x="7452360" y="2788920"/>
            <a:ext cx="3962095" cy="411480"/>
          </a:xfrm>
          <a:prstGeom prst="rect">
            <a:avLst/>
          </a:prstGeom>
          <a:noFill/>
          <a:ln/>
        </p:spPr>
        <p:txBody>
          <a:bodyPr wrap="square" lIns="0" tIns="0" rIns="0" bIns="0" rtlCol="0" anchor="ctr"/>
          <a:lstStyle/>
          <a:p>
            <a:pPr indent="0" marL="0">
              <a:buNone/>
            </a:pPr>
            <a:r>
              <a:rPr lang="en-US" sz="1800" b="1" dirty="0">
                <a:solidFill>
                  <a:srgbClr val="F5F0E8"/>
                </a:solidFill>
                <a:latin typeface="Georgia" pitchFamily="34" charset="0"/>
                <a:ea typeface="Georgia" pitchFamily="34" charset="-122"/>
                <a:cs typeface="Georgia" pitchFamily="34" charset="-120"/>
              </a:rPr>
              <a:t>4p.finance</a:t>
            </a:r>
            <a:endParaRPr lang="en-US" sz="1800" dirty="0"/>
          </a:p>
        </p:txBody>
      </p:sp>
      <p:sp>
        <p:nvSpPr>
          <p:cNvPr id="26" name="Text 23"/>
          <p:cNvSpPr/>
          <p:nvPr/>
        </p:nvSpPr>
        <p:spPr>
          <a:xfrm>
            <a:off x="7452360" y="3154680"/>
            <a:ext cx="3962095" cy="502920"/>
          </a:xfrm>
          <a:prstGeom prst="rect">
            <a:avLst/>
          </a:prstGeom>
          <a:noFill/>
          <a:ln/>
        </p:spPr>
        <p:txBody>
          <a:bodyPr wrap="square" lIns="0" tIns="0" rIns="0" bIns="0" rtlCol="0" anchor="ctr"/>
          <a:lstStyle/>
          <a:p>
            <a:pPr indent="0" marL="0">
              <a:lnSpc>
                <a:spcPts val="1400"/>
              </a:lnSpc>
              <a:buNone/>
            </a:pPr>
            <a:r>
              <a:rPr lang="en-US" sz="1100" dirty="0">
                <a:solidFill>
                  <a:srgbClr val="C8C2B2"/>
                </a:solidFill>
                <a:latin typeface="Calibri" pitchFamily="34" charset="0"/>
                <a:ea typeface="Calibri" pitchFamily="34" charset="-122"/>
                <a:cs typeface="Calibri" pitchFamily="34" charset="-120"/>
              </a:rPr>
              <a:t>São Paulo luxury watch flow on crypto rails today</a:t>
            </a:r>
            <a:endParaRPr lang="en-US" sz="1100" dirty="0"/>
          </a:p>
        </p:txBody>
      </p:sp>
      <p:sp>
        <p:nvSpPr>
          <p:cNvPr id="27" name="Shape 24"/>
          <p:cNvSpPr/>
          <p:nvPr/>
        </p:nvSpPr>
        <p:spPr>
          <a:xfrm>
            <a:off x="6583680" y="3913632"/>
            <a:ext cx="4967935" cy="1143000"/>
          </a:xfrm>
          <a:prstGeom prst="rect">
            <a:avLst/>
          </a:prstGeom>
          <a:solidFill>
            <a:srgbClr val="12131A"/>
          </a:solidFill>
          <a:ln w="9525">
            <a:solidFill>
              <a:srgbClr val="0E7C7B"/>
            </a:solidFill>
            <a:prstDash val="solid"/>
          </a:ln>
        </p:spPr>
      </p:sp>
      <p:pic>
        <p:nvPicPr>
          <p:cNvPr id="28" name="Image 1" descr="preencoded.png">    </p:cNvPr>
          <p:cNvPicPr>
            <a:picLocks noChangeAspect="1"/>
          </p:cNvPicPr>
          <p:nvPr/>
        </p:nvPicPr>
        <p:blipFill>
          <a:blip r:embed="rId2"/>
          <a:stretch>
            <a:fillRect/>
          </a:stretch>
        </p:blipFill>
        <p:spPr>
          <a:xfrm>
            <a:off x="6812280" y="4279392"/>
            <a:ext cx="411480" cy="411480"/>
          </a:xfrm>
          <a:prstGeom prst="rect">
            <a:avLst/>
          </a:prstGeom>
        </p:spPr>
      </p:pic>
      <p:sp>
        <p:nvSpPr>
          <p:cNvPr id="29" name="Text 25"/>
          <p:cNvSpPr/>
          <p:nvPr/>
        </p:nvSpPr>
        <p:spPr>
          <a:xfrm>
            <a:off x="7452360" y="4096512"/>
            <a:ext cx="3962095" cy="411480"/>
          </a:xfrm>
          <a:prstGeom prst="rect">
            <a:avLst/>
          </a:prstGeom>
          <a:noFill/>
          <a:ln/>
        </p:spPr>
        <p:txBody>
          <a:bodyPr wrap="square" lIns="0" tIns="0" rIns="0" bIns="0" rtlCol="0" anchor="ctr"/>
          <a:lstStyle/>
          <a:p>
            <a:pPr indent="0" marL="0">
              <a:buNone/>
            </a:pPr>
            <a:r>
              <a:rPr lang="en-US" sz="1800" b="1" dirty="0">
                <a:solidFill>
                  <a:srgbClr val="F5F0E8"/>
                </a:solidFill>
                <a:latin typeface="Georgia" pitchFamily="34" charset="0"/>
                <a:ea typeface="Georgia" pitchFamily="34" charset="-122"/>
                <a:cs typeface="Georgia" pitchFamily="34" charset="-120"/>
              </a:rPr>
              <a:t>Gitel</a:t>
            </a:r>
            <a:endParaRPr lang="en-US" sz="1800" dirty="0"/>
          </a:p>
        </p:txBody>
      </p:sp>
      <p:sp>
        <p:nvSpPr>
          <p:cNvPr id="30" name="Text 26"/>
          <p:cNvSpPr/>
          <p:nvPr/>
        </p:nvSpPr>
        <p:spPr>
          <a:xfrm>
            <a:off x="7452360" y="4462272"/>
            <a:ext cx="3962095" cy="502920"/>
          </a:xfrm>
          <a:prstGeom prst="rect">
            <a:avLst/>
          </a:prstGeom>
          <a:noFill/>
          <a:ln/>
        </p:spPr>
        <p:txBody>
          <a:bodyPr wrap="square" lIns="0" tIns="0" rIns="0" bIns="0" rtlCol="0" anchor="ctr"/>
          <a:lstStyle/>
          <a:p>
            <a:pPr indent="0" marL="0">
              <a:lnSpc>
                <a:spcPts val="1400"/>
              </a:lnSpc>
              <a:buNone/>
            </a:pPr>
            <a:r>
              <a:rPr lang="en-US" sz="1100" dirty="0">
                <a:solidFill>
                  <a:srgbClr val="C8C2B2"/>
                </a:solidFill>
                <a:latin typeface="Calibri" pitchFamily="34" charset="0"/>
                <a:ea typeface="Calibri" pitchFamily="34" charset="-122"/>
                <a:cs typeface="Calibri" pitchFamily="34" charset="-120"/>
              </a:rPr>
              <a:t>38-year Brazilian corporate electronic-security network</a:t>
            </a:r>
            <a:endParaRPr lang="en-US" sz="1100" dirty="0"/>
          </a:p>
        </p:txBody>
      </p:sp>
      <p:sp>
        <p:nvSpPr>
          <p:cNvPr id="31" name="Shape 27"/>
          <p:cNvSpPr/>
          <p:nvPr/>
        </p:nvSpPr>
        <p:spPr>
          <a:xfrm>
            <a:off x="6583680" y="5221224"/>
            <a:ext cx="4967935" cy="1143000"/>
          </a:xfrm>
          <a:prstGeom prst="rect">
            <a:avLst/>
          </a:prstGeom>
          <a:solidFill>
            <a:srgbClr val="12131A"/>
          </a:solidFill>
          <a:ln w="9525">
            <a:solidFill>
              <a:srgbClr val="0E7C7B"/>
            </a:solidFill>
            <a:prstDash val="solid"/>
          </a:ln>
        </p:spPr>
      </p:sp>
      <p:pic>
        <p:nvPicPr>
          <p:cNvPr id="32" name="Image 2" descr="preencoded.png">    </p:cNvPr>
          <p:cNvPicPr>
            <a:picLocks noChangeAspect="1"/>
          </p:cNvPicPr>
          <p:nvPr/>
        </p:nvPicPr>
        <p:blipFill>
          <a:blip r:embed="rId3"/>
          <a:stretch>
            <a:fillRect/>
          </a:stretch>
        </p:blipFill>
        <p:spPr>
          <a:xfrm>
            <a:off x="6812280" y="5586984"/>
            <a:ext cx="411480" cy="411480"/>
          </a:xfrm>
          <a:prstGeom prst="rect">
            <a:avLst/>
          </a:prstGeom>
        </p:spPr>
      </p:pic>
      <p:sp>
        <p:nvSpPr>
          <p:cNvPr id="33" name="Text 28"/>
          <p:cNvSpPr/>
          <p:nvPr/>
        </p:nvSpPr>
        <p:spPr>
          <a:xfrm>
            <a:off x="7452360" y="5404104"/>
            <a:ext cx="3962095" cy="411480"/>
          </a:xfrm>
          <a:prstGeom prst="rect">
            <a:avLst/>
          </a:prstGeom>
          <a:noFill/>
          <a:ln/>
        </p:spPr>
        <p:txBody>
          <a:bodyPr wrap="square" lIns="0" tIns="0" rIns="0" bIns="0" rtlCol="0" anchor="ctr"/>
          <a:lstStyle/>
          <a:p>
            <a:pPr indent="0" marL="0">
              <a:buNone/>
            </a:pPr>
            <a:r>
              <a:rPr lang="en-US" sz="1800" b="1" dirty="0">
                <a:solidFill>
                  <a:srgbClr val="F5F0E8"/>
                </a:solidFill>
                <a:latin typeface="Georgia" pitchFamily="34" charset="0"/>
                <a:ea typeface="Georgia" pitchFamily="34" charset="-122"/>
                <a:cs typeface="Georgia" pitchFamily="34" charset="-120"/>
              </a:rPr>
              <a:t>Kamino · Loopscale</a:t>
            </a:r>
            <a:endParaRPr lang="en-US" sz="1800" dirty="0"/>
          </a:p>
        </p:txBody>
      </p:sp>
      <p:sp>
        <p:nvSpPr>
          <p:cNvPr id="34" name="Text 29"/>
          <p:cNvSpPr/>
          <p:nvPr/>
        </p:nvSpPr>
        <p:spPr>
          <a:xfrm>
            <a:off x="7452360" y="5769864"/>
            <a:ext cx="3962095" cy="502920"/>
          </a:xfrm>
          <a:prstGeom prst="rect">
            <a:avLst/>
          </a:prstGeom>
          <a:noFill/>
          <a:ln/>
        </p:spPr>
        <p:txBody>
          <a:bodyPr wrap="square" lIns="0" tIns="0" rIns="0" bIns="0" rtlCol="0" anchor="ctr"/>
          <a:lstStyle/>
          <a:p>
            <a:pPr indent="0" marL="0">
              <a:lnSpc>
                <a:spcPts val="1400"/>
              </a:lnSpc>
              <a:buNone/>
            </a:pPr>
            <a:r>
              <a:rPr lang="en-US" sz="1100" dirty="0">
                <a:solidFill>
                  <a:srgbClr val="C8C2B2"/>
                </a:solidFill>
                <a:latin typeface="Calibri" pitchFamily="34" charset="0"/>
                <a:ea typeface="Calibri" pitchFamily="34" charset="-122"/>
                <a:cs typeface="Calibri" pitchFamily="34" charset="-120"/>
              </a:rPr>
              <a:t>Curated Solana yield audiences via Anchor CPI</a:t>
            </a:r>
            <a:endParaRPr lang="en-US" sz="1100" dirty="0"/>
          </a:p>
        </p:txBody>
      </p:sp>
      <p:sp>
        <p:nvSpPr>
          <p:cNvPr id="35" name="Text 30"/>
          <p:cNvSpPr/>
          <p:nvPr/>
        </p:nvSpPr>
        <p:spPr>
          <a:xfrm>
            <a:off x="640080" y="6355080"/>
            <a:ext cx="10911535" cy="320040"/>
          </a:xfrm>
          <a:prstGeom prst="rect">
            <a:avLst/>
          </a:prstGeom>
          <a:noFill/>
          <a:ln/>
        </p:spPr>
        <p:txBody>
          <a:bodyPr wrap="square" lIns="0" tIns="0" rIns="0" bIns="0" rtlCol="0" anchor="ctr"/>
          <a:lstStyle/>
          <a:p>
            <a:pPr algn="ctr" indent="0" marL="0">
              <a:buNone/>
            </a:pPr>
            <a:r>
              <a:rPr lang="en-US" sz="1300" dirty="0">
                <a:solidFill>
                  <a:srgbClr val="0E7C7B"/>
                </a:solidFill>
                <a:latin typeface="Georgia" pitchFamily="34" charset="0"/>
                <a:ea typeface="Georgia" pitchFamily="34" charset="-122"/>
                <a:cs typeface="Georgia" pitchFamily="34" charset="-120"/>
              </a:rPr>
              <a:t>→  </a:t>
            </a:r>
            <a:pPr algn="ctr" indent="0" marL="0">
              <a:buNone/>
            </a:pPr>
            <a:r>
              <a:rPr lang="en-US" sz="1300" b="1" dirty="0">
                <a:solidFill>
                  <a:srgbClr val="F5F0E8"/>
                </a:solidFill>
                <a:latin typeface="Georgia" pitchFamily="34" charset="0"/>
                <a:ea typeface="Georgia" pitchFamily="34" charset="-122"/>
                <a:cs typeface="Georgia" pitchFamily="34" charset="-120"/>
              </a:rPr>
              <a:t>Low CAC at launch.  </a:t>
            </a:r>
            <a:pPr algn="ctr" indent="0" marL="0">
              <a:buNone/>
            </a:pPr>
            <a:r>
              <a:rPr lang="en-US" sz="1300" i="1" dirty="0">
                <a:solidFill>
                  <a:srgbClr val="C8C2B2"/>
                </a:solidFill>
                <a:latin typeface="Georgia" pitchFamily="34" charset="0"/>
                <a:ea typeface="Georgia" pitchFamily="34" charset="-122"/>
                <a:cs typeface="Georgia" pitchFamily="34" charset="-120"/>
              </a:rPr>
              <a:t>Growth driven by partner-network multiplication, not paid acquisition.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a:ln/>
        </p:spPr>
        <p:txBody>
          <a:bodyPr wrap="square" lIns="0" tIns="0" rIns="0" bIns="0" rtlCol="0" anchor="ctr"/>
          <a:lstStyle/>
          <a:p>
            <a:pPr indent="0" marL="0">
              <a:buNone/>
            </a:pPr>
            <a:r>
              <a:rPr lang="en-US" sz="950" b="1" spc="400" kern="0" dirty="0">
                <a:solidFill>
                  <a:srgbClr val="0E7C7B"/>
                </a:solidFill>
                <a:latin typeface="Consolas" pitchFamily="34" charset="0"/>
                <a:ea typeface="Consolas" pitchFamily="34" charset="-122"/>
                <a:cs typeface="Consolas" pitchFamily="34" charset="-120"/>
              </a:rPr>
              <a:t>07  /  WHY NOW  ·  THE VERTEX</a:t>
            </a:r>
            <a:endParaRPr lang="en-US" sz="950" dirty="0"/>
          </a:p>
        </p:txBody>
      </p:sp>
      <p:sp>
        <p:nvSpPr>
          <p:cNvPr id="4" name="Text 2"/>
          <p:cNvSpPr/>
          <p:nvPr/>
        </p:nvSpPr>
        <p:spPr>
          <a:xfrm>
            <a:off x="10911535" y="274320"/>
            <a:ext cx="914400" cy="228600"/>
          </a:xfrm>
          <a:prstGeom prst="rect">
            <a:avLst/>
          </a:prstGeom>
          <a:noFill/>
          <a:ln/>
        </p:spPr>
        <p:txBody>
          <a:bodyPr wrap="square" lIns="0" tIns="0" rIns="0" bIns="0" rtlCol="0" anchor="ctr"/>
          <a:lstStyle/>
          <a:p>
            <a:pPr algn="r" indent="0" marL="0">
              <a:buNone/>
            </a:pPr>
            <a:r>
              <a:rPr lang="en-US" sz="900" spc="300" kern="0" dirty="0">
                <a:solidFill>
                  <a:srgbClr val="8A8A90"/>
                </a:solidFill>
                <a:latin typeface="Consolas" pitchFamily="34" charset="0"/>
                <a:ea typeface="Consolas" pitchFamily="34" charset="-122"/>
                <a:cs typeface="Consolas" pitchFamily="34" charset="-120"/>
              </a:rPr>
              <a:t>07 / 09</a:t>
            </a:r>
            <a:endParaRPr lang="en-US" sz="900" dirty="0"/>
          </a:p>
        </p:txBody>
      </p:sp>
      <p:sp>
        <p:nvSpPr>
          <p:cNvPr id="5" name="Text 3"/>
          <p:cNvSpPr/>
          <p:nvPr/>
        </p:nvSpPr>
        <p:spPr>
          <a:xfrm>
            <a:off x="640080" y="777240"/>
            <a:ext cx="10911535" cy="777240"/>
          </a:xfrm>
          <a:prstGeom prst="rect">
            <a:avLst/>
          </a:prstGeom>
          <a:noFill/>
          <a:ln/>
        </p:spPr>
        <p:txBody>
          <a:bodyPr wrap="square" lIns="0" tIns="0" rIns="0" bIns="0" rtlCol="0" anchor="ctr"/>
          <a:lstStyle/>
          <a:p>
            <a:pPr indent="0" marL="0">
              <a:buNone/>
            </a:pPr>
            <a:r>
              <a:rPr lang="en-US" sz="3000" b="1" dirty="0">
                <a:solidFill>
                  <a:srgbClr val="F5F0E8"/>
                </a:solidFill>
                <a:latin typeface="Georgia" pitchFamily="34" charset="0"/>
                <a:ea typeface="Georgia" pitchFamily="34" charset="-122"/>
                <a:cs typeface="Georgia" pitchFamily="34" charset="-120"/>
              </a:rPr>
              <a:t>The unoccupied vertex. The institutional window.</a:t>
            </a:r>
            <a:endParaRPr lang="en-US" sz="3000" dirty="0"/>
          </a:p>
        </p:txBody>
      </p:sp>
      <p:sp>
        <p:nvSpPr>
          <p:cNvPr id="6" name="Text 4"/>
          <p:cNvSpPr/>
          <p:nvPr/>
        </p:nvSpPr>
        <p:spPr>
          <a:xfrm>
            <a:off x="640080" y="1554480"/>
            <a:ext cx="10911535" cy="365760"/>
          </a:xfrm>
          <a:prstGeom prst="rect">
            <a:avLst/>
          </a:prstGeom>
          <a:noFill/>
          <a:ln/>
        </p:spPr>
        <p:txBody>
          <a:bodyPr wrap="square" lIns="0" tIns="0" rIns="0" bIns="0" rtlCol="0" anchor="ctr"/>
          <a:lstStyle/>
          <a:p>
            <a:pPr indent="0" marL="0">
              <a:buNone/>
            </a:pPr>
            <a:r>
              <a:rPr lang="en-US" sz="1300" dirty="0">
                <a:solidFill>
                  <a:srgbClr val="C8C2B2"/>
                </a:solidFill>
                <a:latin typeface="Calibri" pitchFamily="34" charset="0"/>
                <a:ea typeface="Calibri" pitchFamily="34" charset="-122"/>
                <a:cs typeface="Calibri" pitchFamily="34" charset="-120"/>
              </a:rPr>
              <a:t>Solana primitives are ready. Stablecoin rails went live. Competitors are stuck on the wrong vertex.</a:t>
            </a:r>
            <a:endParaRPr lang="en-US" sz="1300" dirty="0"/>
          </a:p>
        </p:txBody>
      </p:sp>
      <p:sp>
        <p:nvSpPr>
          <p:cNvPr id="7" name="Shape 5"/>
          <p:cNvSpPr/>
          <p:nvPr/>
        </p:nvSpPr>
        <p:spPr>
          <a:xfrm>
            <a:off x="640080" y="1993392"/>
            <a:ext cx="914400" cy="0"/>
          </a:xfrm>
          <a:prstGeom prst="line">
            <a:avLst/>
          </a:prstGeom>
          <a:noFill/>
          <a:ln w="15240">
            <a:solidFill>
              <a:srgbClr val="0E7C7B"/>
            </a:solidFill>
            <a:prstDash val="solid"/>
          </a:ln>
        </p:spPr>
      </p:sp>
      <p:sp>
        <p:nvSpPr>
          <p:cNvPr id="8" name="Shape 6"/>
          <p:cNvSpPr/>
          <p:nvPr/>
        </p:nvSpPr>
        <p:spPr>
          <a:xfrm>
            <a:off x="640080" y="2286000"/>
            <a:ext cx="5341468" cy="1851660"/>
          </a:xfrm>
          <a:prstGeom prst="rect">
            <a:avLst/>
          </a:prstGeom>
          <a:solidFill>
            <a:srgbClr val="12131A"/>
          </a:solidFill>
          <a:ln w="9525">
            <a:solidFill>
              <a:srgbClr val="0E7C7B"/>
            </a:solidFill>
            <a:prstDash val="solid"/>
          </a:ln>
        </p:spPr>
      </p:sp>
      <p:pic>
        <p:nvPicPr>
          <p:cNvPr id="9" name="Image 0" descr="preencoded.png">    </p:cNvPr>
          <p:cNvPicPr>
            <a:picLocks noChangeAspect="1"/>
          </p:cNvPicPr>
          <p:nvPr/>
        </p:nvPicPr>
        <p:blipFill>
          <a:blip r:embed="rId1"/>
          <a:stretch>
            <a:fillRect/>
          </a:stretch>
        </p:blipFill>
        <p:spPr>
          <a:xfrm>
            <a:off x="914400" y="2560320"/>
            <a:ext cx="457200" cy="457200"/>
          </a:xfrm>
          <a:prstGeom prst="rect">
            <a:avLst/>
          </a:prstGeom>
        </p:spPr>
      </p:pic>
      <p:sp>
        <p:nvSpPr>
          <p:cNvPr id="10" name="Text 7"/>
          <p:cNvSpPr/>
          <p:nvPr/>
        </p:nvSpPr>
        <p:spPr>
          <a:xfrm>
            <a:off x="1554480" y="2560320"/>
            <a:ext cx="4244188" cy="274320"/>
          </a:xfrm>
          <a:prstGeom prst="rect">
            <a:avLst/>
          </a:prstGeom>
          <a:noFill/>
          <a:ln/>
        </p:spPr>
        <p:txBody>
          <a:bodyPr wrap="square" lIns="0" tIns="0" rIns="0" bIns="0" rtlCol="0" anchor="ctr"/>
          <a:lstStyle/>
          <a:p>
            <a:pPr indent="0" marL="0">
              <a:buNone/>
            </a:pPr>
            <a:r>
              <a:rPr lang="en-US" sz="1000" b="1" spc="400" kern="0" dirty="0">
                <a:solidFill>
                  <a:srgbClr val="0E7C7B"/>
                </a:solidFill>
                <a:latin typeface="Consolas" pitchFamily="34" charset="0"/>
                <a:ea typeface="Consolas" pitchFamily="34" charset="-122"/>
                <a:cs typeface="Consolas" pitchFamily="34" charset="-120"/>
              </a:rPr>
              <a:t>01  ·  TECH</a:t>
            </a:r>
            <a:endParaRPr lang="en-US" sz="1000" dirty="0"/>
          </a:p>
        </p:txBody>
      </p:sp>
      <p:sp>
        <p:nvSpPr>
          <p:cNvPr id="11" name="Text 8"/>
          <p:cNvSpPr/>
          <p:nvPr/>
        </p:nvSpPr>
        <p:spPr>
          <a:xfrm>
            <a:off x="1554480" y="2834640"/>
            <a:ext cx="4244188" cy="502920"/>
          </a:xfrm>
          <a:prstGeom prst="rect">
            <a:avLst/>
          </a:prstGeom>
          <a:noFill/>
          <a:ln/>
        </p:spPr>
        <p:txBody>
          <a:bodyPr wrap="square" lIns="0" tIns="0" rIns="0" bIns="0" rtlCol="0" anchor="ctr"/>
          <a:lstStyle/>
          <a:p>
            <a:pPr indent="0" marL="0">
              <a:buNone/>
            </a:pPr>
            <a:r>
              <a:rPr lang="en-US" sz="2200" b="1" dirty="0">
                <a:solidFill>
                  <a:srgbClr val="F5F0E8"/>
                </a:solidFill>
                <a:latin typeface="Georgia" pitchFamily="34" charset="0"/>
                <a:ea typeface="Georgia" pitchFamily="34" charset="-122"/>
                <a:cs typeface="Georgia" pitchFamily="34" charset="-120"/>
              </a:rPr>
              <a:t>Solana primitives</a:t>
            </a:r>
            <a:endParaRPr lang="en-US" sz="2200" dirty="0"/>
          </a:p>
        </p:txBody>
      </p:sp>
      <p:sp>
        <p:nvSpPr>
          <p:cNvPr id="12" name="Shape 9"/>
          <p:cNvSpPr/>
          <p:nvPr/>
        </p:nvSpPr>
        <p:spPr>
          <a:xfrm>
            <a:off x="914400" y="3360420"/>
            <a:ext cx="4792828" cy="0"/>
          </a:xfrm>
          <a:prstGeom prst="line">
            <a:avLst/>
          </a:prstGeom>
          <a:noFill/>
          <a:ln w="6350">
            <a:solidFill>
              <a:srgbClr val="1F1F25"/>
            </a:solidFill>
            <a:prstDash val="solid"/>
          </a:ln>
        </p:spPr>
      </p:sp>
      <p:sp>
        <p:nvSpPr>
          <p:cNvPr id="13" name="Text 10"/>
          <p:cNvSpPr/>
          <p:nvPr/>
        </p:nvSpPr>
        <p:spPr>
          <a:xfrm>
            <a:off x="914400" y="3451860"/>
            <a:ext cx="4792828" cy="594360"/>
          </a:xfrm>
          <a:prstGeom prst="rect">
            <a:avLst/>
          </a:prstGeom>
          <a:noFill/>
          <a:ln/>
        </p:spPr>
        <p:txBody>
          <a:bodyPr wrap="square" lIns="0" tIns="0" rIns="0" bIns="0" rtlCol="0" anchor="ctr"/>
          <a:lstStyle/>
          <a:p>
            <a:pPr indent="0" marL="0">
              <a:lnSpc>
                <a:spcPts val="1600"/>
              </a:lnSpc>
              <a:buNone/>
            </a:pPr>
            <a:r>
              <a:rPr lang="en-US" sz="1200" dirty="0">
                <a:solidFill>
                  <a:srgbClr val="C8C2B2"/>
                </a:solidFill>
                <a:latin typeface="Calibri" pitchFamily="34" charset="0"/>
                <a:ea typeface="Calibri" pitchFamily="34" charset="-122"/>
                <a:cs typeface="Calibri" pitchFamily="34" charset="-120"/>
              </a:rPr>
              <a:t>$1.82B RWA TVL · cNFTs at fractions of a cent · SAS for reusable KYC</a:t>
            </a:r>
            <a:endParaRPr lang="en-US" sz="1200" dirty="0"/>
          </a:p>
        </p:txBody>
      </p:sp>
      <p:sp>
        <p:nvSpPr>
          <p:cNvPr id="14" name="Shape 11"/>
          <p:cNvSpPr/>
          <p:nvPr/>
        </p:nvSpPr>
        <p:spPr>
          <a:xfrm>
            <a:off x="6210148" y="2286000"/>
            <a:ext cx="5341468" cy="1851660"/>
          </a:xfrm>
          <a:prstGeom prst="rect">
            <a:avLst/>
          </a:prstGeom>
          <a:solidFill>
            <a:srgbClr val="12131A"/>
          </a:solidFill>
          <a:ln w="9525">
            <a:solidFill>
              <a:srgbClr val="0E7C7B"/>
            </a:solidFill>
            <a:prstDash val="solid"/>
          </a:ln>
        </p:spPr>
      </p:sp>
      <p:pic>
        <p:nvPicPr>
          <p:cNvPr id="15" name="Image 1" descr="preencoded.png">    </p:cNvPr>
          <p:cNvPicPr>
            <a:picLocks noChangeAspect="1"/>
          </p:cNvPicPr>
          <p:nvPr/>
        </p:nvPicPr>
        <p:blipFill>
          <a:blip r:embed="rId2"/>
          <a:stretch>
            <a:fillRect/>
          </a:stretch>
        </p:blipFill>
        <p:spPr>
          <a:xfrm>
            <a:off x="6484468" y="2560320"/>
            <a:ext cx="457200" cy="457200"/>
          </a:xfrm>
          <a:prstGeom prst="rect">
            <a:avLst/>
          </a:prstGeom>
        </p:spPr>
      </p:pic>
      <p:sp>
        <p:nvSpPr>
          <p:cNvPr id="16" name="Text 12"/>
          <p:cNvSpPr/>
          <p:nvPr/>
        </p:nvSpPr>
        <p:spPr>
          <a:xfrm>
            <a:off x="7124548" y="2560320"/>
            <a:ext cx="4244188" cy="274320"/>
          </a:xfrm>
          <a:prstGeom prst="rect">
            <a:avLst/>
          </a:prstGeom>
          <a:noFill/>
          <a:ln/>
        </p:spPr>
        <p:txBody>
          <a:bodyPr wrap="square" lIns="0" tIns="0" rIns="0" bIns="0" rtlCol="0" anchor="ctr"/>
          <a:lstStyle/>
          <a:p>
            <a:pPr indent="0" marL="0">
              <a:buNone/>
            </a:pPr>
            <a:r>
              <a:rPr lang="en-US" sz="1000" b="1" spc="400" kern="0" dirty="0">
                <a:solidFill>
                  <a:srgbClr val="0E7C7B"/>
                </a:solidFill>
                <a:latin typeface="Consolas" pitchFamily="34" charset="0"/>
                <a:ea typeface="Consolas" pitchFamily="34" charset="-122"/>
                <a:cs typeface="Consolas" pitchFamily="34" charset="-120"/>
              </a:rPr>
              <a:t>02  ·  RAILS</a:t>
            </a:r>
            <a:endParaRPr lang="en-US" sz="1000" dirty="0"/>
          </a:p>
        </p:txBody>
      </p:sp>
      <p:sp>
        <p:nvSpPr>
          <p:cNvPr id="17" name="Text 13"/>
          <p:cNvSpPr/>
          <p:nvPr/>
        </p:nvSpPr>
        <p:spPr>
          <a:xfrm>
            <a:off x="7124548" y="2834640"/>
            <a:ext cx="4244188" cy="502920"/>
          </a:xfrm>
          <a:prstGeom prst="rect">
            <a:avLst/>
          </a:prstGeom>
          <a:noFill/>
          <a:ln/>
        </p:spPr>
        <p:txBody>
          <a:bodyPr wrap="square" lIns="0" tIns="0" rIns="0" bIns="0" rtlCol="0" anchor="ctr"/>
          <a:lstStyle/>
          <a:p>
            <a:pPr indent="0" marL="0">
              <a:buNone/>
            </a:pPr>
            <a:r>
              <a:rPr lang="en-US" sz="2200" b="1" dirty="0">
                <a:solidFill>
                  <a:srgbClr val="F5F0E8"/>
                </a:solidFill>
                <a:latin typeface="Georgia" pitchFamily="34" charset="0"/>
                <a:ea typeface="Georgia" pitchFamily="34" charset="-122"/>
                <a:cs typeface="Georgia" pitchFamily="34" charset="-120"/>
              </a:rPr>
              <a:t>Stablecoin distribution</a:t>
            </a:r>
            <a:endParaRPr lang="en-US" sz="2200" dirty="0"/>
          </a:p>
        </p:txBody>
      </p:sp>
      <p:sp>
        <p:nvSpPr>
          <p:cNvPr id="18" name="Shape 14"/>
          <p:cNvSpPr/>
          <p:nvPr/>
        </p:nvSpPr>
        <p:spPr>
          <a:xfrm>
            <a:off x="6484468" y="3360420"/>
            <a:ext cx="4792828" cy="0"/>
          </a:xfrm>
          <a:prstGeom prst="line">
            <a:avLst/>
          </a:prstGeom>
          <a:noFill/>
          <a:ln w="6350">
            <a:solidFill>
              <a:srgbClr val="1F1F25"/>
            </a:solidFill>
            <a:prstDash val="solid"/>
          </a:ln>
        </p:spPr>
      </p:sp>
      <p:sp>
        <p:nvSpPr>
          <p:cNvPr id="19" name="Text 15"/>
          <p:cNvSpPr/>
          <p:nvPr/>
        </p:nvSpPr>
        <p:spPr>
          <a:xfrm>
            <a:off x="6484468" y="3451860"/>
            <a:ext cx="4792828" cy="594360"/>
          </a:xfrm>
          <a:prstGeom prst="rect">
            <a:avLst/>
          </a:prstGeom>
          <a:noFill/>
          <a:ln/>
        </p:spPr>
        <p:txBody>
          <a:bodyPr wrap="square" lIns="0" tIns="0" rIns="0" bIns="0" rtlCol="0" anchor="ctr"/>
          <a:lstStyle/>
          <a:p>
            <a:pPr indent="0" marL="0">
              <a:lnSpc>
                <a:spcPts val="1600"/>
              </a:lnSpc>
              <a:buNone/>
            </a:pPr>
            <a:r>
              <a:rPr lang="en-US" sz="1200" dirty="0">
                <a:solidFill>
                  <a:srgbClr val="C8C2B2"/>
                </a:solidFill>
                <a:latin typeface="Calibri" pitchFamily="34" charset="0"/>
                <a:ea typeface="Calibri" pitchFamily="34" charset="-122"/>
                <a:cs typeface="Calibri" pitchFamily="34" charset="-120"/>
              </a:rPr>
              <a:t>Western Union USDPT launched May 2026 · Visa · Stripe · PayPal live</a:t>
            </a:r>
            <a:endParaRPr lang="en-US" sz="1200" dirty="0"/>
          </a:p>
        </p:txBody>
      </p:sp>
      <p:sp>
        <p:nvSpPr>
          <p:cNvPr id="20" name="Shape 16"/>
          <p:cNvSpPr/>
          <p:nvPr/>
        </p:nvSpPr>
        <p:spPr>
          <a:xfrm>
            <a:off x="640080" y="4366260"/>
            <a:ext cx="5341468" cy="1851660"/>
          </a:xfrm>
          <a:prstGeom prst="rect">
            <a:avLst/>
          </a:prstGeom>
          <a:solidFill>
            <a:srgbClr val="12131A"/>
          </a:solidFill>
          <a:ln w="9525">
            <a:solidFill>
              <a:srgbClr val="0E7C7B"/>
            </a:solidFill>
            <a:prstDash val="solid"/>
          </a:ln>
        </p:spPr>
      </p:sp>
      <p:pic>
        <p:nvPicPr>
          <p:cNvPr id="21" name="Image 2" descr="preencoded.png">    </p:cNvPr>
          <p:cNvPicPr>
            <a:picLocks noChangeAspect="1"/>
          </p:cNvPicPr>
          <p:nvPr/>
        </p:nvPicPr>
        <p:blipFill>
          <a:blip r:embed="rId3"/>
          <a:stretch>
            <a:fillRect/>
          </a:stretch>
        </p:blipFill>
        <p:spPr>
          <a:xfrm>
            <a:off x="914400" y="4640580"/>
            <a:ext cx="457200" cy="457200"/>
          </a:xfrm>
          <a:prstGeom prst="rect">
            <a:avLst/>
          </a:prstGeom>
        </p:spPr>
      </p:pic>
      <p:sp>
        <p:nvSpPr>
          <p:cNvPr id="22" name="Text 17"/>
          <p:cNvSpPr/>
          <p:nvPr/>
        </p:nvSpPr>
        <p:spPr>
          <a:xfrm>
            <a:off x="1554480" y="4640580"/>
            <a:ext cx="4244188" cy="274320"/>
          </a:xfrm>
          <a:prstGeom prst="rect">
            <a:avLst/>
          </a:prstGeom>
          <a:noFill/>
          <a:ln/>
        </p:spPr>
        <p:txBody>
          <a:bodyPr wrap="square" lIns="0" tIns="0" rIns="0" bIns="0" rtlCol="0" anchor="ctr"/>
          <a:lstStyle/>
          <a:p>
            <a:pPr indent="0" marL="0">
              <a:buNone/>
            </a:pPr>
            <a:r>
              <a:rPr lang="en-US" sz="1000" b="1" spc="400" kern="0" dirty="0">
                <a:solidFill>
                  <a:srgbClr val="0E7C7B"/>
                </a:solidFill>
                <a:latin typeface="Consolas" pitchFamily="34" charset="0"/>
                <a:ea typeface="Consolas" pitchFamily="34" charset="-122"/>
                <a:cs typeface="Consolas" pitchFamily="34" charset="-120"/>
              </a:rPr>
              <a:t>03  ·  GEOGRAPHY</a:t>
            </a:r>
            <a:endParaRPr lang="en-US" sz="1000" dirty="0"/>
          </a:p>
        </p:txBody>
      </p:sp>
      <p:sp>
        <p:nvSpPr>
          <p:cNvPr id="23" name="Text 18"/>
          <p:cNvSpPr/>
          <p:nvPr/>
        </p:nvSpPr>
        <p:spPr>
          <a:xfrm>
            <a:off x="1554480" y="4914900"/>
            <a:ext cx="4244188" cy="502920"/>
          </a:xfrm>
          <a:prstGeom prst="rect">
            <a:avLst/>
          </a:prstGeom>
          <a:noFill/>
          <a:ln/>
        </p:spPr>
        <p:txBody>
          <a:bodyPr wrap="square" lIns="0" tIns="0" rIns="0" bIns="0" rtlCol="0" anchor="ctr"/>
          <a:lstStyle/>
          <a:p>
            <a:pPr indent="0" marL="0">
              <a:buNone/>
            </a:pPr>
            <a:r>
              <a:rPr lang="en-US" sz="2200" b="1" dirty="0">
                <a:solidFill>
                  <a:srgbClr val="F5F0E8"/>
                </a:solidFill>
                <a:latin typeface="Georgia" pitchFamily="34" charset="0"/>
                <a:ea typeface="Georgia" pitchFamily="34" charset="-122"/>
                <a:cs typeface="Georgia" pitchFamily="34" charset="-120"/>
              </a:rPr>
              <a:t>Emerging-market first</a:t>
            </a:r>
            <a:endParaRPr lang="en-US" sz="2200" dirty="0"/>
          </a:p>
        </p:txBody>
      </p:sp>
      <p:sp>
        <p:nvSpPr>
          <p:cNvPr id="24" name="Shape 19"/>
          <p:cNvSpPr/>
          <p:nvPr/>
        </p:nvSpPr>
        <p:spPr>
          <a:xfrm>
            <a:off x="914400" y="5440680"/>
            <a:ext cx="4792828" cy="0"/>
          </a:xfrm>
          <a:prstGeom prst="line">
            <a:avLst/>
          </a:prstGeom>
          <a:noFill/>
          <a:ln w="6350">
            <a:solidFill>
              <a:srgbClr val="1F1F25"/>
            </a:solidFill>
            <a:prstDash val="solid"/>
          </a:ln>
        </p:spPr>
      </p:sp>
      <p:sp>
        <p:nvSpPr>
          <p:cNvPr id="25" name="Text 20"/>
          <p:cNvSpPr/>
          <p:nvPr/>
        </p:nvSpPr>
        <p:spPr>
          <a:xfrm>
            <a:off x="914400" y="5532120"/>
            <a:ext cx="4792828" cy="594360"/>
          </a:xfrm>
          <a:prstGeom prst="rect">
            <a:avLst/>
          </a:prstGeom>
          <a:noFill/>
          <a:ln/>
        </p:spPr>
        <p:txBody>
          <a:bodyPr wrap="square" lIns="0" tIns="0" rIns="0" bIns="0" rtlCol="0" anchor="ctr"/>
          <a:lstStyle/>
          <a:p>
            <a:pPr indent="0" marL="0">
              <a:lnSpc>
                <a:spcPts val="1600"/>
              </a:lnSpc>
              <a:buNone/>
            </a:pPr>
            <a:r>
              <a:rPr lang="en-US" sz="1200" dirty="0">
                <a:solidFill>
                  <a:srgbClr val="C8C2B2"/>
                </a:solidFill>
                <a:latin typeface="Calibri" pitchFamily="34" charset="0"/>
                <a:ea typeface="Calibri" pitchFamily="34" charset="-122"/>
                <a:cs typeface="Calibri" pitchFamily="34" charset="-120"/>
              </a:rPr>
              <a:t>Credit costs 60–400% in BR/MX/TR/IN · US-first competitors miss this</a:t>
            </a:r>
            <a:endParaRPr lang="en-US" sz="1200" dirty="0"/>
          </a:p>
        </p:txBody>
      </p:sp>
      <p:sp>
        <p:nvSpPr>
          <p:cNvPr id="26" name="Shape 21"/>
          <p:cNvSpPr/>
          <p:nvPr/>
        </p:nvSpPr>
        <p:spPr>
          <a:xfrm>
            <a:off x="6210148" y="4366260"/>
            <a:ext cx="5341468" cy="1851660"/>
          </a:xfrm>
          <a:prstGeom prst="rect">
            <a:avLst/>
          </a:prstGeom>
          <a:solidFill>
            <a:srgbClr val="12131A"/>
          </a:solidFill>
          <a:ln w="9525">
            <a:solidFill>
              <a:srgbClr val="0E7C7B"/>
            </a:solidFill>
            <a:prstDash val="solid"/>
          </a:ln>
        </p:spPr>
      </p:sp>
      <p:pic>
        <p:nvPicPr>
          <p:cNvPr id="27" name="Image 3" descr="preencoded.png">    </p:cNvPr>
          <p:cNvPicPr>
            <a:picLocks noChangeAspect="1"/>
          </p:cNvPicPr>
          <p:nvPr/>
        </p:nvPicPr>
        <p:blipFill>
          <a:blip r:embed="rId4"/>
          <a:stretch>
            <a:fillRect/>
          </a:stretch>
        </p:blipFill>
        <p:spPr>
          <a:xfrm>
            <a:off x="6484468" y="4640580"/>
            <a:ext cx="457200" cy="457200"/>
          </a:xfrm>
          <a:prstGeom prst="rect">
            <a:avLst/>
          </a:prstGeom>
        </p:spPr>
      </p:pic>
      <p:sp>
        <p:nvSpPr>
          <p:cNvPr id="28" name="Text 22"/>
          <p:cNvSpPr/>
          <p:nvPr/>
        </p:nvSpPr>
        <p:spPr>
          <a:xfrm>
            <a:off x="7124548" y="4640580"/>
            <a:ext cx="4244188" cy="274320"/>
          </a:xfrm>
          <a:prstGeom prst="rect">
            <a:avLst/>
          </a:prstGeom>
          <a:noFill/>
          <a:ln/>
        </p:spPr>
        <p:txBody>
          <a:bodyPr wrap="square" lIns="0" tIns="0" rIns="0" bIns="0" rtlCol="0" anchor="ctr"/>
          <a:lstStyle/>
          <a:p>
            <a:pPr indent="0" marL="0">
              <a:buNone/>
            </a:pPr>
            <a:r>
              <a:rPr lang="en-US" sz="1000" b="1" spc="400" kern="0" dirty="0">
                <a:solidFill>
                  <a:srgbClr val="0E7C7B"/>
                </a:solidFill>
                <a:latin typeface="Consolas" pitchFamily="34" charset="0"/>
                <a:ea typeface="Consolas" pitchFamily="34" charset="-122"/>
                <a:cs typeface="Consolas" pitchFamily="34" charset="-120"/>
              </a:rPr>
              <a:t>04  ·  CUSTODY</a:t>
            </a:r>
            <a:endParaRPr lang="en-US" sz="1000" dirty="0"/>
          </a:p>
        </p:txBody>
      </p:sp>
      <p:sp>
        <p:nvSpPr>
          <p:cNvPr id="29" name="Text 23"/>
          <p:cNvSpPr/>
          <p:nvPr/>
        </p:nvSpPr>
        <p:spPr>
          <a:xfrm>
            <a:off x="7124548" y="4914900"/>
            <a:ext cx="4244188" cy="502920"/>
          </a:xfrm>
          <a:prstGeom prst="rect">
            <a:avLst/>
          </a:prstGeom>
          <a:noFill/>
          <a:ln/>
        </p:spPr>
        <p:txBody>
          <a:bodyPr wrap="square" lIns="0" tIns="0" rIns="0" bIns="0" rtlCol="0" anchor="ctr"/>
          <a:lstStyle/>
          <a:p>
            <a:pPr indent="0" marL="0">
              <a:buNone/>
            </a:pPr>
            <a:r>
              <a:rPr lang="en-US" sz="2200" b="1" dirty="0">
                <a:solidFill>
                  <a:srgbClr val="F5F0E8"/>
                </a:solidFill>
                <a:latin typeface="Georgia" pitchFamily="34" charset="0"/>
                <a:ea typeface="Georgia" pitchFamily="34" charset="-122"/>
                <a:cs typeface="Georgia" pitchFamily="34" charset="-120"/>
              </a:rPr>
              <a:t>Licensed third-party</a:t>
            </a:r>
            <a:endParaRPr lang="en-US" sz="2200" dirty="0"/>
          </a:p>
        </p:txBody>
      </p:sp>
      <p:sp>
        <p:nvSpPr>
          <p:cNvPr id="30" name="Shape 24"/>
          <p:cNvSpPr/>
          <p:nvPr/>
        </p:nvSpPr>
        <p:spPr>
          <a:xfrm>
            <a:off x="6484468" y="5440680"/>
            <a:ext cx="4792828" cy="0"/>
          </a:xfrm>
          <a:prstGeom prst="line">
            <a:avLst/>
          </a:prstGeom>
          <a:noFill/>
          <a:ln w="6350">
            <a:solidFill>
              <a:srgbClr val="1F1F25"/>
            </a:solidFill>
            <a:prstDash val="solid"/>
          </a:ln>
        </p:spPr>
      </p:sp>
      <p:sp>
        <p:nvSpPr>
          <p:cNvPr id="31" name="Text 25"/>
          <p:cNvSpPr/>
          <p:nvPr/>
        </p:nvSpPr>
        <p:spPr>
          <a:xfrm>
            <a:off x="6484468" y="5532120"/>
            <a:ext cx="4792828" cy="594360"/>
          </a:xfrm>
          <a:prstGeom prst="rect">
            <a:avLst/>
          </a:prstGeom>
          <a:noFill/>
          <a:ln/>
        </p:spPr>
        <p:txBody>
          <a:bodyPr wrap="square" lIns="0" tIns="0" rIns="0" bIns="0" rtlCol="0" anchor="ctr"/>
          <a:lstStyle/>
          <a:p>
            <a:pPr indent="0" marL="0">
              <a:lnSpc>
                <a:spcPts val="1600"/>
              </a:lnSpc>
              <a:buNone/>
            </a:pPr>
            <a:r>
              <a:rPr lang="en-US" sz="1200" dirty="0">
                <a:solidFill>
                  <a:srgbClr val="C8C2B2"/>
                </a:solidFill>
                <a:latin typeface="Calibri" pitchFamily="34" charset="0"/>
                <a:ea typeface="Calibri" pitchFamily="34" charset="-122"/>
                <a:cs typeface="Calibri" pitchFamily="34" charset="-120"/>
              </a:rPr>
              <a:t>No closed black box · No self-custody risk · Brinks-class network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a:ln/>
        </p:spPr>
        <p:txBody>
          <a:bodyPr wrap="square" lIns="0" tIns="0" rIns="0" bIns="0" rtlCol="0" anchor="ctr"/>
          <a:lstStyle/>
          <a:p>
            <a:pPr indent="0" marL="0">
              <a:buNone/>
            </a:pPr>
            <a:r>
              <a:rPr lang="en-US" sz="950" b="1" spc="400" kern="0" dirty="0">
                <a:solidFill>
                  <a:srgbClr val="0E7C7B"/>
                </a:solidFill>
                <a:latin typeface="Consolas" pitchFamily="34" charset="0"/>
                <a:ea typeface="Consolas" pitchFamily="34" charset="-122"/>
                <a:cs typeface="Consolas" pitchFamily="34" charset="-120"/>
              </a:rPr>
              <a:t>08  /  TEAM</a:t>
            </a:r>
            <a:endParaRPr lang="en-US" sz="950" dirty="0"/>
          </a:p>
        </p:txBody>
      </p:sp>
      <p:sp>
        <p:nvSpPr>
          <p:cNvPr id="4" name="Text 2"/>
          <p:cNvSpPr/>
          <p:nvPr/>
        </p:nvSpPr>
        <p:spPr>
          <a:xfrm>
            <a:off x="10911535" y="274320"/>
            <a:ext cx="914400" cy="228600"/>
          </a:xfrm>
          <a:prstGeom prst="rect">
            <a:avLst/>
          </a:prstGeom>
          <a:noFill/>
          <a:ln/>
        </p:spPr>
        <p:txBody>
          <a:bodyPr wrap="square" lIns="0" tIns="0" rIns="0" bIns="0" rtlCol="0" anchor="ctr"/>
          <a:lstStyle/>
          <a:p>
            <a:pPr algn="r" indent="0" marL="0">
              <a:buNone/>
            </a:pPr>
            <a:r>
              <a:rPr lang="en-US" sz="900" spc="300" kern="0" dirty="0">
                <a:solidFill>
                  <a:srgbClr val="8A8A90"/>
                </a:solidFill>
                <a:latin typeface="Consolas" pitchFamily="34" charset="0"/>
                <a:ea typeface="Consolas" pitchFamily="34" charset="-122"/>
                <a:cs typeface="Consolas" pitchFamily="34" charset="-120"/>
              </a:rPr>
              <a:t>08 / 09</a:t>
            </a:r>
            <a:endParaRPr lang="en-US" sz="900" dirty="0"/>
          </a:p>
        </p:txBody>
      </p:sp>
      <p:sp>
        <p:nvSpPr>
          <p:cNvPr id="5" name="Text 3"/>
          <p:cNvSpPr/>
          <p:nvPr/>
        </p:nvSpPr>
        <p:spPr>
          <a:xfrm>
            <a:off x="640080" y="777240"/>
            <a:ext cx="10911535" cy="777240"/>
          </a:xfrm>
          <a:prstGeom prst="rect">
            <a:avLst/>
          </a:prstGeom>
          <a:noFill/>
          <a:ln/>
        </p:spPr>
        <p:txBody>
          <a:bodyPr wrap="square" lIns="0" tIns="0" rIns="0" bIns="0" rtlCol="0" anchor="ctr"/>
          <a:lstStyle/>
          <a:p>
            <a:pPr indent="0" marL="0">
              <a:buNone/>
            </a:pPr>
            <a:r>
              <a:rPr lang="en-US" sz="3000" b="1" dirty="0">
                <a:solidFill>
                  <a:srgbClr val="F5F0E8"/>
                </a:solidFill>
                <a:latin typeface="Georgia" pitchFamily="34" charset="0"/>
                <a:ea typeface="Georgia" pitchFamily="34" charset="-122"/>
                <a:cs typeface="Georgia" pitchFamily="34" charset="-120"/>
              </a:rPr>
              <a:t>Operators, builders, and market access.</a:t>
            </a:r>
            <a:endParaRPr lang="en-US" sz="3000" dirty="0"/>
          </a:p>
        </p:txBody>
      </p:sp>
      <p:sp>
        <p:nvSpPr>
          <p:cNvPr id="6" name="Text 4"/>
          <p:cNvSpPr/>
          <p:nvPr/>
        </p:nvSpPr>
        <p:spPr>
          <a:xfrm>
            <a:off x="640080" y="1554480"/>
            <a:ext cx="10911535" cy="365760"/>
          </a:xfrm>
          <a:prstGeom prst="rect">
            <a:avLst/>
          </a:prstGeom>
          <a:noFill/>
          <a:ln/>
        </p:spPr>
        <p:txBody>
          <a:bodyPr wrap="square" lIns="0" tIns="0" rIns="0" bIns="0" rtlCol="0" anchor="ctr"/>
          <a:lstStyle/>
          <a:p>
            <a:pPr indent="0" marL="0">
              <a:buNone/>
            </a:pPr>
            <a:r>
              <a:rPr lang="en-US" sz="1300" i="1" dirty="0">
                <a:solidFill>
                  <a:srgbClr val="C8C2B2"/>
                </a:solidFill>
                <a:latin typeface="Calibri" pitchFamily="34" charset="0"/>
                <a:ea typeface="Calibri" pitchFamily="34" charset="-122"/>
                <a:cs typeface="Calibri" pitchFamily="34" charset="-120"/>
              </a:rPr>
              <a:t>Anyone can fork a smart contract. You cannot fork our real-world network.</a:t>
            </a:r>
            <a:endParaRPr lang="en-US" sz="1300" dirty="0"/>
          </a:p>
        </p:txBody>
      </p:sp>
      <p:sp>
        <p:nvSpPr>
          <p:cNvPr id="7" name="Shape 5"/>
          <p:cNvSpPr/>
          <p:nvPr/>
        </p:nvSpPr>
        <p:spPr>
          <a:xfrm>
            <a:off x="640080" y="1993392"/>
            <a:ext cx="914400" cy="0"/>
          </a:xfrm>
          <a:prstGeom prst="line">
            <a:avLst/>
          </a:prstGeom>
          <a:noFill/>
          <a:ln w="15240">
            <a:solidFill>
              <a:srgbClr val="0E7C7B"/>
            </a:solidFill>
            <a:prstDash val="solid"/>
          </a:ln>
        </p:spPr>
      </p:sp>
      <p:sp>
        <p:nvSpPr>
          <p:cNvPr id="8" name="Shape 6"/>
          <p:cNvSpPr/>
          <p:nvPr/>
        </p:nvSpPr>
        <p:spPr>
          <a:xfrm>
            <a:off x="640080" y="2286000"/>
            <a:ext cx="2050633" cy="3931920"/>
          </a:xfrm>
          <a:prstGeom prst="rect">
            <a:avLst/>
          </a:prstGeom>
          <a:solidFill>
            <a:srgbClr val="12131A"/>
          </a:solidFill>
          <a:ln w="9525">
            <a:solidFill>
              <a:srgbClr val="0E7C7B"/>
            </a:solidFill>
            <a:prstDash val="solid"/>
          </a:ln>
        </p:spPr>
      </p:sp>
      <p:sp>
        <p:nvSpPr>
          <p:cNvPr id="9" name="Shape 7"/>
          <p:cNvSpPr/>
          <p:nvPr/>
        </p:nvSpPr>
        <p:spPr>
          <a:xfrm>
            <a:off x="640080" y="2286000"/>
            <a:ext cx="54864" cy="365760"/>
          </a:xfrm>
          <a:prstGeom prst="rect">
            <a:avLst/>
          </a:prstGeom>
          <a:solidFill>
            <a:srgbClr val="0E7C7B"/>
          </a:solidFill>
          <a:ln w="12700">
            <a:solidFill>
              <a:srgbClr val="0E7C7B"/>
            </a:solidFill>
            <a:prstDash val="solid"/>
          </a:ln>
        </p:spPr>
      </p:sp>
      <p:sp>
        <p:nvSpPr>
          <p:cNvPr id="10" name="Shape 8"/>
          <p:cNvSpPr/>
          <p:nvPr/>
        </p:nvSpPr>
        <p:spPr>
          <a:xfrm>
            <a:off x="1253917" y="2651760"/>
            <a:ext cx="822960" cy="822960"/>
          </a:xfrm>
          <a:prstGeom prst="ellipse">
            <a:avLst/>
          </a:prstGeom>
          <a:solidFill>
            <a:srgbClr val="0A0A0B"/>
          </a:solidFill>
          <a:ln w="9525">
            <a:solidFill>
              <a:srgbClr val="0E7C7B"/>
            </a:solidFill>
            <a:prstDash val="solid"/>
          </a:ln>
        </p:spPr>
      </p:sp>
      <p:pic>
        <p:nvPicPr>
          <p:cNvPr id="11" name="Image 0" descr="preencoded.png">    </p:cNvPr>
          <p:cNvPicPr>
            <a:picLocks noChangeAspect="1"/>
          </p:cNvPicPr>
          <p:nvPr/>
        </p:nvPicPr>
        <p:blipFill>
          <a:blip r:embed="rId1"/>
          <a:stretch>
            <a:fillRect/>
          </a:stretch>
        </p:blipFill>
        <p:spPr>
          <a:xfrm>
            <a:off x="1409365" y="2807208"/>
            <a:ext cx="512064" cy="512064"/>
          </a:xfrm>
          <a:prstGeom prst="rect">
            <a:avLst/>
          </a:prstGeom>
        </p:spPr>
      </p:pic>
      <p:sp>
        <p:nvSpPr>
          <p:cNvPr id="12" name="Text 9"/>
          <p:cNvSpPr/>
          <p:nvPr/>
        </p:nvSpPr>
        <p:spPr>
          <a:xfrm>
            <a:off x="777240" y="3611880"/>
            <a:ext cx="1776313" cy="365760"/>
          </a:xfrm>
          <a:prstGeom prst="rect">
            <a:avLst/>
          </a:prstGeom>
          <a:noFill/>
          <a:ln/>
        </p:spPr>
        <p:txBody>
          <a:bodyPr wrap="square" lIns="0" tIns="0" rIns="0" bIns="0" rtlCol="0" anchor="ctr"/>
          <a:lstStyle/>
          <a:p>
            <a:pPr algn="ctr" indent="0" marL="0">
              <a:buNone/>
            </a:pPr>
            <a:r>
              <a:rPr lang="en-US" sz="1500" b="1" dirty="0">
                <a:solidFill>
                  <a:srgbClr val="F5F0E8"/>
                </a:solidFill>
                <a:latin typeface="Georgia" pitchFamily="34" charset="0"/>
                <a:ea typeface="Georgia" pitchFamily="34" charset="-122"/>
                <a:cs typeface="Georgia" pitchFamily="34" charset="-120"/>
              </a:rPr>
              <a:t>George Dimitrov</a:t>
            </a:r>
            <a:endParaRPr lang="en-US" sz="1500" dirty="0"/>
          </a:p>
        </p:txBody>
      </p:sp>
      <p:sp>
        <p:nvSpPr>
          <p:cNvPr id="13" name="Text 10"/>
          <p:cNvSpPr/>
          <p:nvPr/>
        </p:nvSpPr>
        <p:spPr>
          <a:xfrm>
            <a:off x="777240" y="3959352"/>
            <a:ext cx="1776313" cy="292608"/>
          </a:xfrm>
          <a:prstGeom prst="rect">
            <a:avLst/>
          </a:prstGeom>
          <a:noFill/>
          <a:ln/>
        </p:spPr>
        <p:txBody>
          <a:bodyPr wrap="square" lIns="0" tIns="0" rIns="0" bIns="0" rtlCol="0" anchor="ctr"/>
          <a:lstStyle/>
          <a:p>
            <a:pPr algn="ctr" indent="0" marL="0">
              <a:buNone/>
            </a:pPr>
            <a:r>
              <a:rPr lang="en-US" sz="950" b="1" spc="200" kern="0" dirty="0">
                <a:solidFill>
                  <a:srgbClr val="0E7C7B"/>
                </a:solidFill>
                <a:latin typeface="Consolas" pitchFamily="34" charset="0"/>
                <a:ea typeface="Consolas" pitchFamily="34" charset="-122"/>
                <a:cs typeface="Consolas" pitchFamily="34" charset="-120"/>
              </a:rPr>
              <a:t>CEO / CTO</a:t>
            </a:r>
            <a:endParaRPr lang="en-US" sz="950" dirty="0"/>
          </a:p>
        </p:txBody>
      </p:sp>
      <p:sp>
        <p:nvSpPr>
          <p:cNvPr id="14" name="Shape 11"/>
          <p:cNvSpPr/>
          <p:nvPr/>
        </p:nvSpPr>
        <p:spPr>
          <a:xfrm>
            <a:off x="1005840" y="4279392"/>
            <a:ext cx="1319113" cy="0"/>
          </a:xfrm>
          <a:prstGeom prst="line">
            <a:avLst/>
          </a:prstGeom>
          <a:noFill/>
          <a:ln w="6350">
            <a:solidFill>
              <a:srgbClr val="1F1F25"/>
            </a:solidFill>
            <a:prstDash val="solid"/>
          </a:ln>
        </p:spPr>
      </p:sp>
      <p:sp>
        <p:nvSpPr>
          <p:cNvPr id="15" name="Text 12"/>
          <p:cNvSpPr/>
          <p:nvPr/>
        </p:nvSpPr>
        <p:spPr>
          <a:xfrm>
            <a:off x="822960" y="4370832"/>
            <a:ext cx="1684873" cy="1737360"/>
          </a:xfrm>
          <a:prstGeom prst="rect">
            <a:avLst/>
          </a:prstGeom>
          <a:noFill/>
          <a:ln/>
        </p:spPr>
        <p:txBody>
          <a:bodyPr wrap="square" lIns="0" tIns="0" rIns="0" bIns="0" rtlCol="0" anchor="ctr"/>
          <a:lstStyle/>
          <a:p>
            <a:pPr algn="ctr" indent="0" marL="0">
              <a:lnSpc>
                <a:spcPts val="1400"/>
              </a:lnSpc>
              <a:buNone/>
            </a:pPr>
            <a:r>
              <a:rPr lang="en-US" sz="1050" dirty="0">
                <a:solidFill>
                  <a:srgbClr val="C8C2B2"/>
                </a:solidFill>
                <a:latin typeface="Calibri" pitchFamily="34" charset="0"/>
                <a:ea typeface="Calibri" pitchFamily="34" charset="-122"/>
                <a:cs typeface="Calibri" pitchFamily="34" charset="-120"/>
              </a:rPr>
              <a:t>Global banking ops, corporate execution, regulatory acumen.</a:t>
            </a:r>
            <a:endParaRPr lang="en-US" sz="1050" dirty="0"/>
          </a:p>
        </p:txBody>
      </p:sp>
      <p:sp>
        <p:nvSpPr>
          <p:cNvPr id="16" name="Shape 13"/>
          <p:cNvSpPr/>
          <p:nvPr/>
        </p:nvSpPr>
        <p:spPr>
          <a:xfrm>
            <a:off x="2855305" y="2286000"/>
            <a:ext cx="2050633" cy="3931920"/>
          </a:xfrm>
          <a:prstGeom prst="rect">
            <a:avLst/>
          </a:prstGeom>
          <a:solidFill>
            <a:srgbClr val="12131A"/>
          </a:solidFill>
          <a:ln w="9525">
            <a:solidFill>
              <a:srgbClr val="0E7C7B"/>
            </a:solidFill>
            <a:prstDash val="solid"/>
          </a:ln>
        </p:spPr>
      </p:sp>
      <p:sp>
        <p:nvSpPr>
          <p:cNvPr id="17" name="Shape 14"/>
          <p:cNvSpPr/>
          <p:nvPr/>
        </p:nvSpPr>
        <p:spPr>
          <a:xfrm>
            <a:off x="2855305" y="2286000"/>
            <a:ext cx="54864" cy="365760"/>
          </a:xfrm>
          <a:prstGeom prst="rect">
            <a:avLst/>
          </a:prstGeom>
          <a:solidFill>
            <a:srgbClr val="0E7C7B"/>
          </a:solidFill>
          <a:ln w="12700">
            <a:solidFill>
              <a:srgbClr val="0E7C7B"/>
            </a:solidFill>
            <a:prstDash val="solid"/>
          </a:ln>
        </p:spPr>
      </p:sp>
      <p:sp>
        <p:nvSpPr>
          <p:cNvPr id="18" name="Shape 15"/>
          <p:cNvSpPr/>
          <p:nvPr/>
        </p:nvSpPr>
        <p:spPr>
          <a:xfrm>
            <a:off x="3469142" y="2651760"/>
            <a:ext cx="822960" cy="822960"/>
          </a:xfrm>
          <a:prstGeom prst="ellipse">
            <a:avLst/>
          </a:prstGeom>
          <a:solidFill>
            <a:srgbClr val="0A0A0B"/>
          </a:solidFill>
          <a:ln w="9525">
            <a:solidFill>
              <a:srgbClr val="0E7C7B"/>
            </a:solidFill>
            <a:prstDash val="solid"/>
          </a:ln>
        </p:spPr>
      </p:sp>
      <p:pic>
        <p:nvPicPr>
          <p:cNvPr id="19" name="Image 1" descr="preencoded.png">    </p:cNvPr>
          <p:cNvPicPr>
            <a:picLocks noChangeAspect="1"/>
          </p:cNvPicPr>
          <p:nvPr/>
        </p:nvPicPr>
        <p:blipFill>
          <a:blip r:embed="rId2"/>
          <a:stretch>
            <a:fillRect/>
          </a:stretch>
        </p:blipFill>
        <p:spPr>
          <a:xfrm>
            <a:off x="3624590" y="2807208"/>
            <a:ext cx="512064" cy="512064"/>
          </a:xfrm>
          <a:prstGeom prst="rect">
            <a:avLst/>
          </a:prstGeom>
        </p:spPr>
      </p:pic>
      <p:sp>
        <p:nvSpPr>
          <p:cNvPr id="20" name="Text 16"/>
          <p:cNvSpPr/>
          <p:nvPr/>
        </p:nvSpPr>
        <p:spPr>
          <a:xfrm>
            <a:off x="2992465" y="3611880"/>
            <a:ext cx="1776313" cy="365760"/>
          </a:xfrm>
          <a:prstGeom prst="rect">
            <a:avLst/>
          </a:prstGeom>
          <a:noFill/>
          <a:ln/>
        </p:spPr>
        <p:txBody>
          <a:bodyPr wrap="square" lIns="0" tIns="0" rIns="0" bIns="0" rtlCol="0" anchor="ctr"/>
          <a:lstStyle/>
          <a:p>
            <a:pPr algn="ctr" indent="0" marL="0">
              <a:buNone/>
            </a:pPr>
            <a:r>
              <a:rPr lang="en-US" sz="1500" b="1" dirty="0">
                <a:solidFill>
                  <a:srgbClr val="F5F0E8"/>
                </a:solidFill>
                <a:latin typeface="Georgia" pitchFamily="34" charset="0"/>
                <a:ea typeface="Georgia" pitchFamily="34" charset="-122"/>
                <a:cs typeface="Georgia" pitchFamily="34" charset="-120"/>
              </a:rPr>
              <a:t>Marcelo Coelho</a:t>
            </a:r>
            <a:endParaRPr lang="en-US" sz="1500" dirty="0"/>
          </a:p>
        </p:txBody>
      </p:sp>
      <p:sp>
        <p:nvSpPr>
          <p:cNvPr id="21" name="Text 17"/>
          <p:cNvSpPr/>
          <p:nvPr/>
        </p:nvSpPr>
        <p:spPr>
          <a:xfrm>
            <a:off x="2992465" y="3959352"/>
            <a:ext cx="1776313" cy="292608"/>
          </a:xfrm>
          <a:prstGeom prst="rect">
            <a:avLst/>
          </a:prstGeom>
          <a:noFill/>
          <a:ln/>
        </p:spPr>
        <p:txBody>
          <a:bodyPr wrap="square" lIns="0" tIns="0" rIns="0" bIns="0" rtlCol="0" anchor="ctr"/>
          <a:lstStyle/>
          <a:p>
            <a:pPr algn="ctr" indent="0" marL="0">
              <a:buNone/>
            </a:pPr>
            <a:r>
              <a:rPr lang="en-US" sz="950" b="1" spc="200" kern="0" dirty="0">
                <a:solidFill>
                  <a:srgbClr val="0E7C7B"/>
                </a:solidFill>
                <a:latin typeface="Consolas" pitchFamily="34" charset="0"/>
                <a:ea typeface="Consolas" pitchFamily="34" charset="-122"/>
                <a:cs typeface="Consolas" pitchFamily="34" charset="-120"/>
              </a:rPr>
              <a:t>COO  ·  Gitel CEO</a:t>
            </a:r>
            <a:endParaRPr lang="en-US" sz="950" dirty="0"/>
          </a:p>
        </p:txBody>
      </p:sp>
      <p:sp>
        <p:nvSpPr>
          <p:cNvPr id="22" name="Shape 18"/>
          <p:cNvSpPr/>
          <p:nvPr/>
        </p:nvSpPr>
        <p:spPr>
          <a:xfrm>
            <a:off x="3221065" y="4279392"/>
            <a:ext cx="1319113" cy="0"/>
          </a:xfrm>
          <a:prstGeom prst="line">
            <a:avLst/>
          </a:prstGeom>
          <a:noFill/>
          <a:ln w="6350">
            <a:solidFill>
              <a:srgbClr val="1F1F25"/>
            </a:solidFill>
            <a:prstDash val="solid"/>
          </a:ln>
        </p:spPr>
      </p:sp>
      <p:sp>
        <p:nvSpPr>
          <p:cNvPr id="23" name="Text 19"/>
          <p:cNvSpPr/>
          <p:nvPr/>
        </p:nvSpPr>
        <p:spPr>
          <a:xfrm>
            <a:off x="3038185" y="4370832"/>
            <a:ext cx="1684873" cy="1737360"/>
          </a:xfrm>
          <a:prstGeom prst="rect">
            <a:avLst/>
          </a:prstGeom>
          <a:noFill/>
          <a:ln/>
        </p:spPr>
        <p:txBody>
          <a:bodyPr wrap="square" lIns="0" tIns="0" rIns="0" bIns="0" rtlCol="0" anchor="ctr"/>
          <a:lstStyle/>
          <a:p>
            <a:pPr algn="ctr" indent="0" marL="0">
              <a:lnSpc>
                <a:spcPts val="1400"/>
              </a:lnSpc>
              <a:buNone/>
            </a:pPr>
            <a:r>
              <a:rPr lang="en-US" sz="1050" dirty="0">
                <a:solidFill>
                  <a:srgbClr val="C8C2B2"/>
                </a:solidFill>
                <a:latin typeface="Calibri" pitchFamily="34" charset="0"/>
                <a:ea typeface="Calibri" pitchFamily="34" charset="-122"/>
                <a:cs typeface="Calibri" pitchFamily="34" charset="-120"/>
              </a:rPr>
              <a:t>38 yrs Brazilian electronic-security &amp; IoT infra — the stack behind Vaulx's custody invariant.</a:t>
            </a:r>
            <a:endParaRPr lang="en-US" sz="1050" dirty="0"/>
          </a:p>
        </p:txBody>
      </p:sp>
      <p:sp>
        <p:nvSpPr>
          <p:cNvPr id="24" name="Shape 20"/>
          <p:cNvSpPr/>
          <p:nvPr/>
        </p:nvSpPr>
        <p:spPr>
          <a:xfrm>
            <a:off x="5070531" y="2286000"/>
            <a:ext cx="2050633" cy="3931920"/>
          </a:xfrm>
          <a:prstGeom prst="rect">
            <a:avLst/>
          </a:prstGeom>
          <a:solidFill>
            <a:srgbClr val="12131A"/>
          </a:solidFill>
          <a:ln w="9525">
            <a:solidFill>
              <a:srgbClr val="0E7C7B"/>
            </a:solidFill>
            <a:prstDash val="solid"/>
          </a:ln>
        </p:spPr>
      </p:sp>
      <p:sp>
        <p:nvSpPr>
          <p:cNvPr id="25" name="Shape 21"/>
          <p:cNvSpPr/>
          <p:nvPr/>
        </p:nvSpPr>
        <p:spPr>
          <a:xfrm>
            <a:off x="5070531" y="2286000"/>
            <a:ext cx="54864" cy="365760"/>
          </a:xfrm>
          <a:prstGeom prst="rect">
            <a:avLst/>
          </a:prstGeom>
          <a:solidFill>
            <a:srgbClr val="0E7C7B"/>
          </a:solidFill>
          <a:ln w="12700">
            <a:solidFill>
              <a:srgbClr val="0E7C7B"/>
            </a:solidFill>
            <a:prstDash val="solid"/>
          </a:ln>
        </p:spPr>
      </p:sp>
      <p:sp>
        <p:nvSpPr>
          <p:cNvPr id="26" name="Shape 22"/>
          <p:cNvSpPr/>
          <p:nvPr/>
        </p:nvSpPr>
        <p:spPr>
          <a:xfrm>
            <a:off x="5684368" y="2651760"/>
            <a:ext cx="822960" cy="822960"/>
          </a:xfrm>
          <a:prstGeom prst="ellipse">
            <a:avLst/>
          </a:prstGeom>
          <a:solidFill>
            <a:srgbClr val="0A0A0B"/>
          </a:solidFill>
          <a:ln w="9525">
            <a:solidFill>
              <a:srgbClr val="0E7C7B"/>
            </a:solidFill>
            <a:prstDash val="solid"/>
          </a:ln>
        </p:spPr>
      </p:sp>
      <p:pic>
        <p:nvPicPr>
          <p:cNvPr id="27" name="Image 2" descr="preencoded.png">    </p:cNvPr>
          <p:cNvPicPr>
            <a:picLocks noChangeAspect="1"/>
          </p:cNvPicPr>
          <p:nvPr/>
        </p:nvPicPr>
        <p:blipFill>
          <a:blip r:embed="rId3"/>
          <a:stretch>
            <a:fillRect/>
          </a:stretch>
        </p:blipFill>
        <p:spPr>
          <a:xfrm>
            <a:off x="5839816" y="2807208"/>
            <a:ext cx="512064" cy="512064"/>
          </a:xfrm>
          <a:prstGeom prst="rect">
            <a:avLst/>
          </a:prstGeom>
        </p:spPr>
      </p:pic>
      <p:sp>
        <p:nvSpPr>
          <p:cNvPr id="28" name="Text 23"/>
          <p:cNvSpPr/>
          <p:nvPr/>
        </p:nvSpPr>
        <p:spPr>
          <a:xfrm>
            <a:off x="5207691" y="3611880"/>
            <a:ext cx="1776313" cy="365760"/>
          </a:xfrm>
          <a:prstGeom prst="rect">
            <a:avLst/>
          </a:prstGeom>
          <a:noFill/>
          <a:ln/>
        </p:spPr>
        <p:txBody>
          <a:bodyPr wrap="square" lIns="0" tIns="0" rIns="0" bIns="0" rtlCol="0" anchor="ctr"/>
          <a:lstStyle/>
          <a:p>
            <a:pPr algn="ctr" indent="0" marL="0">
              <a:buNone/>
            </a:pPr>
            <a:r>
              <a:rPr lang="en-US" sz="1500" b="1" dirty="0">
                <a:solidFill>
                  <a:srgbClr val="F5F0E8"/>
                </a:solidFill>
                <a:latin typeface="Georgia" pitchFamily="34" charset="0"/>
                <a:ea typeface="Georgia" pitchFamily="34" charset="-122"/>
                <a:cs typeface="Georgia" pitchFamily="34" charset="-120"/>
              </a:rPr>
              <a:t>Rodrigo Coelho</a:t>
            </a:r>
            <a:endParaRPr lang="en-US" sz="1500" dirty="0"/>
          </a:p>
        </p:txBody>
      </p:sp>
      <p:sp>
        <p:nvSpPr>
          <p:cNvPr id="29" name="Text 24"/>
          <p:cNvSpPr/>
          <p:nvPr/>
        </p:nvSpPr>
        <p:spPr>
          <a:xfrm>
            <a:off x="5207691" y="3959352"/>
            <a:ext cx="1776313" cy="292608"/>
          </a:xfrm>
          <a:prstGeom prst="rect">
            <a:avLst/>
          </a:prstGeom>
          <a:noFill/>
          <a:ln/>
        </p:spPr>
        <p:txBody>
          <a:bodyPr wrap="square" lIns="0" tIns="0" rIns="0" bIns="0" rtlCol="0" anchor="ctr"/>
          <a:lstStyle/>
          <a:p>
            <a:pPr algn="ctr" indent="0" marL="0">
              <a:buNone/>
            </a:pPr>
            <a:r>
              <a:rPr lang="en-US" sz="950" b="1" spc="200" kern="0" dirty="0">
                <a:solidFill>
                  <a:srgbClr val="0E7C7B"/>
                </a:solidFill>
                <a:latin typeface="Consolas" pitchFamily="34" charset="0"/>
                <a:ea typeface="Consolas" pitchFamily="34" charset="-122"/>
                <a:cs typeface="Consolas" pitchFamily="34" charset="-120"/>
              </a:rPr>
              <a:t>Chief Growth</a:t>
            </a:r>
            <a:endParaRPr lang="en-US" sz="950" dirty="0"/>
          </a:p>
        </p:txBody>
      </p:sp>
      <p:sp>
        <p:nvSpPr>
          <p:cNvPr id="30" name="Shape 25"/>
          <p:cNvSpPr/>
          <p:nvPr/>
        </p:nvSpPr>
        <p:spPr>
          <a:xfrm>
            <a:off x="5436291" y="4279392"/>
            <a:ext cx="1319113" cy="0"/>
          </a:xfrm>
          <a:prstGeom prst="line">
            <a:avLst/>
          </a:prstGeom>
          <a:noFill/>
          <a:ln w="6350">
            <a:solidFill>
              <a:srgbClr val="1F1F25"/>
            </a:solidFill>
            <a:prstDash val="solid"/>
          </a:ln>
        </p:spPr>
      </p:sp>
      <p:sp>
        <p:nvSpPr>
          <p:cNvPr id="31" name="Text 26"/>
          <p:cNvSpPr/>
          <p:nvPr/>
        </p:nvSpPr>
        <p:spPr>
          <a:xfrm>
            <a:off x="5253411" y="4370832"/>
            <a:ext cx="1684873" cy="1737360"/>
          </a:xfrm>
          <a:prstGeom prst="rect">
            <a:avLst/>
          </a:prstGeom>
          <a:noFill/>
          <a:ln/>
        </p:spPr>
        <p:txBody>
          <a:bodyPr wrap="square" lIns="0" tIns="0" rIns="0" bIns="0" rtlCol="0" anchor="ctr"/>
          <a:lstStyle/>
          <a:p>
            <a:pPr algn="ctr" indent="0" marL="0">
              <a:lnSpc>
                <a:spcPts val="1400"/>
              </a:lnSpc>
              <a:buNone/>
            </a:pPr>
            <a:r>
              <a:rPr lang="en-US" sz="1050" dirty="0">
                <a:solidFill>
                  <a:srgbClr val="C8C2B2"/>
                </a:solidFill>
                <a:latin typeface="Calibri" pitchFamily="34" charset="0"/>
                <a:ea typeface="Calibri" pitchFamily="34" charset="-122"/>
                <a:cs typeface="Calibri" pitchFamily="34" charset="-120"/>
              </a:rPr>
              <a:t>LATAM institutional network, market entry, commercial partnerships.</a:t>
            </a:r>
            <a:endParaRPr lang="en-US" sz="1050" dirty="0"/>
          </a:p>
        </p:txBody>
      </p:sp>
      <p:sp>
        <p:nvSpPr>
          <p:cNvPr id="32" name="Shape 27"/>
          <p:cNvSpPr/>
          <p:nvPr/>
        </p:nvSpPr>
        <p:spPr>
          <a:xfrm>
            <a:off x="7285756" y="2286000"/>
            <a:ext cx="2050633" cy="3931920"/>
          </a:xfrm>
          <a:prstGeom prst="rect">
            <a:avLst/>
          </a:prstGeom>
          <a:solidFill>
            <a:srgbClr val="12131A"/>
          </a:solidFill>
          <a:ln w="9525">
            <a:solidFill>
              <a:srgbClr val="0E7C7B"/>
            </a:solidFill>
            <a:prstDash val="solid"/>
          </a:ln>
        </p:spPr>
      </p:sp>
      <p:sp>
        <p:nvSpPr>
          <p:cNvPr id="33" name="Shape 28"/>
          <p:cNvSpPr/>
          <p:nvPr/>
        </p:nvSpPr>
        <p:spPr>
          <a:xfrm>
            <a:off x="7285756" y="2286000"/>
            <a:ext cx="54864" cy="365760"/>
          </a:xfrm>
          <a:prstGeom prst="rect">
            <a:avLst/>
          </a:prstGeom>
          <a:solidFill>
            <a:srgbClr val="0E7C7B"/>
          </a:solidFill>
          <a:ln w="12700">
            <a:solidFill>
              <a:srgbClr val="0E7C7B"/>
            </a:solidFill>
            <a:prstDash val="solid"/>
          </a:ln>
        </p:spPr>
      </p:sp>
      <p:sp>
        <p:nvSpPr>
          <p:cNvPr id="34" name="Shape 29"/>
          <p:cNvSpPr/>
          <p:nvPr/>
        </p:nvSpPr>
        <p:spPr>
          <a:xfrm>
            <a:off x="7899593" y="2651760"/>
            <a:ext cx="822960" cy="822960"/>
          </a:xfrm>
          <a:prstGeom prst="ellipse">
            <a:avLst/>
          </a:prstGeom>
          <a:solidFill>
            <a:srgbClr val="0A0A0B"/>
          </a:solidFill>
          <a:ln w="9525">
            <a:solidFill>
              <a:srgbClr val="0E7C7B"/>
            </a:solidFill>
            <a:prstDash val="solid"/>
          </a:ln>
        </p:spPr>
      </p:sp>
      <p:pic>
        <p:nvPicPr>
          <p:cNvPr id="35" name="Image 3" descr="preencoded.png">    </p:cNvPr>
          <p:cNvPicPr>
            <a:picLocks noChangeAspect="1"/>
          </p:cNvPicPr>
          <p:nvPr/>
        </p:nvPicPr>
        <p:blipFill>
          <a:blip r:embed="rId4"/>
          <a:stretch>
            <a:fillRect/>
          </a:stretch>
        </p:blipFill>
        <p:spPr>
          <a:xfrm>
            <a:off x="8055041" y="2807208"/>
            <a:ext cx="512064" cy="512064"/>
          </a:xfrm>
          <a:prstGeom prst="rect">
            <a:avLst/>
          </a:prstGeom>
        </p:spPr>
      </p:pic>
      <p:sp>
        <p:nvSpPr>
          <p:cNvPr id="36" name="Text 30"/>
          <p:cNvSpPr/>
          <p:nvPr/>
        </p:nvSpPr>
        <p:spPr>
          <a:xfrm>
            <a:off x="7422916" y="3611880"/>
            <a:ext cx="1776313" cy="365760"/>
          </a:xfrm>
          <a:prstGeom prst="rect">
            <a:avLst/>
          </a:prstGeom>
          <a:noFill/>
          <a:ln/>
        </p:spPr>
        <p:txBody>
          <a:bodyPr wrap="square" lIns="0" tIns="0" rIns="0" bIns="0" rtlCol="0" anchor="ctr"/>
          <a:lstStyle/>
          <a:p>
            <a:pPr algn="ctr" indent="0" marL="0">
              <a:buNone/>
            </a:pPr>
            <a:r>
              <a:rPr lang="en-US" sz="1500" b="1" dirty="0">
                <a:solidFill>
                  <a:srgbClr val="F5F0E8"/>
                </a:solidFill>
                <a:latin typeface="Georgia" pitchFamily="34" charset="0"/>
                <a:ea typeface="Georgia" pitchFamily="34" charset="-122"/>
                <a:cs typeface="Georgia" pitchFamily="34" charset="-120"/>
              </a:rPr>
              <a:t>Edson Pohren</a:t>
            </a:r>
            <a:endParaRPr lang="en-US" sz="1500" dirty="0"/>
          </a:p>
        </p:txBody>
      </p:sp>
      <p:sp>
        <p:nvSpPr>
          <p:cNvPr id="37" name="Text 31"/>
          <p:cNvSpPr/>
          <p:nvPr/>
        </p:nvSpPr>
        <p:spPr>
          <a:xfrm>
            <a:off x="7422916" y="3959352"/>
            <a:ext cx="1776313" cy="292608"/>
          </a:xfrm>
          <a:prstGeom prst="rect">
            <a:avLst/>
          </a:prstGeom>
          <a:noFill/>
          <a:ln/>
        </p:spPr>
        <p:txBody>
          <a:bodyPr wrap="square" lIns="0" tIns="0" rIns="0" bIns="0" rtlCol="0" anchor="ctr"/>
          <a:lstStyle/>
          <a:p>
            <a:pPr algn="ctr" indent="0" marL="0">
              <a:buNone/>
            </a:pPr>
            <a:r>
              <a:rPr lang="en-US" sz="950" b="1" spc="200" kern="0" dirty="0">
                <a:solidFill>
                  <a:srgbClr val="0E7C7B"/>
                </a:solidFill>
                <a:latin typeface="Consolas" pitchFamily="34" charset="0"/>
                <a:ea typeface="Consolas" pitchFamily="34" charset="-122"/>
                <a:cs typeface="Consolas" pitchFamily="34" charset="-120"/>
              </a:rPr>
              <a:t>Senior Solana Eng</a:t>
            </a:r>
            <a:endParaRPr lang="en-US" sz="950" dirty="0"/>
          </a:p>
        </p:txBody>
      </p:sp>
      <p:sp>
        <p:nvSpPr>
          <p:cNvPr id="38" name="Shape 32"/>
          <p:cNvSpPr/>
          <p:nvPr/>
        </p:nvSpPr>
        <p:spPr>
          <a:xfrm>
            <a:off x="7651516" y="4279392"/>
            <a:ext cx="1319113" cy="0"/>
          </a:xfrm>
          <a:prstGeom prst="line">
            <a:avLst/>
          </a:prstGeom>
          <a:noFill/>
          <a:ln w="6350">
            <a:solidFill>
              <a:srgbClr val="1F1F25"/>
            </a:solidFill>
            <a:prstDash val="solid"/>
          </a:ln>
        </p:spPr>
      </p:sp>
      <p:sp>
        <p:nvSpPr>
          <p:cNvPr id="39" name="Text 33"/>
          <p:cNvSpPr/>
          <p:nvPr/>
        </p:nvSpPr>
        <p:spPr>
          <a:xfrm>
            <a:off x="7468636" y="4370832"/>
            <a:ext cx="1684873" cy="1737360"/>
          </a:xfrm>
          <a:prstGeom prst="rect">
            <a:avLst/>
          </a:prstGeom>
          <a:noFill/>
          <a:ln/>
        </p:spPr>
        <p:txBody>
          <a:bodyPr wrap="square" lIns="0" tIns="0" rIns="0" bIns="0" rtlCol="0" anchor="ctr"/>
          <a:lstStyle/>
          <a:p>
            <a:pPr algn="ctr" indent="0" marL="0">
              <a:lnSpc>
                <a:spcPts val="1400"/>
              </a:lnSpc>
              <a:buNone/>
            </a:pPr>
            <a:r>
              <a:rPr lang="en-US" sz="1050" dirty="0">
                <a:solidFill>
                  <a:srgbClr val="C8C2B2"/>
                </a:solidFill>
                <a:latin typeface="Calibri" pitchFamily="34" charset="0"/>
                <a:ea typeface="Calibri" pitchFamily="34" charset="-122"/>
                <a:cs typeface="Calibri" pitchFamily="34" charset="-120"/>
              </a:rPr>
              <a:t>Anchor, Bubblegum, oracle integration. Ships the on-chain stack.</a:t>
            </a:r>
            <a:endParaRPr lang="en-US" sz="1050" dirty="0"/>
          </a:p>
        </p:txBody>
      </p:sp>
      <p:sp>
        <p:nvSpPr>
          <p:cNvPr id="40" name="Shape 34"/>
          <p:cNvSpPr/>
          <p:nvPr/>
        </p:nvSpPr>
        <p:spPr>
          <a:xfrm>
            <a:off x="9500982" y="2286000"/>
            <a:ext cx="2050633" cy="3931920"/>
          </a:xfrm>
          <a:prstGeom prst="rect">
            <a:avLst/>
          </a:prstGeom>
          <a:solidFill>
            <a:srgbClr val="12131A"/>
          </a:solidFill>
          <a:ln w="9525">
            <a:solidFill>
              <a:srgbClr val="0E7C7B"/>
            </a:solidFill>
            <a:prstDash val="solid"/>
          </a:ln>
        </p:spPr>
      </p:sp>
      <p:sp>
        <p:nvSpPr>
          <p:cNvPr id="41" name="Shape 35"/>
          <p:cNvSpPr/>
          <p:nvPr/>
        </p:nvSpPr>
        <p:spPr>
          <a:xfrm>
            <a:off x="9500982" y="2286000"/>
            <a:ext cx="54864" cy="365760"/>
          </a:xfrm>
          <a:prstGeom prst="rect">
            <a:avLst/>
          </a:prstGeom>
          <a:solidFill>
            <a:srgbClr val="0E7C7B"/>
          </a:solidFill>
          <a:ln w="12700">
            <a:solidFill>
              <a:srgbClr val="0E7C7B"/>
            </a:solidFill>
            <a:prstDash val="solid"/>
          </a:ln>
        </p:spPr>
      </p:sp>
      <p:sp>
        <p:nvSpPr>
          <p:cNvPr id="42" name="Shape 36"/>
          <p:cNvSpPr/>
          <p:nvPr/>
        </p:nvSpPr>
        <p:spPr>
          <a:xfrm>
            <a:off x="10114818" y="2651760"/>
            <a:ext cx="822960" cy="822960"/>
          </a:xfrm>
          <a:prstGeom prst="ellipse">
            <a:avLst/>
          </a:prstGeom>
          <a:solidFill>
            <a:srgbClr val="0A0A0B"/>
          </a:solidFill>
          <a:ln w="9525">
            <a:solidFill>
              <a:srgbClr val="0E7C7B"/>
            </a:solidFill>
            <a:prstDash val="solid"/>
          </a:ln>
        </p:spPr>
      </p:sp>
      <p:pic>
        <p:nvPicPr>
          <p:cNvPr id="43" name="Image 4" descr="preencoded.png">    </p:cNvPr>
          <p:cNvPicPr>
            <a:picLocks noChangeAspect="1"/>
          </p:cNvPicPr>
          <p:nvPr/>
        </p:nvPicPr>
        <p:blipFill>
          <a:blip r:embed="rId5"/>
          <a:stretch>
            <a:fillRect/>
          </a:stretch>
        </p:blipFill>
        <p:spPr>
          <a:xfrm>
            <a:off x="10270266" y="2807208"/>
            <a:ext cx="512064" cy="512064"/>
          </a:xfrm>
          <a:prstGeom prst="rect">
            <a:avLst/>
          </a:prstGeom>
        </p:spPr>
      </p:pic>
      <p:sp>
        <p:nvSpPr>
          <p:cNvPr id="44" name="Text 37"/>
          <p:cNvSpPr/>
          <p:nvPr/>
        </p:nvSpPr>
        <p:spPr>
          <a:xfrm>
            <a:off x="9638142" y="3611880"/>
            <a:ext cx="1776313" cy="365760"/>
          </a:xfrm>
          <a:prstGeom prst="rect">
            <a:avLst/>
          </a:prstGeom>
          <a:noFill/>
          <a:ln/>
        </p:spPr>
        <p:txBody>
          <a:bodyPr wrap="square" lIns="0" tIns="0" rIns="0" bIns="0" rtlCol="0" anchor="ctr"/>
          <a:lstStyle/>
          <a:p>
            <a:pPr algn="ctr" indent="0" marL="0">
              <a:buNone/>
            </a:pPr>
            <a:r>
              <a:rPr lang="en-US" sz="1500" b="1" dirty="0">
                <a:solidFill>
                  <a:srgbClr val="F5F0E8"/>
                </a:solidFill>
                <a:latin typeface="Georgia" pitchFamily="34" charset="0"/>
                <a:ea typeface="Georgia" pitchFamily="34" charset="-122"/>
                <a:cs typeface="Georgia" pitchFamily="34" charset="-120"/>
              </a:rPr>
              <a:t>Felipe Veloso</a:t>
            </a:r>
            <a:endParaRPr lang="en-US" sz="1500" dirty="0"/>
          </a:p>
        </p:txBody>
      </p:sp>
      <p:sp>
        <p:nvSpPr>
          <p:cNvPr id="45" name="Text 38"/>
          <p:cNvSpPr/>
          <p:nvPr/>
        </p:nvSpPr>
        <p:spPr>
          <a:xfrm>
            <a:off x="9638142" y="3959352"/>
            <a:ext cx="1776313" cy="292608"/>
          </a:xfrm>
          <a:prstGeom prst="rect">
            <a:avLst/>
          </a:prstGeom>
          <a:noFill/>
          <a:ln/>
        </p:spPr>
        <p:txBody>
          <a:bodyPr wrap="square" lIns="0" tIns="0" rIns="0" bIns="0" rtlCol="0" anchor="ctr"/>
          <a:lstStyle/>
          <a:p>
            <a:pPr algn="ctr" indent="0" marL="0">
              <a:buNone/>
            </a:pPr>
            <a:r>
              <a:rPr lang="en-US" sz="950" b="1" spc="200" kern="0" dirty="0">
                <a:solidFill>
                  <a:srgbClr val="0E7C7B"/>
                </a:solidFill>
                <a:latin typeface="Consolas" pitchFamily="34" charset="0"/>
                <a:ea typeface="Consolas" pitchFamily="34" charset="-122"/>
                <a:cs typeface="Consolas" pitchFamily="34" charset="-120"/>
              </a:rPr>
              <a:t>DeFi Advisor</a:t>
            </a:r>
            <a:endParaRPr lang="en-US" sz="950" dirty="0"/>
          </a:p>
        </p:txBody>
      </p:sp>
      <p:sp>
        <p:nvSpPr>
          <p:cNvPr id="46" name="Shape 39"/>
          <p:cNvSpPr/>
          <p:nvPr/>
        </p:nvSpPr>
        <p:spPr>
          <a:xfrm>
            <a:off x="9866742" y="4279392"/>
            <a:ext cx="1319113" cy="0"/>
          </a:xfrm>
          <a:prstGeom prst="line">
            <a:avLst/>
          </a:prstGeom>
          <a:noFill/>
          <a:ln w="6350">
            <a:solidFill>
              <a:srgbClr val="1F1F25"/>
            </a:solidFill>
            <a:prstDash val="solid"/>
          </a:ln>
        </p:spPr>
      </p:sp>
      <p:sp>
        <p:nvSpPr>
          <p:cNvPr id="47" name="Text 40"/>
          <p:cNvSpPr/>
          <p:nvPr/>
        </p:nvSpPr>
        <p:spPr>
          <a:xfrm>
            <a:off x="9683862" y="4370832"/>
            <a:ext cx="1684873" cy="1737360"/>
          </a:xfrm>
          <a:prstGeom prst="rect">
            <a:avLst/>
          </a:prstGeom>
          <a:noFill/>
          <a:ln/>
        </p:spPr>
        <p:txBody>
          <a:bodyPr wrap="square" lIns="0" tIns="0" rIns="0" bIns="0" rtlCol="0" anchor="ctr"/>
          <a:lstStyle/>
          <a:p>
            <a:pPr algn="ctr" indent="0" marL="0">
              <a:lnSpc>
                <a:spcPts val="1400"/>
              </a:lnSpc>
              <a:buNone/>
            </a:pPr>
            <a:r>
              <a:rPr lang="en-US" sz="1050" dirty="0">
                <a:solidFill>
                  <a:srgbClr val="C8C2B2"/>
                </a:solidFill>
                <a:latin typeface="Calibri" pitchFamily="34" charset="0"/>
                <a:ea typeface="Calibri" pitchFamily="34" charset="-122"/>
                <a:cs typeface="Calibri" pitchFamily="34" charset="-120"/>
              </a:rPr>
              <a:t>4p.finance founder. São Paulo luxury watch flow on crypto rails. US/BR DeFi network.</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640080" y="530352"/>
            <a:ext cx="109728" cy="22860"/>
          </a:xfrm>
          <a:prstGeom prst="rect">
            <a:avLst/>
          </a:prstGeom>
          <a:solidFill>
            <a:srgbClr val="0E7C7B"/>
          </a:solidFill>
          <a:ln w="12700">
            <a:solidFill>
              <a:srgbClr val="0E7C7B"/>
            </a:solidFill>
            <a:prstDash val="solid"/>
          </a:ln>
        </p:spPr>
      </p:sp>
      <p:sp>
        <p:nvSpPr>
          <p:cNvPr id="3" name="Text 1"/>
          <p:cNvSpPr/>
          <p:nvPr/>
        </p:nvSpPr>
        <p:spPr>
          <a:xfrm>
            <a:off x="804672" y="457200"/>
            <a:ext cx="5321808" cy="228600"/>
          </a:xfrm>
          <a:prstGeom prst="rect">
            <a:avLst/>
          </a:prstGeom>
          <a:noFill/>
          <a:ln/>
        </p:spPr>
        <p:txBody>
          <a:bodyPr wrap="square" lIns="0" tIns="0" rIns="0" bIns="0" rtlCol="0" anchor="ctr"/>
          <a:lstStyle/>
          <a:p>
            <a:pPr indent="0" marL="0">
              <a:buNone/>
            </a:pPr>
            <a:r>
              <a:rPr lang="en-US" sz="950" b="1" spc="400" kern="0" dirty="0">
                <a:solidFill>
                  <a:srgbClr val="0E7C7B"/>
                </a:solidFill>
                <a:latin typeface="Consolas" pitchFamily="34" charset="0"/>
                <a:ea typeface="Consolas" pitchFamily="34" charset="-122"/>
                <a:cs typeface="Consolas" pitchFamily="34" charset="-120"/>
              </a:rPr>
              <a:t>09  /  ASK  ·  ROADMAP</a:t>
            </a:r>
            <a:endParaRPr lang="en-US" sz="950" dirty="0"/>
          </a:p>
        </p:txBody>
      </p:sp>
      <p:sp>
        <p:nvSpPr>
          <p:cNvPr id="4" name="Text 2"/>
          <p:cNvSpPr/>
          <p:nvPr/>
        </p:nvSpPr>
        <p:spPr>
          <a:xfrm>
            <a:off x="10911535" y="274320"/>
            <a:ext cx="914400" cy="228600"/>
          </a:xfrm>
          <a:prstGeom prst="rect">
            <a:avLst/>
          </a:prstGeom>
          <a:noFill/>
          <a:ln/>
        </p:spPr>
        <p:txBody>
          <a:bodyPr wrap="square" lIns="0" tIns="0" rIns="0" bIns="0" rtlCol="0" anchor="ctr"/>
          <a:lstStyle/>
          <a:p>
            <a:pPr algn="r" indent="0" marL="0">
              <a:buNone/>
            </a:pPr>
            <a:r>
              <a:rPr lang="en-US" sz="900" spc="300" kern="0" dirty="0">
                <a:solidFill>
                  <a:srgbClr val="8A8A90"/>
                </a:solidFill>
                <a:latin typeface="Consolas" pitchFamily="34" charset="0"/>
                <a:ea typeface="Consolas" pitchFamily="34" charset="-122"/>
                <a:cs typeface="Consolas" pitchFamily="34" charset="-120"/>
              </a:rPr>
              <a:t>09 / 09</a:t>
            </a:r>
            <a:endParaRPr lang="en-US" sz="900" dirty="0"/>
          </a:p>
        </p:txBody>
      </p:sp>
      <p:sp>
        <p:nvSpPr>
          <p:cNvPr id="5" name="Text 3"/>
          <p:cNvSpPr/>
          <p:nvPr/>
        </p:nvSpPr>
        <p:spPr>
          <a:xfrm>
            <a:off x="640080" y="777240"/>
            <a:ext cx="10911535" cy="868680"/>
          </a:xfrm>
          <a:prstGeom prst="rect">
            <a:avLst/>
          </a:prstGeom>
          <a:noFill/>
          <a:ln/>
        </p:spPr>
        <p:txBody>
          <a:bodyPr wrap="square" lIns="0" tIns="0" rIns="0" bIns="0" rtlCol="0" anchor="ctr"/>
          <a:lstStyle/>
          <a:p>
            <a:pPr indent="0" marL="0">
              <a:buNone/>
            </a:pPr>
            <a:r>
              <a:rPr lang="en-US" sz="3600" b="1" dirty="0">
                <a:solidFill>
                  <a:srgbClr val="F5F0E8"/>
                </a:solidFill>
                <a:latin typeface="Georgia" pitchFamily="34" charset="0"/>
                <a:ea typeface="Georgia" pitchFamily="34" charset="-122"/>
                <a:cs typeface="Georgia" pitchFamily="34" charset="-120"/>
              </a:rPr>
              <a:t>Mainnet in 90 days.</a:t>
            </a:r>
            <a:endParaRPr lang="en-US" sz="3600" dirty="0"/>
          </a:p>
        </p:txBody>
      </p:sp>
      <p:sp>
        <p:nvSpPr>
          <p:cNvPr id="6" name="Shape 4"/>
          <p:cNvSpPr/>
          <p:nvPr/>
        </p:nvSpPr>
        <p:spPr>
          <a:xfrm>
            <a:off x="640080" y="1783080"/>
            <a:ext cx="914400" cy="0"/>
          </a:xfrm>
          <a:prstGeom prst="line">
            <a:avLst/>
          </a:prstGeom>
          <a:noFill/>
          <a:ln w="19050">
            <a:solidFill>
              <a:srgbClr val="C9A86A"/>
            </a:solidFill>
            <a:prstDash val="solid"/>
          </a:ln>
        </p:spPr>
      </p:sp>
      <p:sp>
        <p:nvSpPr>
          <p:cNvPr id="7" name="Shape 5"/>
          <p:cNvSpPr/>
          <p:nvPr/>
        </p:nvSpPr>
        <p:spPr>
          <a:xfrm>
            <a:off x="640080" y="2103120"/>
            <a:ext cx="5943600" cy="4023360"/>
          </a:xfrm>
          <a:prstGeom prst="rect">
            <a:avLst/>
          </a:prstGeom>
          <a:solidFill>
            <a:srgbClr val="12131A"/>
          </a:solidFill>
          <a:ln w="19050">
            <a:solidFill>
              <a:srgbClr val="C9A86A"/>
            </a:solidFill>
            <a:prstDash val="solid"/>
          </a:ln>
        </p:spPr>
      </p:sp>
      <p:sp>
        <p:nvSpPr>
          <p:cNvPr id="8" name="Shape 6"/>
          <p:cNvSpPr/>
          <p:nvPr/>
        </p:nvSpPr>
        <p:spPr>
          <a:xfrm>
            <a:off x="640080" y="2103120"/>
            <a:ext cx="91440" cy="4023360"/>
          </a:xfrm>
          <a:prstGeom prst="rect">
            <a:avLst/>
          </a:prstGeom>
          <a:solidFill>
            <a:srgbClr val="C9A86A"/>
          </a:solidFill>
          <a:ln w="12700">
            <a:solidFill>
              <a:srgbClr val="C9A86A"/>
            </a:solidFill>
            <a:prstDash val="solid"/>
          </a:ln>
        </p:spPr>
      </p:sp>
      <p:sp>
        <p:nvSpPr>
          <p:cNvPr id="9" name="Text 7"/>
          <p:cNvSpPr/>
          <p:nvPr/>
        </p:nvSpPr>
        <p:spPr>
          <a:xfrm>
            <a:off x="1005840" y="2377440"/>
            <a:ext cx="5394960" cy="274320"/>
          </a:xfrm>
          <a:prstGeom prst="rect">
            <a:avLst/>
          </a:prstGeom>
          <a:noFill/>
          <a:ln/>
        </p:spPr>
        <p:txBody>
          <a:bodyPr wrap="square" lIns="0" tIns="0" rIns="0" bIns="0" rtlCol="0" anchor="ctr"/>
          <a:lstStyle/>
          <a:p>
            <a:pPr indent="0" marL="0">
              <a:buNone/>
            </a:pPr>
            <a:r>
              <a:rPr lang="en-US" sz="1100" b="1" spc="500" kern="0" dirty="0">
                <a:solidFill>
                  <a:srgbClr val="C9A86A"/>
                </a:solidFill>
                <a:latin typeface="Consolas" pitchFamily="34" charset="0"/>
                <a:ea typeface="Consolas" pitchFamily="34" charset="-122"/>
                <a:cs typeface="Consolas" pitchFamily="34" charset="-120"/>
              </a:rPr>
              <a:t>OUR ASK</a:t>
            </a:r>
            <a:endParaRPr lang="en-US" sz="1100" dirty="0"/>
          </a:p>
        </p:txBody>
      </p:sp>
      <p:sp>
        <p:nvSpPr>
          <p:cNvPr id="10" name="Text 8"/>
          <p:cNvSpPr/>
          <p:nvPr/>
        </p:nvSpPr>
        <p:spPr>
          <a:xfrm>
            <a:off x="640080" y="2743200"/>
            <a:ext cx="5943600" cy="2011680"/>
          </a:xfrm>
          <a:prstGeom prst="rect">
            <a:avLst/>
          </a:prstGeom>
          <a:noFill/>
          <a:ln/>
        </p:spPr>
        <p:txBody>
          <a:bodyPr wrap="square" lIns="0" tIns="0" rIns="0" bIns="0" rtlCol="0" anchor="ctr"/>
          <a:lstStyle/>
          <a:p>
            <a:pPr algn="ctr" indent="0" marL="0">
              <a:buNone/>
            </a:pPr>
            <a:r>
              <a:rPr lang="en-US" sz="13000" b="1" dirty="0">
                <a:solidFill>
                  <a:srgbClr val="C9A86A"/>
                </a:solidFill>
                <a:latin typeface="Georgia" pitchFamily="34" charset="0"/>
                <a:ea typeface="Georgia" pitchFamily="34" charset="-122"/>
                <a:cs typeface="Georgia" pitchFamily="34" charset="-120"/>
              </a:rPr>
              <a:t>$250K</a:t>
            </a:r>
            <a:endParaRPr lang="en-US" sz="13000" dirty="0"/>
          </a:p>
        </p:txBody>
      </p:sp>
      <p:sp>
        <p:nvSpPr>
          <p:cNvPr id="11" name="Text 9"/>
          <p:cNvSpPr/>
          <p:nvPr/>
        </p:nvSpPr>
        <p:spPr>
          <a:xfrm>
            <a:off x="640080" y="4800600"/>
            <a:ext cx="5943600" cy="365760"/>
          </a:xfrm>
          <a:prstGeom prst="rect">
            <a:avLst/>
          </a:prstGeom>
          <a:noFill/>
          <a:ln/>
        </p:spPr>
        <p:txBody>
          <a:bodyPr wrap="square" lIns="0" tIns="0" rIns="0" bIns="0" rtlCol="0" anchor="ctr"/>
          <a:lstStyle/>
          <a:p>
            <a:pPr algn="ctr" indent="0" marL="0">
              <a:buNone/>
            </a:pPr>
            <a:r>
              <a:rPr lang="en-US" sz="1600" i="1" dirty="0">
                <a:solidFill>
                  <a:srgbClr val="F5F0E8"/>
                </a:solidFill>
                <a:latin typeface="Georgia" pitchFamily="34" charset="0"/>
                <a:ea typeface="Georgia" pitchFamily="34" charset="-122"/>
                <a:cs typeface="Georgia" pitchFamily="34" charset="-120"/>
              </a:rPr>
              <a:t>Colosseum RWA track  ·  pre-seed bridge</a:t>
            </a:r>
            <a:endParaRPr lang="en-US" sz="1600" dirty="0"/>
          </a:p>
        </p:txBody>
      </p:sp>
      <p:sp>
        <p:nvSpPr>
          <p:cNvPr id="12" name="Shape 10"/>
          <p:cNvSpPr/>
          <p:nvPr/>
        </p:nvSpPr>
        <p:spPr>
          <a:xfrm>
            <a:off x="1188720" y="5303520"/>
            <a:ext cx="4846320" cy="0"/>
          </a:xfrm>
          <a:prstGeom prst="line">
            <a:avLst/>
          </a:prstGeom>
          <a:noFill/>
          <a:ln w="6350">
            <a:solidFill>
              <a:srgbClr val="1F1F25"/>
            </a:solidFill>
            <a:prstDash val="solid"/>
          </a:ln>
        </p:spPr>
      </p:sp>
      <p:sp>
        <p:nvSpPr>
          <p:cNvPr id="13" name="Text 11"/>
          <p:cNvSpPr/>
          <p:nvPr/>
        </p:nvSpPr>
        <p:spPr>
          <a:xfrm>
            <a:off x="1005840" y="5486400"/>
            <a:ext cx="5212080" cy="457200"/>
          </a:xfrm>
          <a:prstGeom prst="rect">
            <a:avLst/>
          </a:prstGeom>
          <a:noFill/>
          <a:ln/>
        </p:spPr>
        <p:txBody>
          <a:bodyPr wrap="square" lIns="0" tIns="0" rIns="0" bIns="0" rtlCol="0" anchor="ctr"/>
          <a:lstStyle/>
          <a:p>
            <a:pPr algn="ctr" indent="0" marL="0">
              <a:buNone/>
            </a:pPr>
            <a:r>
              <a:rPr lang="en-US" sz="1100" dirty="0">
                <a:solidFill>
                  <a:srgbClr val="C9A86A"/>
                </a:solidFill>
                <a:latin typeface="Calibri" pitchFamily="34" charset="0"/>
                <a:ea typeface="Calibri" pitchFamily="34" charset="-122"/>
                <a:cs typeface="Calibri" pitchFamily="34" charset="-120"/>
              </a:rPr>
              <a:t>→  </a:t>
            </a:r>
            <a:pPr algn="ctr" indent="0" marL="0">
              <a:buNone/>
            </a:pPr>
            <a:r>
              <a:rPr lang="en-US" sz="1100" dirty="0">
                <a:solidFill>
                  <a:srgbClr val="F5F0E8"/>
                </a:solidFill>
                <a:latin typeface="Calibri" pitchFamily="34" charset="0"/>
                <a:ea typeface="Calibri" pitchFamily="34" charset="-122"/>
                <a:cs typeface="Calibri" pitchFamily="34" charset="-120"/>
              </a:rPr>
              <a:t>audit our 4 Anchor programs</a:t>
            </a:r>
            <a:pPr algn="ctr" indent="0" marL="0">
              <a:buNone/>
            </a:pPr>
            <a:r>
              <a:rPr lang="en-US" sz="1100" dirty="0">
                <a:solidFill>
                  <a:srgbClr val="C9A86A"/>
                </a:solidFill>
                <a:latin typeface="Calibri" pitchFamily="34" charset="0"/>
                <a:ea typeface="Calibri" pitchFamily="34" charset="-122"/>
                <a:cs typeface="Calibri" pitchFamily="34" charset="-120"/>
              </a:rPr>
              <a:t>      →  </a:t>
            </a:r>
            <a:pPr algn="ctr" indent="0" marL="0">
              <a:buNone/>
            </a:pPr>
            <a:r>
              <a:rPr lang="en-US" sz="1100" dirty="0">
                <a:solidFill>
                  <a:srgbClr val="F5F0E8"/>
                </a:solidFill>
                <a:latin typeface="Calibri" pitchFamily="34" charset="0"/>
                <a:ea typeface="Calibri" pitchFamily="34" charset="-122"/>
                <a:cs typeface="Calibri" pitchFamily="34" charset="-120"/>
              </a:rPr>
              <a:t>sign first custodian</a:t>
            </a:r>
            <a:pPr algn="ctr" indent="0" marL="0">
              <a:buNone/>
            </a:pPr>
            <a:r>
              <a:rPr lang="en-US" sz="1100" dirty="0">
                <a:solidFill>
                  <a:srgbClr val="C9A86A"/>
                </a:solidFill>
                <a:latin typeface="Calibri" pitchFamily="34" charset="0"/>
                <a:ea typeface="Calibri" pitchFamily="34" charset="-122"/>
                <a:cs typeface="Calibri" pitchFamily="34" charset="-120"/>
              </a:rPr>
              <a:t>      →  </a:t>
            </a:r>
            <a:pPr algn="ctr" indent="0" marL="0">
              <a:buNone/>
            </a:pPr>
            <a:r>
              <a:rPr lang="en-US" sz="1100" dirty="0">
                <a:solidFill>
                  <a:srgbClr val="F5F0E8"/>
                </a:solidFill>
                <a:latin typeface="Calibri" pitchFamily="34" charset="0"/>
                <a:ea typeface="Calibri" pitchFamily="34" charset="-122"/>
                <a:cs typeface="Calibri" pitchFamily="34" charset="-120"/>
              </a:rPr>
              <a:t>first mainnet loan</a:t>
            </a:r>
            <a:endParaRPr lang="en-US" sz="1100" dirty="0"/>
          </a:p>
        </p:txBody>
      </p:sp>
      <p:sp>
        <p:nvSpPr>
          <p:cNvPr id="14" name="Text 12"/>
          <p:cNvSpPr/>
          <p:nvPr/>
        </p:nvSpPr>
        <p:spPr>
          <a:xfrm>
            <a:off x="6858000" y="2148840"/>
            <a:ext cx="4693615" cy="274320"/>
          </a:xfrm>
          <a:prstGeom prst="rect">
            <a:avLst/>
          </a:prstGeom>
          <a:noFill/>
          <a:ln/>
        </p:spPr>
        <p:txBody>
          <a:bodyPr wrap="square" lIns="0" tIns="0" rIns="0" bIns="0" rtlCol="0" anchor="ctr"/>
          <a:lstStyle/>
          <a:p>
            <a:pPr indent="0" marL="0">
              <a:buNone/>
            </a:pPr>
            <a:r>
              <a:rPr lang="en-US" sz="1100" b="1" spc="500" kern="0" dirty="0">
                <a:solidFill>
                  <a:srgbClr val="0E7C7B"/>
                </a:solidFill>
                <a:latin typeface="Consolas" pitchFamily="34" charset="0"/>
                <a:ea typeface="Consolas" pitchFamily="34" charset="-122"/>
                <a:cs typeface="Consolas" pitchFamily="34" charset="-120"/>
              </a:rPr>
              <a:t>90-DAY PLAN</a:t>
            </a:r>
            <a:endParaRPr lang="en-US" sz="1100" dirty="0"/>
          </a:p>
        </p:txBody>
      </p:sp>
      <p:sp>
        <p:nvSpPr>
          <p:cNvPr id="15" name="Shape 13"/>
          <p:cNvSpPr/>
          <p:nvPr/>
        </p:nvSpPr>
        <p:spPr>
          <a:xfrm>
            <a:off x="6858000" y="2468880"/>
            <a:ext cx="4693615" cy="0"/>
          </a:xfrm>
          <a:prstGeom prst="line">
            <a:avLst/>
          </a:prstGeom>
          <a:noFill/>
          <a:ln w="6350">
            <a:solidFill>
              <a:srgbClr val="1F1F25"/>
            </a:solidFill>
            <a:prstDash val="solid"/>
          </a:ln>
        </p:spPr>
      </p:sp>
      <p:sp>
        <p:nvSpPr>
          <p:cNvPr id="16" name="Shape 14"/>
          <p:cNvSpPr/>
          <p:nvPr/>
        </p:nvSpPr>
        <p:spPr>
          <a:xfrm>
            <a:off x="6903720" y="2862072"/>
            <a:ext cx="164592" cy="164592"/>
          </a:xfrm>
          <a:prstGeom prst="ellipse">
            <a:avLst/>
          </a:prstGeom>
          <a:solidFill>
            <a:srgbClr val="0E7C7B"/>
          </a:solidFill>
          <a:ln w="12700">
            <a:solidFill>
              <a:srgbClr val="0E7C7B"/>
            </a:solidFill>
            <a:prstDash val="solid"/>
          </a:ln>
        </p:spPr>
      </p:sp>
      <p:sp>
        <p:nvSpPr>
          <p:cNvPr id="17" name="Shape 15"/>
          <p:cNvSpPr/>
          <p:nvPr/>
        </p:nvSpPr>
        <p:spPr>
          <a:xfrm>
            <a:off x="6986016" y="3026664"/>
            <a:ext cx="0" cy="548640"/>
          </a:xfrm>
          <a:prstGeom prst="line">
            <a:avLst/>
          </a:prstGeom>
          <a:noFill/>
          <a:ln w="12700">
            <a:solidFill>
              <a:srgbClr val="0E7C7B"/>
            </a:solidFill>
            <a:prstDash val="solid"/>
          </a:ln>
        </p:spPr>
      </p:sp>
      <p:sp>
        <p:nvSpPr>
          <p:cNvPr id="18" name="Text 16"/>
          <p:cNvSpPr/>
          <p:nvPr/>
        </p:nvSpPr>
        <p:spPr>
          <a:xfrm>
            <a:off x="7223760" y="2697480"/>
            <a:ext cx="1097280" cy="292608"/>
          </a:xfrm>
          <a:prstGeom prst="rect">
            <a:avLst/>
          </a:prstGeom>
          <a:noFill/>
          <a:ln/>
        </p:spPr>
        <p:txBody>
          <a:bodyPr wrap="square" lIns="0" tIns="0" rIns="0" bIns="0" rtlCol="0" anchor="ctr"/>
          <a:lstStyle/>
          <a:p>
            <a:pPr indent="0" marL="0">
              <a:buNone/>
            </a:pPr>
            <a:r>
              <a:rPr lang="en-US" sz="1100" b="1" spc="300" kern="0" dirty="0">
                <a:solidFill>
                  <a:srgbClr val="C9A86A"/>
                </a:solidFill>
                <a:latin typeface="Consolas" pitchFamily="34" charset="0"/>
                <a:ea typeface="Consolas" pitchFamily="34" charset="-122"/>
                <a:cs typeface="Consolas" pitchFamily="34" charset="-120"/>
              </a:rPr>
              <a:t>DAY 0</a:t>
            </a:r>
            <a:endParaRPr lang="en-US" sz="1100" dirty="0"/>
          </a:p>
        </p:txBody>
      </p:sp>
      <p:sp>
        <p:nvSpPr>
          <p:cNvPr id="19" name="Text 17"/>
          <p:cNvSpPr/>
          <p:nvPr/>
        </p:nvSpPr>
        <p:spPr>
          <a:xfrm>
            <a:off x="7223760" y="2971800"/>
            <a:ext cx="4236415" cy="292608"/>
          </a:xfrm>
          <a:prstGeom prst="rect">
            <a:avLst/>
          </a:prstGeom>
          <a:noFill/>
          <a:ln/>
        </p:spPr>
        <p:txBody>
          <a:bodyPr wrap="square" lIns="0" tIns="0" rIns="0" bIns="0" rtlCol="0" anchor="ctr"/>
          <a:lstStyle/>
          <a:p>
            <a:pPr indent="0" marL="0">
              <a:buNone/>
            </a:pPr>
            <a:r>
              <a:rPr lang="en-US" sz="1400" b="1" dirty="0">
                <a:solidFill>
                  <a:srgbClr val="F5F0E8"/>
                </a:solidFill>
                <a:latin typeface="Georgia" pitchFamily="34" charset="0"/>
                <a:ea typeface="Georgia" pitchFamily="34" charset="-122"/>
                <a:cs typeface="Georgia" pitchFamily="34" charset="-120"/>
              </a:rPr>
              <a:t>Audit kickoff</a:t>
            </a:r>
            <a:endParaRPr lang="en-US" sz="1400" dirty="0"/>
          </a:p>
        </p:txBody>
      </p:sp>
      <p:sp>
        <p:nvSpPr>
          <p:cNvPr id="20" name="Text 18"/>
          <p:cNvSpPr/>
          <p:nvPr/>
        </p:nvSpPr>
        <p:spPr>
          <a:xfrm>
            <a:off x="7223760" y="3200400"/>
            <a:ext cx="4236415" cy="228600"/>
          </a:xfrm>
          <a:prstGeom prst="rect">
            <a:avLst/>
          </a:prstGeom>
          <a:noFill/>
          <a:ln/>
        </p:spPr>
        <p:txBody>
          <a:bodyPr wrap="square" lIns="0" tIns="0" rIns="0" bIns="0" rtlCol="0" anchor="ctr"/>
          <a:lstStyle/>
          <a:p>
            <a:pPr indent="0" marL="0">
              <a:buNone/>
            </a:pPr>
            <a:r>
              <a:rPr lang="en-US" sz="1000" i="1" dirty="0">
                <a:solidFill>
                  <a:srgbClr val="8A8A90"/>
                </a:solidFill>
                <a:latin typeface="Calibri" pitchFamily="34" charset="0"/>
                <a:ea typeface="Calibri" pitchFamily="34" charset="-122"/>
                <a:cs typeface="Calibri" pitchFamily="34" charset="-120"/>
              </a:rPr>
              <a:t>external review + bug bounty</a:t>
            </a:r>
            <a:endParaRPr lang="en-US" sz="1000" dirty="0"/>
          </a:p>
        </p:txBody>
      </p:sp>
      <p:sp>
        <p:nvSpPr>
          <p:cNvPr id="21" name="Shape 19"/>
          <p:cNvSpPr/>
          <p:nvPr/>
        </p:nvSpPr>
        <p:spPr>
          <a:xfrm>
            <a:off x="6903720" y="3575304"/>
            <a:ext cx="164592" cy="164592"/>
          </a:xfrm>
          <a:prstGeom prst="ellipse">
            <a:avLst/>
          </a:prstGeom>
          <a:solidFill>
            <a:srgbClr val="0E7C7B"/>
          </a:solidFill>
          <a:ln w="12700">
            <a:solidFill>
              <a:srgbClr val="0E7C7B"/>
            </a:solidFill>
            <a:prstDash val="solid"/>
          </a:ln>
        </p:spPr>
      </p:sp>
      <p:sp>
        <p:nvSpPr>
          <p:cNvPr id="22" name="Shape 20"/>
          <p:cNvSpPr/>
          <p:nvPr/>
        </p:nvSpPr>
        <p:spPr>
          <a:xfrm>
            <a:off x="6986016" y="3739896"/>
            <a:ext cx="0" cy="548640"/>
          </a:xfrm>
          <a:prstGeom prst="line">
            <a:avLst/>
          </a:prstGeom>
          <a:noFill/>
          <a:ln w="12700">
            <a:solidFill>
              <a:srgbClr val="0E7C7B"/>
            </a:solidFill>
            <a:prstDash val="solid"/>
          </a:ln>
        </p:spPr>
      </p:sp>
      <p:sp>
        <p:nvSpPr>
          <p:cNvPr id="23" name="Text 21"/>
          <p:cNvSpPr/>
          <p:nvPr/>
        </p:nvSpPr>
        <p:spPr>
          <a:xfrm>
            <a:off x="7223760" y="3410712"/>
            <a:ext cx="1097280" cy="292608"/>
          </a:xfrm>
          <a:prstGeom prst="rect">
            <a:avLst/>
          </a:prstGeom>
          <a:noFill/>
          <a:ln/>
        </p:spPr>
        <p:txBody>
          <a:bodyPr wrap="square" lIns="0" tIns="0" rIns="0" bIns="0" rtlCol="0" anchor="ctr"/>
          <a:lstStyle/>
          <a:p>
            <a:pPr indent="0" marL="0">
              <a:buNone/>
            </a:pPr>
            <a:r>
              <a:rPr lang="en-US" sz="1100" b="1" spc="300" kern="0" dirty="0">
                <a:solidFill>
                  <a:srgbClr val="C9A86A"/>
                </a:solidFill>
                <a:latin typeface="Consolas" pitchFamily="34" charset="0"/>
                <a:ea typeface="Consolas" pitchFamily="34" charset="-122"/>
                <a:cs typeface="Consolas" pitchFamily="34" charset="-120"/>
              </a:rPr>
              <a:t>DAY 60</a:t>
            </a:r>
            <a:endParaRPr lang="en-US" sz="1100" dirty="0"/>
          </a:p>
        </p:txBody>
      </p:sp>
      <p:sp>
        <p:nvSpPr>
          <p:cNvPr id="24" name="Text 22"/>
          <p:cNvSpPr/>
          <p:nvPr/>
        </p:nvSpPr>
        <p:spPr>
          <a:xfrm>
            <a:off x="7223760" y="3685032"/>
            <a:ext cx="4236415" cy="292608"/>
          </a:xfrm>
          <a:prstGeom prst="rect">
            <a:avLst/>
          </a:prstGeom>
          <a:noFill/>
          <a:ln/>
        </p:spPr>
        <p:txBody>
          <a:bodyPr wrap="square" lIns="0" tIns="0" rIns="0" bIns="0" rtlCol="0" anchor="ctr"/>
          <a:lstStyle/>
          <a:p>
            <a:pPr indent="0" marL="0">
              <a:buNone/>
            </a:pPr>
            <a:r>
              <a:rPr lang="en-US" sz="1400" b="1" dirty="0">
                <a:solidFill>
                  <a:srgbClr val="F5F0E8"/>
                </a:solidFill>
                <a:latin typeface="Georgia" pitchFamily="34" charset="0"/>
                <a:ea typeface="Georgia" pitchFamily="34" charset="-122"/>
                <a:cs typeface="Georgia" pitchFamily="34" charset="-120"/>
              </a:rPr>
              <a:t>Custodian signed</a:t>
            </a:r>
            <a:endParaRPr lang="en-US" sz="1400" dirty="0"/>
          </a:p>
        </p:txBody>
      </p:sp>
      <p:sp>
        <p:nvSpPr>
          <p:cNvPr id="25" name="Text 23"/>
          <p:cNvSpPr/>
          <p:nvPr/>
        </p:nvSpPr>
        <p:spPr>
          <a:xfrm>
            <a:off x="7223760" y="3913632"/>
            <a:ext cx="4236415" cy="228600"/>
          </a:xfrm>
          <a:prstGeom prst="rect">
            <a:avLst/>
          </a:prstGeom>
          <a:noFill/>
          <a:ln/>
        </p:spPr>
        <p:txBody>
          <a:bodyPr wrap="square" lIns="0" tIns="0" rIns="0" bIns="0" rtlCol="0" anchor="ctr"/>
          <a:lstStyle/>
          <a:p>
            <a:pPr indent="0" marL="0">
              <a:buNone/>
            </a:pPr>
            <a:r>
              <a:rPr lang="en-US" sz="1000" i="1" dirty="0">
                <a:solidFill>
                  <a:srgbClr val="8A8A90"/>
                </a:solidFill>
                <a:latin typeface="Calibri" pitchFamily="34" charset="0"/>
                <a:ea typeface="Calibri" pitchFamily="34" charset="-122"/>
                <a:cs typeface="Calibri" pitchFamily="34" charset="-120"/>
              </a:rPr>
              <a:t>Lloyd's binder confirmed</a:t>
            </a:r>
            <a:endParaRPr lang="en-US" sz="1000" dirty="0"/>
          </a:p>
        </p:txBody>
      </p:sp>
      <p:sp>
        <p:nvSpPr>
          <p:cNvPr id="26" name="Shape 24"/>
          <p:cNvSpPr/>
          <p:nvPr/>
        </p:nvSpPr>
        <p:spPr>
          <a:xfrm>
            <a:off x="6903720" y="4288536"/>
            <a:ext cx="164592" cy="164592"/>
          </a:xfrm>
          <a:prstGeom prst="ellipse">
            <a:avLst/>
          </a:prstGeom>
          <a:solidFill>
            <a:srgbClr val="0E7C7B"/>
          </a:solidFill>
          <a:ln w="12700">
            <a:solidFill>
              <a:srgbClr val="0E7C7B"/>
            </a:solidFill>
            <a:prstDash val="solid"/>
          </a:ln>
        </p:spPr>
      </p:sp>
      <p:sp>
        <p:nvSpPr>
          <p:cNvPr id="27" name="Shape 25"/>
          <p:cNvSpPr/>
          <p:nvPr/>
        </p:nvSpPr>
        <p:spPr>
          <a:xfrm>
            <a:off x="6986016" y="4453128"/>
            <a:ext cx="0" cy="548640"/>
          </a:xfrm>
          <a:prstGeom prst="line">
            <a:avLst/>
          </a:prstGeom>
          <a:noFill/>
          <a:ln w="12700">
            <a:solidFill>
              <a:srgbClr val="0E7C7B"/>
            </a:solidFill>
            <a:prstDash val="solid"/>
          </a:ln>
        </p:spPr>
      </p:sp>
      <p:sp>
        <p:nvSpPr>
          <p:cNvPr id="28" name="Text 26"/>
          <p:cNvSpPr/>
          <p:nvPr/>
        </p:nvSpPr>
        <p:spPr>
          <a:xfrm>
            <a:off x="7223760" y="4123944"/>
            <a:ext cx="1097280" cy="292608"/>
          </a:xfrm>
          <a:prstGeom prst="rect">
            <a:avLst/>
          </a:prstGeom>
          <a:noFill/>
          <a:ln/>
        </p:spPr>
        <p:txBody>
          <a:bodyPr wrap="square" lIns="0" tIns="0" rIns="0" bIns="0" rtlCol="0" anchor="ctr"/>
          <a:lstStyle/>
          <a:p>
            <a:pPr indent="0" marL="0">
              <a:buNone/>
            </a:pPr>
            <a:r>
              <a:rPr lang="en-US" sz="1100" b="1" spc="300" kern="0" dirty="0">
                <a:solidFill>
                  <a:srgbClr val="C9A86A"/>
                </a:solidFill>
                <a:latin typeface="Consolas" pitchFamily="34" charset="0"/>
                <a:ea typeface="Consolas" pitchFamily="34" charset="-122"/>
                <a:cs typeface="Consolas" pitchFamily="34" charset="-120"/>
              </a:rPr>
              <a:t>DAY 90</a:t>
            </a:r>
            <a:endParaRPr lang="en-US" sz="1100" dirty="0"/>
          </a:p>
        </p:txBody>
      </p:sp>
      <p:sp>
        <p:nvSpPr>
          <p:cNvPr id="29" name="Text 27"/>
          <p:cNvSpPr/>
          <p:nvPr/>
        </p:nvSpPr>
        <p:spPr>
          <a:xfrm>
            <a:off x="7223760" y="4398264"/>
            <a:ext cx="4236415" cy="292608"/>
          </a:xfrm>
          <a:prstGeom prst="rect">
            <a:avLst/>
          </a:prstGeom>
          <a:noFill/>
          <a:ln/>
        </p:spPr>
        <p:txBody>
          <a:bodyPr wrap="square" lIns="0" tIns="0" rIns="0" bIns="0" rtlCol="0" anchor="ctr"/>
          <a:lstStyle/>
          <a:p>
            <a:pPr indent="0" marL="0">
              <a:buNone/>
            </a:pPr>
            <a:r>
              <a:rPr lang="en-US" sz="1400" b="1" dirty="0">
                <a:solidFill>
                  <a:srgbClr val="F5F0E8"/>
                </a:solidFill>
                <a:latin typeface="Georgia" pitchFamily="34" charset="0"/>
                <a:ea typeface="Georgia" pitchFamily="34" charset="-122"/>
                <a:cs typeface="Georgia" pitchFamily="34" charset="-120"/>
              </a:rPr>
              <a:t>Mainnet launch</a:t>
            </a:r>
            <a:endParaRPr lang="en-US" sz="1400" dirty="0"/>
          </a:p>
        </p:txBody>
      </p:sp>
      <p:sp>
        <p:nvSpPr>
          <p:cNvPr id="30" name="Text 28"/>
          <p:cNvSpPr/>
          <p:nvPr/>
        </p:nvSpPr>
        <p:spPr>
          <a:xfrm>
            <a:off x="7223760" y="4626864"/>
            <a:ext cx="4236415" cy="228600"/>
          </a:xfrm>
          <a:prstGeom prst="rect">
            <a:avLst/>
          </a:prstGeom>
          <a:noFill/>
          <a:ln/>
        </p:spPr>
        <p:txBody>
          <a:bodyPr wrap="square" lIns="0" tIns="0" rIns="0" bIns="0" rtlCol="0" anchor="ctr"/>
          <a:lstStyle/>
          <a:p>
            <a:pPr indent="0" marL="0">
              <a:buNone/>
            </a:pPr>
            <a:r>
              <a:rPr lang="en-US" sz="1000" i="1" dirty="0">
                <a:solidFill>
                  <a:srgbClr val="8A8A90"/>
                </a:solidFill>
                <a:latin typeface="Calibri" pitchFamily="34" charset="0"/>
                <a:ea typeface="Calibri" pitchFamily="34" charset="-122"/>
                <a:cs typeface="Calibri" pitchFamily="34" charset="-120"/>
              </a:rPr>
              <a:t>first real loan · real watch</a:t>
            </a:r>
            <a:endParaRPr lang="en-US" sz="1000" dirty="0"/>
          </a:p>
        </p:txBody>
      </p:sp>
      <p:sp>
        <p:nvSpPr>
          <p:cNvPr id="31" name="Shape 29"/>
          <p:cNvSpPr/>
          <p:nvPr/>
        </p:nvSpPr>
        <p:spPr>
          <a:xfrm>
            <a:off x="6903720" y="5001768"/>
            <a:ext cx="164592" cy="164592"/>
          </a:xfrm>
          <a:prstGeom prst="ellipse">
            <a:avLst/>
          </a:prstGeom>
          <a:solidFill>
            <a:srgbClr val="0E7C7B"/>
          </a:solidFill>
          <a:ln w="12700">
            <a:solidFill>
              <a:srgbClr val="0E7C7B"/>
            </a:solidFill>
            <a:prstDash val="solid"/>
          </a:ln>
        </p:spPr>
      </p:sp>
      <p:sp>
        <p:nvSpPr>
          <p:cNvPr id="32" name="Shape 30"/>
          <p:cNvSpPr/>
          <p:nvPr/>
        </p:nvSpPr>
        <p:spPr>
          <a:xfrm>
            <a:off x="6986016" y="5166360"/>
            <a:ext cx="0" cy="548640"/>
          </a:xfrm>
          <a:prstGeom prst="line">
            <a:avLst/>
          </a:prstGeom>
          <a:noFill/>
          <a:ln w="12700">
            <a:solidFill>
              <a:srgbClr val="0E7C7B"/>
            </a:solidFill>
            <a:prstDash val="solid"/>
          </a:ln>
        </p:spPr>
      </p:sp>
      <p:sp>
        <p:nvSpPr>
          <p:cNvPr id="33" name="Text 31"/>
          <p:cNvSpPr/>
          <p:nvPr/>
        </p:nvSpPr>
        <p:spPr>
          <a:xfrm>
            <a:off x="7223760" y="4837176"/>
            <a:ext cx="1097280" cy="292608"/>
          </a:xfrm>
          <a:prstGeom prst="rect">
            <a:avLst/>
          </a:prstGeom>
          <a:noFill/>
          <a:ln/>
        </p:spPr>
        <p:txBody>
          <a:bodyPr wrap="square" lIns="0" tIns="0" rIns="0" bIns="0" rtlCol="0" anchor="ctr"/>
          <a:lstStyle/>
          <a:p>
            <a:pPr indent="0" marL="0">
              <a:buNone/>
            </a:pPr>
            <a:r>
              <a:rPr lang="en-US" sz="1100" b="1" spc="300" kern="0" dirty="0">
                <a:solidFill>
                  <a:srgbClr val="C9A86A"/>
                </a:solidFill>
                <a:latin typeface="Consolas" pitchFamily="34" charset="0"/>
                <a:ea typeface="Consolas" pitchFamily="34" charset="-122"/>
                <a:cs typeface="Consolas" pitchFamily="34" charset="-120"/>
              </a:rPr>
              <a:t>Q3 2026</a:t>
            </a:r>
            <a:endParaRPr lang="en-US" sz="1100" dirty="0"/>
          </a:p>
        </p:txBody>
      </p:sp>
      <p:sp>
        <p:nvSpPr>
          <p:cNvPr id="34" name="Text 32"/>
          <p:cNvSpPr/>
          <p:nvPr/>
        </p:nvSpPr>
        <p:spPr>
          <a:xfrm>
            <a:off x="7223760" y="5111496"/>
            <a:ext cx="4236415" cy="292608"/>
          </a:xfrm>
          <a:prstGeom prst="rect">
            <a:avLst/>
          </a:prstGeom>
          <a:noFill/>
          <a:ln/>
        </p:spPr>
        <p:txBody>
          <a:bodyPr wrap="square" lIns="0" tIns="0" rIns="0" bIns="0" rtlCol="0" anchor="ctr"/>
          <a:lstStyle/>
          <a:p>
            <a:pPr indent="0" marL="0">
              <a:buNone/>
            </a:pPr>
            <a:r>
              <a:rPr lang="en-US" sz="1400" b="1" dirty="0">
                <a:solidFill>
                  <a:srgbClr val="F5F0E8"/>
                </a:solidFill>
                <a:latin typeface="Georgia" pitchFamily="34" charset="0"/>
                <a:ea typeface="Georgia" pitchFamily="34" charset="-122"/>
                <a:cs typeface="Georgia" pitchFamily="34" charset="-120"/>
              </a:rPr>
              <a:t>50 customers</a:t>
            </a:r>
            <a:endParaRPr lang="en-US" sz="1400" dirty="0"/>
          </a:p>
        </p:txBody>
      </p:sp>
      <p:sp>
        <p:nvSpPr>
          <p:cNvPr id="35" name="Text 33"/>
          <p:cNvSpPr/>
          <p:nvPr/>
        </p:nvSpPr>
        <p:spPr>
          <a:xfrm>
            <a:off x="7223760" y="5340096"/>
            <a:ext cx="4236415" cy="228600"/>
          </a:xfrm>
          <a:prstGeom prst="rect">
            <a:avLst/>
          </a:prstGeom>
          <a:noFill/>
          <a:ln/>
        </p:spPr>
        <p:txBody>
          <a:bodyPr wrap="square" lIns="0" tIns="0" rIns="0" bIns="0" rtlCol="0" anchor="ctr"/>
          <a:lstStyle/>
          <a:p>
            <a:pPr indent="0" marL="0">
              <a:buNone/>
            </a:pPr>
            <a:r>
              <a:rPr lang="en-US" sz="1000" i="1" dirty="0">
                <a:solidFill>
                  <a:srgbClr val="8A8A90"/>
                </a:solidFill>
                <a:latin typeface="Calibri" pitchFamily="34" charset="0"/>
                <a:ea typeface="Calibri" pitchFamily="34" charset="-122"/>
                <a:cs typeface="Calibri" pitchFamily="34" charset="-120"/>
              </a:rPr>
              <a:t>tranches live</a:t>
            </a:r>
            <a:endParaRPr lang="en-US" sz="1000" dirty="0"/>
          </a:p>
        </p:txBody>
      </p:sp>
      <p:sp>
        <p:nvSpPr>
          <p:cNvPr id="36" name="Shape 34"/>
          <p:cNvSpPr/>
          <p:nvPr/>
        </p:nvSpPr>
        <p:spPr>
          <a:xfrm>
            <a:off x="6903720" y="5715000"/>
            <a:ext cx="164592" cy="164592"/>
          </a:xfrm>
          <a:prstGeom prst="ellipse">
            <a:avLst/>
          </a:prstGeom>
          <a:solidFill>
            <a:srgbClr val="0E7C7B"/>
          </a:solidFill>
          <a:ln w="12700">
            <a:solidFill>
              <a:srgbClr val="0E7C7B"/>
            </a:solidFill>
            <a:prstDash val="solid"/>
          </a:ln>
        </p:spPr>
      </p:sp>
      <p:sp>
        <p:nvSpPr>
          <p:cNvPr id="37" name="Text 35"/>
          <p:cNvSpPr/>
          <p:nvPr/>
        </p:nvSpPr>
        <p:spPr>
          <a:xfrm>
            <a:off x="7223760" y="5550408"/>
            <a:ext cx="1097280" cy="292608"/>
          </a:xfrm>
          <a:prstGeom prst="rect">
            <a:avLst/>
          </a:prstGeom>
          <a:noFill/>
          <a:ln/>
        </p:spPr>
        <p:txBody>
          <a:bodyPr wrap="square" lIns="0" tIns="0" rIns="0" bIns="0" rtlCol="0" anchor="ctr"/>
          <a:lstStyle/>
          <a:p>
            <a:pPr indent="0" marL="0">
              <a:buNone/>
            </a:pPr>
            <a:r>
              <a:rPr lang="en-US" sz="1100" b="1" spc="300" kern="0" dirty="0">
                <a:solidFill>
                  <a:srgbClr val="C9A86A"/>
                </a:solidFill>
                <a:latin typeface="Consolas" pitchFamily="34" charset="0"/>
                <a:ea typeface="Consolas" pitchFamily="34" charset="-122"/>
                <a:cs typeface="Consolas" pitchFamily="34" charset="-120"/>
              </a:rPr>
              <a:t>Q4 2026</a:t>
            </a:r>
            <a:endParaRPr lang="en-US" sz="1100" dirty="0"/>
          </a:p>
        </p:txBody>
      </p:sp>
      <p:sp>
        <p:nvSpPr>
          <p:cNvPr id="38" name="Text 36"/>
          <p:cNvSpPr/>
          <p:nvPr/>
        </p:nvSpPr>
        <p:spPr>
          <a:xfrm>
            <a:off x="7223760" y="5824728"/>
            <a:ext cx="4236415" cy="292608"/>
          </a:xfrm>
          <a:prstGeom prst="rect">
            <a:avLst/>
          </a:prstGeom>
          <a:noFill/>
          <a:ln/>
        </p:spPr>
        <p:txBody>
          <a:bodyPr wrap="square" lIns="0" tIns="0" rIns="0" bIns="0" rtlCol="0" anchor="ctr"/>
          <a:lstStyle/>
          <a:p>
            <a:pPr indent="0" marL="0">
              <a:buNone/>
            </a:pPr>
            <a:r>
              <a:rPr lang="en-US" sz="1400" b="1" dirty="0">
                <a:solidFill>
                  <a:srgbClr val="F5F0E8"/>
                </a:solidFill>
                <a:latin typeface="Georgia" pitchFamily="34" charset="0"/>
                <a:ea typeface="Georgia" pitchFamily="34" charset="-122"/>
                <a:cs typeface="Georgia" pitchFamily="34" charset="-120"/>
              </a:rPr>
              <a:t>100 customers</a:t>
            </a:r>
            <a:endParaRPr lang="en-US" sz="1400" dirty="0"/>
          </a:p>
        </p:txBody>
      </p:sp>
      <p:sp>
        <p:nvSpPr>
          <p:cNvPr id="39" name="Text 37"/>
          <p:cNvSpPr/>
          <p:nvPr/>
        </p:nvSpPr>
        <p:spPr>
          <a:xfrm>
            <a:off x="7223760" y="6053328"/>
            <a:ext cx="4236415" cy="228600"/>
          </a:xfrm>
          <a:prstGeom prst="rect">
            <a:avLst/>
          </a:prstGeom>
          <a:noFill/>
          <a:ln/>
        </p:spPr>
        <p:txBody>
          <a:bodyPr wrap="square" lIns="0" tIns="0" rIns="0" bIns="0" rtlCol="0" anchor="ctr"/>
          <a:lstStyle/>
          <a:p>
            <a:pPr indent="0" marL="0">
              <a:buNone/>
            </a:pPr>
            <a:r>
              <a:rPr lang="en-US" sz="1000" i="1" dirty="0">
                <a:solidFill>
                  <a:srgbClr val="8A8A90"/>
                </a:solidFill>
                <a:latin typeface="Calibri" pitchFamily="34" charset="0"/>
                <a:ea typeface="Calibri" pitchFamily="34" charset="-122"/>
                <a:cs typeface="Calibri" pitchFamily="34" charset="-120"/>
              </a:rPr>
              <a:t>seed close</a:t>
            </a:r>
            <a:endParaRPr lang="en-US" sz="1000" dirty="0"/>
          </a:p>
        </p:txBody>
      </p:sp>
      <p:sp>
        <p:nvSpPr>
          <p:cNvPr id="40" name="Shape 38"/>
          <p:cNvSpPr/>
          <p:nvPr/>
        </p:nvSpPr>
        <p:spPr>
          <a:xfrm>
            <a:off x="640080" y="6355080"/>
            <a:ext cx="10911535" cy="0"/>
          </a:xfrm>
          <a:prstGeom prst="line">
            <a:avLst/>
          </a:prstGeom>
          <a:noFill/>
          <a:ln w="6350">
            <a:solidFill>
              <a:srgbClr val="1F1F25"/>
            </a:solidFill>
            <a:prstDash val="solid"/>
          </a:ln>
        </p:spPr>
      </p:sp>
      <p:sp>
        <p:nvSpPr>
          <p:cNvPr id="41" name="Text 39"/>
          <p:cNvSpPr/>
          <p:nvPr/>
        </p:nvSpPr>
        <p:spPr>
          <a:xfrm>
            <a:off x="640080" y="6473952"/>
            <a:ext cx="10911535" cy="320040"/>
          </a:xfrm>
          <a:prstGeom prst="rect">
            <a:avLst/>
          </a:prstGeom>
          <a:noFill/>
          <a:ln/>
        </p:spPr>
        <p:txBody>
          <a:bodyPr wrap="square" lIns="0" tIns="0" rIns="0" bIns="0" rtlCol="0" anchor="ctr"/>
          <a:lstStyle/>
          <a:p>
            <a:pPr algn="ctr" indent="0" marL="0">
              <a:buNone/>
            </a:pPr>
            <a:r>
              <a:rPr lang="en-US" sz="1100" dirty="0">
                <a:solidFill>
                  <a:srgbClr val="F5F0E8"/>
                </a:solidFill>
                <a:latin typeface="Consolas" pitchFamily="34" charset="0"/>
                <a:ea typeface="Consolas" pitchFamily="34" charset="-122"/>
                <a:cs typeface="Consolas" pitchFamily="34" charset="-120"/>
              </a:rPr>
              <a:t>github.com/Vaulxfi</a:t>
            </a:r>
            <a:pPr algn="ctr" indent="0" marL="0">
              <a:buNone/>
            </a:pPr>
            <a:r>
              <a:rPr lang="en-US" sz="1100" dirty="0">
                <a:solidFill>
                  <a:srgbClr val="0E7C7B"/>
                </a:solidFill>
                <a:latin typeface="Consolas" pitchFamily="34" charset="0"/>
                <a:ea typeface="Consolas" pitchFamily="34" charset="-122"/>
                <a:cs typeface="Consolas" pitchFamily="34" charset="-120"/>
              </a:rPr>
              <a:t>  ·  </a:t>
            </a:r>
            <a:pPr algn="ctr" indent="0" marL="0">
              <a:buNone/>
            </a:pPr>
            <a:r>
              <a:rPr lang="en-US" sz="1100" dirty="0">
                <a:solidFill>
                  <a:srgbClr val="F5F0E8"/>
                </a:solidFill>
                <a:latin typeface="Consolas" pitchFamily="34" charset="0"/>
                <a:ea typeface="Consolas" pitchFamily="34" charset="-122"/>
                <a:cs typeface="Consolas" pitchFamily="34" charset="-120"/>
              </a:rPr>
              <a:t>vaulx.fi</a:t>
            </a:r>
            <a:pPr algn="ctr" indent="0" marL="0">
              <a:buNone/>
            </a:pPr>
            <a:r>
              <a:rPr lang="en-US" sz="1100" dirty="0">
                <a:solidFill>
                  <a:srgbClr val="0E7C7B"/>
                </a:solidFill>
                <a:latin typeface="Consolas" pitchFamily="34" charset="0"/>
                <a:ea typeface="Consolas" pitchFamily="34" charset="-122"/>
                <a:cs typeface="Consolas" pitchFamily="34" charset="-120"/>
              </a:rPr>
              <a:t>  ·  </a:t>
            </a:r>
            <a:pPr algn="ctr" indent="0" marL="0">
              <a:buNone/>
            </a:pPr>
            <a:r>
              <a:rPr lang="en-US" sz="1100" dirty="0">
                <a:solidFill>
                  <a:srgbClr val="C8C2B2"/>
                </a:solidFill>
                <a:latin typeface="Consolas" pitchFamily="34" charset="0"/>
                <a:ea typeface="Consolas" pitchFamily="34" charset="-122"/>
                <a:cs typeface="Consolas" pitchFamily="34" charset="-120"/>
              </a:rPr>
              <a:t>Solana Devnet</a:t>
            </a:r>
            <a:pPr algn="ctr" indent="0" marL="0">
              <a:buNone/>
            </a:pPr>
            <a:r>
              <a:rPr lang="en-US" sz="1100" dirty="0">
                <a:solidFill>
                  <a:srgbClr val="0E7C7B"/>
                </a:solidFill>
                <a:latin typeface="Consolas" pitchFamily="34" charset="0"/>
                <a:ea typeface="Consolas" pitchFamily="34" charset="-122"/>
                <a:cs typeface="Consolas" pitchFamily="34" charset="-120"/>
              </a:rPr>
              <a:t>  ·  </a:t>
            </a:r>
            <a:pPr algn="ctr" indent="0" marL="0">
              <a:buNone/>
            </a:pPr>
            <a:r>
              <a:rPr lang="en-US" sz="1100" b="1" i="1" dirty="0">
                <a:solidFill>
                  <a:srgbClr val="C9A86A"/>
                </a:solidFill>
                <a:latin typeface="Consolas" pitchFamily="34" charset="0"/>
                <a:ea typeface="Consolas" pitchFamily="34" charset="-122"/>
                <a:cs typeface="Consolas" pitchFamily="34" charset="-120"/>
              </a:rPr>
              <a:t>Come build with us.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Vaulx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Vaulx — On-chain credit rail</dc:title>
  <dc:subject>Colosseum Cypherpunk 2026 · Solana RWA</dc:subject>
  <dc:creator>Vaulx</dc:creator>
  <cp:lastModifiedBy>Vaulx</cp:lastModifiedBy>
  <cp:revision>1</cp:revision>
  <dcterms:created xsi:type="dcterms:W3CDTF">2026-05-07T21:58:33Z</dcterms:created>
  <dcterms:modified xsi:type="dcterms:W3CDTF">2026-05-07T21:58:33Z</dcterms:modified>
</cp:coreProperties>
</file>