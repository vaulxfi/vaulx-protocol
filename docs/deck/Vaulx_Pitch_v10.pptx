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ogy/MyCODE/VAULX/.claude/worktrees/recursing-mcnulty-a36d0a/docs/colosseum/hero_wat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0"/>
            <a:ext cx="69494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1097280" cy="6858000"/>
          </a:xfrm>
          <a:prstGeom prst="rect">
            <a:avLst/>
          </a:prstGeom>
          <a:solidFill>
            <a:srgbClr val="0A0A0B">
              <a:alpha val="65000"/>
            </a:srgbClr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57607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" y="502920"/>
            <a:ext cx="5779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 ·  COLOSSEUM CYPHERPUNK 2026</a:t>
            </a:r>
            <a:endParaRPr lang="en-US" sz="950" dirty="0"/>
          </a:p>
        </p:txBody>
      </p:sp>
      <p:pic>
        <p:nvPicPr>
          <p:cNvPr id="6" name="Image 1" descr="/Users/gogy/MyCODE/VAULX/.claude/worktrees/recursing-mcnulty-a36d0a/docs/colosseum/vaulx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4206240" cy="1152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468880"/>
            <a:ext cx="914400" cy="2743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26974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lnSpc>
                <a:spcPts val="4000"/>
              </a:lnSpc>
              <a:buNone/>
            </a:pPr>
            <a:r>
              <a:rPr lang="en-US" sz="3200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 </a:t>
            </a:r>
            <a:pPr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physical luxury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onchain capital.</a:t>
            </a:r>
            <a:endParaRPr lang="en-US" sz="3200" dirty="0"/>
          </a:p>
        </p:txBody>
      </p:sp>
      <p:pic>
        <p:nvPicPr>
          <p:cNvPr id="9" name="Image 2" descr="/tmp/vaulx_pptx/logo_pngs/solana-sol.png">    </p:cNvPr>
          <p:cNvPicPr>
            <a:picLocks noChangeAspect="1"/>
          </p:cNvPicPr>
          <p:nvPr/>
        </p:nvPicPr>
        <p:blipFill>
          <a:blip r:embed="rId3"/>
          <a:srcRect l="0" r="0" t="-128571" b="-128571"/>
          <a:stretch/>
        </p:blipFill>
        <p:spPr>
          <a:xfrm>
            <a:off x="640080" y="429768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Solana.  Live on Devnet today.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4754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doesn't take custody.  </a:t>
            </a:r>
            <a:pPr indent="0" marL="0">
              <a:buNone/>
            </a:pPr>
            <a:r>
              <a:rPr lang="en-US" sz="1100" spc="1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doesn't hold capital.  </a:t>
            </a:r>
            <a:pPr indent="0" marL="0">
              <a:buNone/>
            </a:pPr>
            <a:r>
              <a:rPr lang="en-US" sz="1100" b="1" spc="1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in smart contracts.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6080760"/>
            <a:ext cx="6400800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008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github.com/Vaulxfi</a:t>
            </a:r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vaulx.fi</a:t>
            </a:r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Devnet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THE ASYMMETRY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collateral.  Broken credit </a:t>
            </a:r>
            <a:pPr indent="0" marL="0">
              <a:buNone/>
            </a:pPr>
            <a:r>
              <a:rPr lang="en-US" sz="36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</a:t>
            </a:r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Asset-rich borrowers face punitive credit. Onchain capital earns single digits. The missing piece is the rail.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 SIDE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Credit-card rotativo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990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balance · 50M Brazilians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00400"/>
            <a:ext cx="5029200" cy="82296"/>
          </a:xfrm>
          <a:prstGeom prst="rect">
            <a:avLst/>
          </a:prstGeom>
          <a:solidFill>
            <a:srgbClr val="B8412C"/>
          </a:solidFill>
          <a:ln w="12700">
            <a:solidFill>
              <a:srgbClr val="B841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6974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loan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bank lending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6791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40480"/>
            <a:ext cx="1357884" cy="82296"/>
          </a:xfrm>
          <a:prstGeom prst="rect">
            <a:avLst/>
          </a:prstGeom>
          <a:solidFill>
            <a:srgbClr val="B8412C"/>
          </a:solidFill>
          <a:ln w="12700">
            <a:solidFill>
              <a:srgbClr val="B841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3375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~61%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233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Caixa penhor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LTV · scrap-metal value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0799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480560"/>
            <a:ext cx="653796" cy="82296"/>
          </a:xfrm>
          <a:prstGeom prst="rect">
            <a:avLst/>
          </a:prstGeom>
          <a:solidFill>
            <a:srgbClr val="C8C2B2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9776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873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34640" y="4910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LTV · full asset value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14807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120640"/>
            <a:ext cx="528066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46177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5440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Banco Central do Brasil  ·  Caixa Federal published rates  ·  rotativo = balance carried past 30-day grace.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40880" y="233172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 SIDE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2697480"/>
            <a:ext cx="4510735" cy="3017520"/>
          </a:xfrm>
          <a:prstGeom prst="rect">
            <a:avLst/>
          </a:prstGeom>
          <a:solidFill>
            <a:srgbClr val="12131A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283464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ONCHAIN USDC YIELD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3200400"/>
            <a:ext cx="4510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8–10%</a:t>
            </a:r>
            <a:endParaRPr lang="en-US" sz="7600" dirty="0"/>
          </a:p>
        </p:txBody>
      </p:sp>
      <p:sp>
        <p:nvSpPr>
          <p:cNvPr id="38" name="Text 36"/>
          <p:cNvSpPr/>
          <p:nvPr/>
        </p:nvSpPr>
        <p:spPr>
          <a:xfrm>
            <a:off x="7040880" y="443484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 ·  cheap  ·  patient  ·  global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06640" y="4800600"/>
            <a:ext cx="3779215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493776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available  ·  rail missing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530352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 / ETH-as-collateral exists.  Not the use case.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F5F0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not capital.   </a:t>
            </a:r>
            <a:pPr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the </a:t>
            </a:r>
            <a:pPr indent="0" marL="0">
              <a:buNone/>
            </a:pPr>
            <a:r>
              <a:rPr lang="en-US" sz="18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THE ATOMIC RAIL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atomic </a:t>
            </a:r>
            <a:pPr indent="0" marL="0">
              <a:buNone/>
            </a:pPr>
            <a:r>
              <a:rPr lang="en-US" sz="34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 </a:t>
            </a:r>
            <a:pPr indent="0" marL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vault to USDC.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demand, licensed custody, onchain proof, and Solana liquidity — stitched into one transaction-safe 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275" y="245059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Borrower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login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Sumsub KYC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appraisal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6355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886395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50987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590" y="245059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69275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069275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Sekuro intake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Brinks-class network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Lloyd's insurance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1267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132710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97302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05" y="245059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15590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Onchain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315590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Metaplex cNFT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 attestation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 + RedStone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058985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379025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543617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220" y="2450592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61905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rails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561905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· loan · auction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Kamino · Loopscale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curated USDC liquidity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0530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9625340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789932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535" y="2450592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08220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808220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 USDC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14-day Dutch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recovery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40080" y="5577840"/>
            <a:ext cx="10911535" cy="59436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0080" y="5577840"/>
            <a:ext cx="73152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400" kern="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  ·  </a:t>
            </a:r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USDC is released until the licensed custodian confirms physical custody onchain.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7315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1188720" y="635508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modules ship once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4368698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4825898" y="635508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modules swap per market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800587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8463077" y="635508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Vaulx posts 5% first-loss POL on every loan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WHY NOW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now: the </a:t>
            </a:r>
            <a:pPr indent="0" marL="0">
              <a:buNone/>
            </a:pPr>
            <a:r>
              <a:rPr lang="en-US" sz="34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</a:t>
            </a:r>
            <a:pPr indent="0" marL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finally exists.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Solana primitives, reusable compliance rails, and real RWA momentum make this window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46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487168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cNFT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2999232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108960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$0.0005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" y="3506724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mint  ·  scales globally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32122" y="2286000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42" y="25146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09362" y="2487168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06442" y="2999232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06442" y="3108960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4606442" y="3506724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onchain KYC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24165" y="2286000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485" y="251460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01405" y="2487168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Composable lending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298485" y="2999232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98485" y="3108960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8298485" y="3506724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Kamino · Loopscale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0080" y="4082796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1139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4283964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RWA on Solana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14400" y="4796028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14400" y="4905756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&gt;$1.82B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914400" y="5303520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 MoM  ·  Mar 2026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332122" y="4082796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442" y="4311396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09362" y="4283964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Stablecoin rails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606442" y="4796028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606442" y="4905756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USDPT</a:t>
            </a:r>
            <a:endParaRPr lang="en-US" sz="2800" dirty="0"/>
          </a:p>
        </p:txBody>
      </p:sp>
      <p:sp>
        <p:nvSpPr>
          <p:cNvPr id="37" name="Text 30"/>
          <p:cNvSpPr/>
          <p:nvPr/>
        </p:nvSpPr>
        <p:spPr>
          <a:xfrm>
            <a:off x="4606442" y="5303520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Union  ·  May 2026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024165" y="4082796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485" y="4311396"/>
            <a:ext cx="384048" cy="38404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801405" y="4283964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Tokenized funds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8298485" y="4796028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298485" y="4905756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$2.3B+</a:t>
            </a:r>
            <a:endParaRPr lang="en-US" sz="2800" dirty="0"/>
          </a:p>
        </p:txBody>
      </p:sp>
      <p:sp>
        <p:nvSpPr>
          <p:cNvPr id="43" name="Text 35"/>
          <p:cNvSpPr/>
          <p:nvPr/>
        </p:nvSpPr>
        <p:spPr>
          <a:xfrm>
            <a:off x="8298485" y="5303520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· Franklin · live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40080" y="647395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300" i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Sumsub × Solana SAS integration (May 2025) gave us reusable KYC.  None of this stack existed 18 months ago.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04b  /  WHY NOW  ·  ALT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9b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Solana. Why now</a:t>
            </a:r>
            <a:pPr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 now exist to make custody-gated physical collateral practical.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914400" cy="0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3515258" cy="1691640"/>
          </a:xfrm>
          <a:prstGeom prst="rect">
            <a:avLst/>
          </a:prstGeom>
          <a:solidFill>
            <a:srgbClr val="12131A"/>
          </a:solidFill>
          <a:ln w="9525">
            <a:solidFill>
              <a:srgbClr val="0E7C7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6032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53288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cNFTs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69109" y="3044952"/>
            <a:ext cx="4572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1089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collateral records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37033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 at scale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38218" y="2331720"/>
            <a:ext cx="3515258" cy="1691640"/>
          </a:xfrm>
          <a:prstGeom prst="rect">
            <a:avLst/>
          </a:prstGeom>
          <a:solidFill>
            <a:srgbClr val="12131A"/>
          </a:solidFill>
          <a:ln w="9525">
            <a:solidFill>
              <a:srgbClr val="0E7C7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818" y="256032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15458" y="253288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settlement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867248" y="3044952"/>
            <a:ext cx="4572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21098" y="31089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loan UX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21098" y="37033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custody-gated disbursement in seconds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036357" y="2331720"/>
            <a:ext cx="3515258" cy="1691640"/>
          </a:xfrm>
          <a:prstGeom prst="rect">
            <a:avLst/>
          </a:prstGeom>
          <a:solidFill>
            <a:srgbClr val="12131A"/>
          </a:solidFill>
          <a:ln w="9525">
            <a:solidFill>
              <a:srgbClr val="0E7C7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957" y="256032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13597" y="253288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Composable liquidity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9565386" y="3044952"/>
            <a:ext cx="4572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19237" y="31089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originate here, liquidity there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219237" y="37033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lending rails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4187952"/>
            <a:ext cx="3515258" cy="1691640"/>
          </a:xfrm>
          <a:prstGeom prst="rect">
            <a:avLst/>
          </a:prstGeom>
          <a:solidFill>
            <a:srgbClr val="12131A"/>
          </a:solidFill>
          <a:ln w="9525">
            <a:solidFill>
              <a:srgbClr val="0E7C7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16552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4389120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collateral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2169109" y="4901184"/>
            <a:ext cx="4572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22960" y="4965192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asset-backed, not unsecured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4338218" y="4187952"/>
            <a:ext cx="3515258" cy="1691640"/>
          </a:xfrm>
          <a:prstGeom prst="rect">
            <a:avLst/>
          </a:prstGeom>
          <a:solidFill>
            <a:srgbClr val="12131A"/>
          </a:solidFill>
          <a:ln w="9525">
            <a:solidFill>
              <a:srgbClr val="0E7C7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818" y="4416552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15458" y="4389120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architecture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5867248" y="4901184"/>
            <a:ext cx="4572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521098" y="4965192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core, local partners</a:t>
            </a:r>
            <a:endParaRPr lang="en-US" sz="1800" dirty="0"/>
          </a:p>
        </p:txBody>
      </p:sp>
      <p:sp>
        <p:nvSpPr>
          <p:cNvPr id="36" name="Shape 29"/>
          <p:cNvSpPr/>
          <p:nvPr/>
        </p:nvSpPr>
        <p:spPr>
          <a:xfrm>
            <a:off x="8036357" y="4187952"/>
            <a:ext cx="3515258" cy="1691640"/>
          </a:xfrm>
          <a:prstGeom prst="rect">
            <a:avLst/>
          </a:prstGeom>
          <a:solidFill>
            <a:srgbClr val="12131A"/>
          </a:solidFill>
          <a:ln w="9525">
            <a:solidFill>
              <a:srgbClr val="0E7C7B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4957" y="4416552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813597" y="4389120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Emerging-market wedge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9565386" y="4901184"/>
            <a:ext cx="4572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19237" y="4965192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is highest where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rates are punitive</a:t>
            </a:r>
            <a:endParaRPr lang="en-US" sz="1800" dirty="0"/>
          </a:p>
        </p:txBody>
      </p:sp>
      <p:sp>
        <p:nvSpPr>
          <p:cNvPr id="41" name="Shape 33"/>
          <p:cNvSpPr/>
          <p:nvPr/>
        </p:nvSpPr>
        <p:spPr>
          <a:xfrm>
            <a:off x="640080" y="6044184"/>
            <a:ext cx="10911535" cy="777240"/>
          </a:xfrm>
          <a:prstGeom prst="rect">
            <a:avLst/>
          </a:prstGeom>
          <a:solidFill>
            <a:srgbClr val="12131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914400" y="61356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600" dirty="0"/>
          </a:p>
        </p:txBody>
      </p:sp>
      <p:sp>
        <p:nvSpPr>
          <p:cNvPr id="43" name="Shape 35"/>
          <p:cNvSpPr/>
          <p:nvPr/>
        </p:nvSpPr>
        <p:spPr>
          <a:xfrm>
            <a:off x="1645920" y="6208776"/>
            <a:ext cx="0" cy="448056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1828800" y="6044184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Vaulx is </a:t>
            </a:r>
            <a:pPr indent="0" marL="0">
              <a:buNone/>
            </a:pPr>
            <a:r>
              <a:rPr lang="en-US" sz="1700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Solana-native</a:t>
            </a:r>
            <a:pPr indent="0" marL="0"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design, not a port from another chain.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CYCLE ECONOMICS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 than formal credit. More capital per asset.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24% APR and 50% LTV, Vaulx undercuts the cheapest formal option in Brazil and lends far more per watch.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463040"/>
                <a:gridCol w="2743200"/>
                <a:gridCol w="2681935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LTV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 from $14k Rolex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12-mo cost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Credit-card rotativo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1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~450%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massive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Consumer loan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1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~61%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~$3,050 on $5k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Caixa penhor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~$2,800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~$840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VAULX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$7,000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~$1,680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434840"/>
            <a:ext cx="352745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572000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3-MO LOAN  ·  $7K BORROWED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8680" y="4892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5313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$420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5212080"/>
            <a:ext cx="224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LP yield (8%)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53130" y="5212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$140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05840" y="5431536"/>
            <a:ext cx="224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Operations (12%)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53130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$210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05840" y="5650992"/>
            <a:ext cx="224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Risk margin (4%)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53130" y="5650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$70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32122" y="4434840"/>
            <a:ext cx="3527450" cy="1554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32122" y="4572000"/>
            <a:ext cx="3527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EFFICIENCY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32122" y="4800600"/>
            <a:ext cx="35274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2.5×</a:t>
            </a:r>
            <a:endParaRPr lang="en-US" sz="6400" dirty="0"/>
          </a:p>
        </p:txBody>
      </p:sp>
      <p:sp>
        <p:nvSpPr>
          <p:cNvPr id="22" name="Text 19"/>
          <p:cNvSpPr/>
          <p:nvPr/>
        </p:nvSpPr>
        <p:spPr>
          <a:xfrm>
            <a:off x="4332122" y="5532120"/>
            <a:ext cx="3527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capital per asset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332122" y="5760720"/>
            <a:ext cx="352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 LTV vs 20% scrap-metal LTV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24165" y="4434840"/>
            <a:ext cx="352745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52765" y="4572000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BORROWER WIN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252765" y="4937760"/>
            <a:ext cx="30702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Caixa.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19×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cheaper than rotativo.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52765" y="5577840"/>
            <a:ext cx="307025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52765" y="5669280"/>
            <a:ext cx="307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revenue:  </a:t>
            </a:r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$300–600/yr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77240" y="6263640"/>
            <a:ext cx="245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Borrower all-in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7240" y="6464808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 APR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505124" y="6263640"/>
            <a:ext cx="245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revenue / asset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505124" y="6464808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$300–600 / yr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233008" y="6263640"/>
            <a:ext cx="245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net (post EL)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233008" y="6464808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~5% APR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960891" y="6263640"/>
            <a:ext cx="245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960891" y="6464808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short-term liquidity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RISK · LIQUIDATION · LP TRANCHES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is tiered.  </a:t>
            </a:r>
            <a:pPr indent="0" marL="0">
              <a:buNone/>
            </a:pPr>
            <a:r>
              <a:rPr lang="en-US" sz="32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</a:t>
            </a:r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choreographed.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is over-collateralized by process, then protected by tranches, liquidation discipline, and protocol-owned first loss.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5915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BY ASSET CLASS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3058058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788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Steel sport watches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/ precious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Handbags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4023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4023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/ one-offs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4480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480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8218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6818" y="235915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14-DAY DEFAULT PATH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66818" y="2697480"/>
            <a:ext cx="3058058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2538" y="29992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71974" y="31181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1138" y="2880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1218" y="28803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call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1218" y="30998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to top up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2538" y="34564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1974" y="35753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1138" y="33375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1218" y="33375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 LPs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1218" y="35570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appraisal floor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2538" y="39136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71974" y="40325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1138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1218" y="37947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Resellers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1218" y="40142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network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2538" y="43708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71974" y="44897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1138" y="4251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1218" y="42519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Dutch auction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1218" y="44714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onchain decay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12538" y="48280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1138" y="4709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1218" y="47091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backstop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1218" y="49286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reserve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036357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64957" y="235915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TRANCHES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64957" y="2697480"/>
            <a:ext cx="3058058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07957" y="2788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048037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264957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407957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0048037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~75%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264957" y="3429000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to take losses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264957" y="3794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Junior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407957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048037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~25%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264957" y="4069080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above POL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264957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Vaulx POL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407957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048037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264957" y="4709160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first 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40080" y="5577840"/>
            <a:ext cx="1091153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55778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spc="300" kern="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WATERFALL  ·  </a:t>
            </a:r>
            <a:pPr algn="ctr"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Borrower equity</a:t>
            </a:r>
            <a:pPr algn="ctr"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 first-loss</a:t>
            </a:r>
            <a:pPr algn="ctr"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Junior tranche</a:t>
            </a:r>
            <a:pPr algn="ctr"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tranche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40080" y="6217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i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beats Maple syrupUSDC (~7%) by 100 bps. Insurance covers theft &amp; damage to trustee — never default risk.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TEAM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Operators, builders, and market </a:t>
            </a:r>
            <a:pPr indent="0" marL="0">
              <a:buNone/>
            </a:pPr>
            <a:r>
              <a:rPr lang="en-US" sz="32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</a:t>
            </a:r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combines banking, electronic-security infrastructure, Solana engineering, and live DeFi distribution.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3917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365" y="2761488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George Dimitrov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CEO / CTO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05840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execution, global banking operations, governance, legal and regulatory alignment.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55305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55305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69142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90" y="2761488"/>
            <a:ext cx="512064" cy="5120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38185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Marcelo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038185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  ·  Gitel founder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21065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38185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years building Brazilian electronic-security infra: CCTV · IoT · access control · NOC. The exact tech behind Vaulx's atomic custody invariant.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070531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70531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684368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761488"/>
            <a:ext cx="512064" cy="5120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53411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Rodrigo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253411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Partnerships &amp; BD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436291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53411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network, market entry, and commercial partnerships across Brazil and LATAM.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285756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285756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99593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041" y="2761488"/>
            <a:ext cx="512064" cy="51206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468636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Edson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468636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Solana Engineer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651516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468636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Anchor, Bubblegum, oracle integration. Ensures the on-chain stack is solid.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500982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9500982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0114818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0266" y="2761488"/>
            <a:ext cx="512064" cy="51206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683862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</a:t>
            </a:r>
            <a:endParaRPr lang="en-US" sz="1500" dirty="0"/>
          </a:p>
        </p:txBody>
      </p:sp>
      <p:sp>
        <p:nvSpPr>
          <p:cNvPr id="45" name="Text 38"/>
          <p:cNvSpPr/>
          <p:nvPr/>
        </p:nvSpPr>
        <p:spPr>
          <a:xfrm>
            <a:off x="9683862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 &amp; Community Advisor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9866742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9683862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4p.finance. Connected to US and São Paulo luxury-watch flow, crypto network, and community.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COMPETITOR CAN ASSEMBLE THIS TEAM.   </a:t>
            </a:r>
            <a:pPr algn="ctr" indent="0" marL="0">
              <a:buNone/>
            </a:pPr>
            <a:r>
              <a:rPr lang="en-US" sz="1050" i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commercial conversations with appraisers, custodians, curators.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BANKING   ·   ELECTRONIC SECURITY   ·   BD   ·   SOLANA   ·   DEFI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  COMPETITIVE LANDSCAPE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different market.  A different </a:t>
            </a:r>
            <a:pPr indent="0" marL="0">
              <a:buNone/>
            </a:pPr>
            <a:r>
              <a:rPr lang="en-US" sz="32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proved demand. Vaulx occupies the Solana + physical luxury + licensed-partner + emerging-market wedge.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554480"/>
                <a:gridCol w="2011680"/>
                <a:gridCol w="2011680"/>
                <a:gridCol w="149321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Player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 class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Custody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Geography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Kettle Finance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 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NYC vault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 raised ·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4K Protocol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 / Polygon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guardians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· luxury loans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Tangible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 + watches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 SPVs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· broader RWA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Arcade.xyz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Wrapped NFTs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NFT lending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VAULX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 physical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licensed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→ modular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Devnet · mainnet after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937760"/>
            <a:ext cx="10911535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102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UNOCCUPIED VERTEX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4068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Solana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580644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lower-cost composability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82264" y="544068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Emerging-market first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82264" y="580644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credit costs 60–400%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95848" y="544068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 third-party custody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95848" y="580644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black box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09431" y="544068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issuance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709431" y="580644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regulated local partner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300" i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Vaulx sits in that vertex. Solana economics, LATAM-first geography, composable architecture, regulated-local issuance.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  BUILT  ·  ASK  ·  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</a:t>
            </a:r>
            <a:pPr indent="0" marL="0">
              <a:buNone/>
            </a:pPr>
            <a:r>
              <a:rPr lang="en-US" sz="32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Clear </a:t>
            </a:r>
            <a:pPr indent="0" marL="0">
              <a:buNone/>
            </a:pPr>
            <a:r>
              <a:rPr lang="en-US" sz="3200" b="1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Mainnet in </a:t>
            </a:r>
            <a:pPr indent="0" marL="0">
              <a:buNone/>
            </a:pPr>
            <a:r>
              <a:rPr lang="en-US" sz="32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</a:t>
            </a:r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484778" cy="333756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67128"/>
            <a:ext cx="2570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today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2651760"/>
            <a:ext cx="2936138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54480" y="2926080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programs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54480" y="3172968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· loan · trdc · auction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54480" y="3520440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green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554480" y="3767328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 + CI gating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4400" y="4069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554480" y="4114800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live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554480" y="4361688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vaulx.fi · /admin/demo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4400" y="4663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554480" y="4709160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indexer + bridge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54480" y="4956048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event log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53458" y="1874520"/>
            <a:ext cx="3484778" cy="3337560"/>
          </a:xfrm>
          <a:prstGeom prst="rect">
            <a:avLst/>
          </a:prstGeom>
          <a:solidFill>
            <a:srgbClr val="12131A"/>
          </a:solidFill>
          <a:ln w="19050">
            <a:solidFill>
              <a:srgbClr val="C9A8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53458" y="1874520"/>
            <a:ext cx="91440" cy="33375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778" y="214884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30698" y="2167128"/>
            <a:ext cx="2570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4627778" y="2651760"/>
            <a:ext cx="2936138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353458" y="2880360"/>
            <a:ext cx="3484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7000" dirty="0"/>
          </a:p>
        </p:txBody>
      </p:sp>
      <p:sp>
        <p:nvSpPr>
          <p:cNvPr id="29" name="Text 25"/>
          <p:cNvSpPr/>
          <p:nvPr/>
        </p:nvSpPr>
        <p:spPr>
          <a:xfrm>
            <a:off x="4353458" y="3931920"/>
            <a:ext cx="348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RWA track  ·  pre-seed bridge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719218" y="4297680"/>
            <a:ext cx="275325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27778" y="4206240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our 4 Anchor programs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627778" y="44256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custodian + appraiser + curator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627778" y="4645152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 first 50 loans by Q3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627778" y="4864608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seed with traction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8066837" y="1874520"/>
            <a:ext cx="3484778" cy="333756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2148840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844077" y="2167128"/>
            <a:ext cx="2570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plan</a:t>
            </a:r>
            <a:endParaRPr lang="en-US" sz="2000" dirty="0"/>
          </a:p>
        </p:txBody>
      </p:sp>
      <p:sp>
        <p:nvSpPr>
          <p:cNvPr id="38" name="Shape 33"/>
          <p:cNvSpPr/>
          <p:nvPr/>
        </p:nvSpPr>
        <p:spPr>
          <a:xfrm>
            <a:off x="8341157" y="2651760"/>
            <a:ext cx="2936138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41157" y="2880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9438437" y="288036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kickoff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9438437" y="311810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 + bug bounty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8341157" y="3383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60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9438437" y="338328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custodian signed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9438437" y="362102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Lloyd's binder confirmed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8341157" y="3886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90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9438437" y="388620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mainnet launch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9438437" y="412394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loan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8341157" y="4389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9438437" y="438912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customers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9438437" y="462686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 live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8341157" y="4892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9438437" y="489204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customers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9438437" y="512978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close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640080" y="54406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STACK 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 ·  Sumsub  ·  Sekuro  ·  Lloyd's  ·  Kamino  ·  Crossmint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40080" y="5852160"/>
            <a:ext cx="10911535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rail between physical luxury and onchain capital.   </a:t>
            </a:r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Solana.</a:t>
            </a:r>
            <a:endParaRPr lang="en-US" sz="1400" dirty="0"/>
          </a:p>
        </p:txBody>
      </p:sp>
      <p:sp>
        <p:nvSpPr>
          <p:cNvPr id="57" name="Shape 52"/>
          <p:cNvSpPr/>
          <p:nvPr/>
        </p:nvSpPr>
        <p:spPr>
          <a:xfrm>
            <a:off x="8534095" y="5961888"/>
            <a:ext cx="30175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534095" y="5961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build with us.   </a:t>
            </a:r>
            <a:pPr algn="ctr" indent="0" marL="0">
              <a:buNone/>
            </a:pPr>
            <a:r>
              <a:rPr lang="en-US" sz="1400" b="1" i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pic>
        <p:nvPicPr>
          <p:cNvPr id="59" name="Image 3" descr="/Users/gogy/MyCODE/VAULX/.claude/worktrees/recursing-mcnulty-a36d0a/docs/colosseum/vaulx_log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92240"/>
            <a:ext cx="457200" cy="123444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109728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github.com/Vaulxfi  ·  vaulx.fi  ·  Solana Devnet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Vaulx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Vaulx — The on-chain credit protocol</dc:title>
  <dc:subject>Colosseum Cypherpunk Hackathon 2026 · Solana RWA</dc:subject>
  <dc:creator>Vaulx</dc:creator>
  <cp:lastModifiedBy>Vaulx</cp:lastModifiedBy>
  <cp:revision>1</cp:revision>
  <dcterms:created xsi:type="dcterms:W3CDTF">2026-05-07T19:17:28Z</dcterms:created>
  <dcterms:modified xsi:type="dcterms:W3CDTF">2026-05-07T19:17:28Z</dcterms:modified>
</cp:coreProperties>
</file>