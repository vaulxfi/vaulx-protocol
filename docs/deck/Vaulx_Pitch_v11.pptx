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66" r:id="rId6"/>
    <p:sldId id="258" r:id="rId7"/>
    <p:sldId id="25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20640" y="0"/>
            <a:ext cx="1097280" cy="6858000"/>
          </a:xfrm>
          <a:prstGeom prst="rect">
            <a:avLst/>
          </a:prstGeom>
          <a:solidFill>
            <a:srgbClr val="0A0A0B">
              <a:alpha val="65000"/>
            </a:srgbClr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7607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" y="502920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 ·  COLOSSEUM CYPHERPUNK 2026</a:t>
            </a:r>
            <a:endParaRPr lang="en-US" sz="950" dirty="0"/>
          </a:p>
        </p:txBody>
      </p:sp>
      <p:pic>
        <p:nvPicPr>
          <p:cNvPr id="6" name="Image 1" descr="/Users/gogy/MyCODE/VAULX/.claude/worktrees/recursing-mcnulty-a36d0a/docs/colosseum/vaulx_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4206240" cy="1152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468880"/>
            <a:ext cx="914400" cy="2743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2697480"/>
            <a:ext cx="6766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</a:t>
            </a:r>
            <a:r>
              <a:rPr lang="en-US" sz="3200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rail </a:t>
            </a:r>
            <a:r>
              <a:rPr lang="en-US" sz="3200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between physical luxury</a:t>
            </a:r>
            <a:endParaRPr lang="en-US" sz="32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and onchain capital.</a:t>
            </a:r>
            <a:endParaRPr lang="en-US" sz="3200" dirty="0"/>
          </a:p>
        </p:txBody>
      </p:sp>
      <p:pic>
        <p:nvPicPr>
          <p:cNvPr id="9" name="Image 2" descr="/tmp/vaulx_pptx/logo_pngs/solana-sol.png"/>
          <p:cNvPicPr>
            <a:picLocks noChangeAspect="1"/>
          </p:cNvPicPr>
          <p:nvPr/>
        </p:nvPicPr>
        <p:blipFill>
          <a:blip r:embed="rId2"/>
          <a:srcRect t="-128571" b="-128571"/>
          <a:stretch>
            <a:fillRect/>
          </a:stretch>
        </p:blipFill>
        <p:spPr>
          <a:xfrm>
            <a:off x="640080" y="42976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42519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Solana.  Live on Devnet today.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47548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take custody.  </a:t>
            </a:r>
            <a:r>
              <a:rPr lang="en-US" sz="1100" kern="0" spc="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hold capital.  </a:t>
            </a:r>
            <a:r>
              <a:rPr lang="en-US" sz="1100" b="1" kern="0" spc="1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in smart contracts.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6080760"/>
            <a:ext cx="6400800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0080" y="6217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</a:t>
            </a:r>
            <a:r>
              <a:rPr lang="en-US" sz="11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vaulx.fi</a:t>
            </a:r>
            <a:r>
              <a:rPr lang="en-US" sz="11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Devnet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1FCDA0"/>
          </a:solidFill>
          <a:ln w="12700">
            <a:solidFill>
              <a:srgbClr val="1FCD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THE ASYMMETRY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Luxury collateral.  </a:t>
            </a:r>
            <a:endParaRPr lang="en-US" sz="3600" b="1" dirty="0">
              <a:solidFill>
                <a:srgbClr val="F5F0E8"/>
              </a:solidFill>
              <a:latin typeface="Georgia" panose="02040502050405090303" pitchFamily="34" charset="0"/>
              <a:ea typeface="Georgia" panose="02040502050405090303" pitchFamily="34" charset="-122"/>
              <a:cs typeface="Georgia" panose="02040502050405090303" pitchFamily="34" charset="-120"/>
            </a:endParaRPr>
          </a:p>
          <a:p>
            <a:pPr marL="3657600" lvl="8" indent="3419475">
              <a:buNone/>
            </a:pPr>
            <a:r>
              <a:rPr lang="en-US" sz="36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Broken credit </a:t>
            </a:r>
            <a:r>
              <a:rPr lang="en-US" sz="3600" b="1" i="1" dirty="0">
                <a:solidFill>
                  <a:srgbClr val="1FCDA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rail</a:t>
            </a:r>
            <a:r>
              <a:rPr lang="en-US" sz="36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Asset-rich borrowers face punitive credit.					</a:t>
            </a:r>
            <a:r>
              <a:rPr lang="en-US" sz="13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 Onchain capital earns single digits. </a:t>
            </a:r>
            <a:endParaRPr lang="en-US" sz="1300" dirty="0">
              <a:solidFill>
                <a:srgbClr val="C8C2B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 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9535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Credit-card rotativo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9900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 · 50M Brazilians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0"/>
            <a:ext cx="5029200" cy="82296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69748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Consumer loan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6301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bank lending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6791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40480"/>
            <a:ext cx="1357884" cy="82296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33756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~61%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336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Caixa penhor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42702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LTV · scrap-metal 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0799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480560"/>
            <a:ext cx="653796" cy="8229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97764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8737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Vaulx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49103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LTV · full asset value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14807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120640"/>
            <a:ext cx="528066" cy="82296"/>
          </a:xfrm>
          <a:prstGeom prst="rect">
            <a:avLst/>
          </a:prstGeom>
          <a:solidFill>
            <a:srgbClr val="1FCDA0"/>
          </a:solidFill>
          <a:ln w="12700">
            <a:solidFill>
              <a:srgbClr val="1FCD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461772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54406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Banco Central do Brasil  ·  Caixa Federal published rates  ·  rotativo = balance carried past 30-day grace.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233172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 SIDE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2697480"/>
            <a:ext cx="4510735" cy="301752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83464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ONCHAIN USDC YIELD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200400"/>
            <a:ext cx="4510735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C9A8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8–10%</a:t>
            </a:r>
            <a:endParaRPr lang="en-US" sz="7600" dirty="0"/>
          </a:p>
        </p:txBody>
      </p:sp>
      <p:sp>
        <p:nvSpPr>
          <p:cNvPr id="38" name="Text 36"/>
          <p:cNvSpPr/>
          <p:nvPr/>
        </p:nvSpPr>
        <p:spPr>
          <a:xfrm>
            <a:off x="7040880" y="443484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 ·  cheap  ·  patient  ·  global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4800600"/>
            <a:ext cx="377921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93776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available  ·  rail missing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530352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/ ETH-as-collateral exists.  Not the use case.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</a:t>
            </a:r>
            <a:r>
              <a:rPr lang="en-US" sz="18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gap is not capital.   </a:t>
            </a:r>
            <a:r>
              <a:rPr lang="en-US" sz="1800" dirty="0">
                <a:solidFill>
                  <a:srgbClr val="C9A8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</a:t>
            </a:r>
            <a:r>
              <a:rPr lang="en-US" sz="18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gap is the </a:t>
            </a:r>
            <a:r>
              <a:rPr lang="en-US" sz="1800" b="1" i="1" dirty="0">
                <a:solidFill>
                  <a:srgbClr val="1FCDA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rail.</a:t>
            </a:r>
            <a:endParaRPr lang="en-US" sz="1800" dirty="0"/>
          </a:p>
        </p:txBody>
      </p:sp>
      <p:pic>
        <p:nvPicPr>
          <p:cNvPr id="45" name="Picture 44" descr="watch"/>
          <p:cNvPicPr>
            <a:picLocks noChangeAspect="1"/>
          </p:cNvPicPr>
          <p:nvPr/>
        </p:nvPicPr>
        <p:blipFill>
          <a:blip r:embed="rId1"/>
          <a:srcRect l="7327" t="8398" r="26489" b="8417"/>
          <a:stretch>
            <a:fillRect/>
          </a:stretch>
        </p:blipFill>
        <p:spPr>
          <a:xfrm>
            <a:off x="3919855" y="-84455"/>
            <a:ext cx="3932555" cy="2781935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THE ATOMIC RAIL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One atomic </a:t>
            </a:r>
            <a:r>
              <a:rPr lang="en-US" sz="3400" b="1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rail </a:t>
            </a:r>
            <a:r>
              <a:rPr lang="en-US" sz="3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from vault to USDC.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demand, licensed custody, onchain proof, and Solana liquidity — stitched into one transaction-safe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505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275" y="245059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971800"/>
            <a:ext cx="15605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Borrower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657600"/>
            <a:ext cx="156051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login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Sumsub KYC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appraisal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6355" y="3611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886395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0987" y="24505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590" y="245059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69275" y="2971800"/>
            <a:ext cx="15605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Licensed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custody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069275" y="3657600"/>
            <a:ext cx="156051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Sekuro intake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Brinks-class network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Lloyd's insurance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12670" y="3611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13271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97302" y="24505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05" y="245059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15590" y="2971800"/>
            <a:ext cx="15605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Onchain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proof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315590" y="3657600"/>
            <a:ext cx="156051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Metaplex cNFT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 attestation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 + RedStone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058985" y="3611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79025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43617" y="24505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220" y="2450592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61905" y="2971800"/>
            <a:ext cx="15605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Lending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rails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561905" y="3657600"/>
            <a:ext cx="156051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· loan · auction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Kamino · Loopscale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curated USDC liquidity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05300" y="3611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962534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789932" y="24505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535" y="2450592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08220" y="2971800"/>
            <a:ext cx="15605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Outcome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808220" y="3657600"/>
            <a:ext cx="156051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 USDC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14-day Dutch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recovery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40080" y="5577840"/>
            <a:ext cx="10911535" cy="59436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0080" y="5577840"/>
            <a:ext cx="73152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kern="0" spc="400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INVARIANT  ·  </a:t>
            </a:r>
            <a:r>
              <a:rPr lang="en-US" sz="1400" i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 USDC is released until the licensed custodian confirms physical custody onchain.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315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1188720" y="6355080"/>
            <a:ext cx="299709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modules ship once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368698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825898" y="6355080"/>
            <a:ext cx="299709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modules swap per market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8005877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8463077" y="6355080"/>
            <a:ext cx="299709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Vaulx posts 5% first-loss POL on every loan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WHY NOW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Why now: the </a:t>
            </a:r>
            <a:r>
              <a:rPr lang="en-US" sz="3400" b="1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stack </a:t>
            </a:r>
            <a:r>
              <a:rPr lang="en-US" sz="3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finally exists.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Solana primitives, reusable compliance rails, and real RWA momentum make this window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487168"/>
            <a:ext cx="26130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cNFT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108960"/>
            <a:ext cx="297881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$0.0005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" y="3506724"/>
            <a:ext cx="297881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mint  ·  scales globally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32122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42" y="25146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9362" y="2487168"/>
            <a:ext cx="26130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06442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06442" y="3108960"/>
            <a:ext cx="297881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1×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4606442" y="3506724"/>
            <a:ext cx="297881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onchain KYC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24165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485" y="251460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01405" y="2487168"/>
            <a:ext cx="26130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Composable lending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98485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98485" y="3108960"/>
            <a:ext cx="297881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Anchor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8298485" y="3506724"/>
            <a:ext cx="297881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Kamino · Loopscale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1139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283964"/>
            <a:ext cx="26130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RWA on Solana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14400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4400" y="4905756"/>
            <a:ext cx="297881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&gt;$1.82B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914400" y="5303520"/>
            <a:ext cx="297881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 MoM  ·  Mar 2026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332122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442" y="431139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09362" y="4283964"/>
            <a:ext cx="26130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Stablecoin rails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606442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606442" y="4905756"/>
            <a:ext cx="297881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USDPT</a:t>
            </a:r>
            <a:endParaRPr lang="en-US" sz="2800" dirty="0"/>
          </a:p>
        </p:txBody>
      </p:sp>
      <p:sp>
        <p:nvSpPr>
          <p:cNvPr id="37" name="Text 30"/>
          <p:cNvSpPr/>
          <p:nvPr/>
        </p:nvSpPr>
        <p:spPr>
          <a:xfrm>
            <a:off x="4606442" y="5303520"/>
            <a:ext cx="297881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Union  ·  May 2026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024165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485" y="4311396"/>
            <a:ext cx="384048" cy="38404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801405" y="4283964"/>
            <a:ext cx="261305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Tokenized funds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8298485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298485" y="4905756"/>
            <a:ext cx="297881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$2.3B+</a:t>
            </a:r>
            <a:endParaRPr lang="en-US" sz="2800" dirty="0"/>
          </a:p>
        </p:txBody>
      </p:sp>
      <p:sp>
        <p:nvSpPr>
          <p:cNvPr id="43" name="Text 35"/>
          <p:cNvSpPr/>
          <p:nvPr/>
        </p:nvSpPr>
        <p:spPr>
          <a:xfrm>
            <a:off x="8298485" y="5303520"/>
            <a:ext cx="297881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· Franklin · live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40080" y="6473952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</a:t>
            </a:r>
            <a:r>
              <a:rPr lang="en-US" sz="1300" i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Sumsub × Solana SAS integration (May 2025) gave us reusable KYC.  None of this stack existed 18 months ago.</a:t>
            </a:r>
            <a:endParaRPr lang="en-US" sz="1300" dirty="0"/>
          </a:p>
        </p:txBody>
      </p:sp>
      <p:sp>
        <p:nvSpPr>
          <p:cNvPr id="46" name="Shape 33"/>
          <p:cNvSpPr/>
          <p:nvPr/>
        </p:nvSpPr>
        <p:spPr>
          <a:xfrm>
            <a:off x="640080" y="5838825"/>
            <a:ext cx="10911840" cy="383540"/>
          </a:xfrm>
          <a:prstGeom prst="rect">
            <a:avLst/>
          </a:prstGeom>
          <a:solidFill>
            <a:srgbClr val="FAFAF7"/>
          </a:solidFill>
          <a:ln w="12700">
            <a:solidFill>
              <a:srgbClr val="0E7C7B"/>
            </a:solidFill>
            <a:prstDash val="solid"/>
          </a:ln>
        </p:spPr>
        <p:txBody>
          <a:bodyPr/>
          <a:p>
            <a:r>
              <a:rPr lang="en-US"/>
              <a:t> </a:t>
            </a:r>
            <a:r>
              <a:rPr lang="en-US" dirty="0"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  <a:sym typeface="+mn-ea"/>
              </a:rPr>
              <a:t>Vaulx is Solana-native by design, not a port from another chain.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CYCLE ECONOMICS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Cheaper than formal credit. More capital per asset.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24% APR and 50% LTV, Vaulx undercuts the cheapest formal option in Brazil and lends far more per watch.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40080" y="2240280"/>
          <a:ext cx="10911535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463040"/>
                <a:gridCol w="2743200"/>
                <a:gridCol w="2681935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LTV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 from $14k Rolex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12-mo cost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Credit-card rotativo</a:t>
                      </a:r>
                      <a:endParaRPr lang="en-US" sz="12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~450%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massive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Consumer loan</a:t>
                      </a:r>
                      <a:endParaRPr lang="en-US" sz="12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~61%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~$3,050 on $5k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Caixa penhor</a:t>
                      </a:r>
                      <a:endParaRPr lang="en-US" sz="12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~30%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20%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~$2,800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~$840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5F0E8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VAULX</a:t>
                      </a:r>
                      <a:endParaRPr lang="en-US" sz="13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24%</a:t>
                      </a:r>
                      <a:endParaRPr lang="en-US" sz="13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50%</a:t>
                      </a:r>
                      <a:endParaRPr lang="en-US" sz="13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$7,000</a:t>
                      </a:r>
                      <a:endParaRPr lang="en-US" sz="13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~$1,680</a:t>
                      </a:r>
                      <a:endParaRPr lang="en-US" sz="13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434840"/>
            <a:ext cx="352745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572000"/>
            <a:ext cx="30702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3-MO LOAN  ·  $7K BORROWED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" y="48920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Interest: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53130" y="48920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$420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5212080"/>
            <a:ext cx="224729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LP yield (8%)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53130" y="5212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5840" y="5431536"/>
            <a:ext cx="224729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Operations (12%)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53130" y="5431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$210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05840" y="5650992"/>
            <a:ext cx="224729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 margin (4%)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53130" y="565099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$70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32122" y="4434840"/>
            <a:ext cx="3527450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32122" y="4572000"/>
            <a:ext cx="35274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EFFICIENCY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32122" y="4800600"/>
            <a:ext cx="352745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2.5×</a:t>
            </a:r>
            <a:endParaRPr lang="en-US" sz="6400" dirty="0"/>
          </a:p>
        </p:txBody>
      </p:sp>
      <p:sp>
        <p:nvSpPr>
          <p:cNvPr id="22" name="Text 19"/>
          <p:cNvSpPr/>
          <p:nvPr/>
        </p:nvSpPr>
        <p:spPr>
          <a:xfrm>
            <a:off x="4332122" y="5532120"/>
            <a:ext cx="35274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more capital per asset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332122" y="5760720"/>
            <a:ext cx="3527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 LTV vs 20% scrap-metal LTV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24165" y="4434840"/>
            <a:ext cx="352745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52765" y="4572000"/>
            <a:ext cx="30702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 WIN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252765" y="4937760"/>
            <a:ext cx="307025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Cheaper</a:t>
            </a: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Caixa.
</a:t>
            </a:r>
            <a:r>
              <a:rPr lang="en-US" sz="1400" b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19×</a:t>
            </a: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cheaper than rotativo.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52765" y="5577840"/>
            <a:ext cx="307025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52765" y="5669280"/>
            <a:ext cx="3070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revenue:  </a:t>
            </a: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$300–600/yr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77240" y="6263640"/>
            <a:ext cx="24535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 all-in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7240" y="6464808"/>
            <a:ext cx="24535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24% APR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05124" y="6263640"/>
            <a:ext cx="24535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revenue / asset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05124" y="6464808"/>
            <a:ext cx="24535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$300–600 / yr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33008" y="6263640"/>
            <a:ext cx="24535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net (post EL)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233008" y="6464808"/>
            <a:ext cx="24535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~5% APR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960891" y="6263640"/>
            <a:ext cx="24535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960891" y="6464808"/>
            <a:ext cx="24535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short-term liquidity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RISK · LIQUIDATION · LP TRANCHES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Risk is tiered.  </a:t>
            </a:r>
            <a:r>
              <a:rPr lang="en-US" sz="3200" b="1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Default </a:t>
            </a:r>
            <a:r>
              <a:rPr lang="en-US" sz="3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is choreographed.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is over-collateralized by process, then protected by tranches, liquidation discipline, and protocol-owned first loss.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59152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BY ASSET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7889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27889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Steel sport watches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1089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1089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Gold / precious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35661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Handbags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40233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40233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4805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Art / one-offs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4805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4805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8218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6818" y="2359152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14-DAY DEFAULT PATH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66818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2538" y="29992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1974" y="31181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1138" y="28803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1218" y="2880360"/>
            <a:ext cx="218937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Margin 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1218" y="3099816"/>
            <a:ext cx="218937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to top 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2538" y="34564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1974" y="35753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1138" y="33375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1218" y="3337560"/>
            <a:ext cx="218937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Pool LPs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1218" y="3557016"/>
            <a:ext cx="218937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appraisal floor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2538" y="39136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71974" y="40325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1138" y="37947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1218" y="3794760"/>
            <a:ext cx="218937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Resellers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1218" y="4014216"/>
            <a:ext cx="218937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network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2538" y="43708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71974" y="44897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1138" y="42519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1218" y="4251960"/>
            <a:ext cx="218937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Open Dutch auction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1218" y="4471416"/>
            <a:ext cx="218937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decay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12538" y="48280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1138" y="47091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1218" y="4709160"/>
            <a:ext cx="218937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Offline backstop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1218" y="4928616"/>
            <a:ext cx="218937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reserve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36357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64957" y="2359152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TRANCHES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64957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07957" y="278892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048037" y="27889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64957" y="31546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Senior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407957" y="31546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048037" y="31546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~75%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264957" y="3429000"/>
            <a:ext cx="305805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 take losses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64957" y="37947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Junior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407957" y="37947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048037" y="37947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~25%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264957" y="4069080"/>
            <a:ext cx="305805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above POL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64957" y="44348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Vaulx POL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407957" y="44348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048037" y="44348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264957" y="4709160"/>
            <a:ext cx="305805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first 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kern="0" spc="300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LOSS WATERFALL  ·  </a:t>
            </a:r>
            <a:r>
              <a:rPr lang="en-US" sz="13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Borrower equity</a:t>
            </a:r>
            <a:r>
              <a:rPr lang="en-US" sz="1300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 →  </a:t>
            </a:r>
            <a:r>
              <a:rPr lang="en-US" sz="1300" b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POL first-loss</a:t>
            </a:r>
            <a:r>
              <a:rPr lang="en-US" sz="1300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 →  </a:t>
            </a:r>
            <a:r>
              <a:rPr lang="en-US" sz="13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Junior tranche</a:t>
            </a:r>
            <a:r>
              <a:rPr lang="en-US" sz="1300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 →  </a:t>
            </a:r>
            <a:r>
              <a:rPr lang="en-US" sz="1300" b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Senior tranche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40080" y="6217920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i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beats Maple syrupUSDC (~7%) by 100 bps. Insurance covers theft &amp; damage to trustee — never default risk.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TEAM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Operators, builders, and market </a:t>
            </a:r>
            <a:r>
              <a:rPr lang="en-US" sz="3200" b="1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access</a:t>
            </a:r>
            <a:r>
              <a:rPr lang="en-US" sz="3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combines banking, electronic-security infrastructure, Solana engineering, and live DeFi distribution.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3917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365" y="276148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566160"/>
            <a:ext cx="168487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George Dimitrov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867912"/>
            <a:ext cx="1684873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 / CTO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05840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251960"/>
            <a:ext cx="1684873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execution, global banking operations, governance, legal and regulatory alignment.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55305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55305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69142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0" y="2761488"/>
            <a:ext cx="512064" cy="5120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38185" y="3566160"/>
            <a:ext cx="168487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Marcelo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038185" y="3867912"/>
            <a:ext cx="1684873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  ·  Gitel founder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21065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38185" y="4251960"/>
            <a:ext cx="1684873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years building Brazilian electronic-security infra: CCTV · IoT · access control · NOC. The exact tech behind Vaulx's atomic custody invariant.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070531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70531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84368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761488"/>
            <a:ext cx="512064" cy="5120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53411" y="3566160"/>
            <a:ext cx="168487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Rodrigo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253411" y="3867912"/>
            <a:ext cx="1684873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Partnerships &amp; BD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36291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53411" y="4251960"/>
            <a:ext cx="1684873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network, market entry, and commercial partnerships across Brazil and LATAM.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285756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285756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99593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041" y="2761488"/>
            <a:ext cx="512064" cy="51206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68636" y="3566160"/>
            <a:ext cx="168487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Edson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468636" y="3867912"/>
            <a:ext cx="1684873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Solana Engineer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651516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68636" y="4251960"/>
            <a:ext cx="1684873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Anchor, Bubblegum, oracle integration. Ensures the on-chain stack is solid.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500982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500982" y="2240280"/>
            <a:ext cx="54864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0114818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0266" y="2761488"/>
            <a:ext cx="512064" cy="51206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683862" y="3566160"/>
            <a:ext cx="168487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Felipe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9683862" y="3867912"/>
            <a:ext cx="1684873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 &amp; Community Advisor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9866742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9683862" y="4251960"/>
            <a:ext cx="1684873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4p.finance. Connected to US and São Paulo luxury-watch flow, crypto network, and community.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COMPETITOR CAN ASSEMBLE THIS TEAM.   </a:t>
            </a:r>
            <a:r>
              <a:rPr lang="en-US" sz="105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commercial conversations with appraisers, custodians, curators.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   ·   ELECTRONIC SECURITY   ·   BD   ·   SOLANA   ·   DEFI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COMPETITIVE LANDSCAPE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different market.  A different </a:t>
            </a:r>
            <a:r>
              <a:rPr lang="en-US" sz="3200" b="1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stack</a:t>
            </a:r>
            <a:r>
              <a:rPr lang="en-US" sz="32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proved demand. Vaulx occupies the Solana + physical luxury + licensed-partner + emerging-market wedge.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2240280"/>
          <a:ext cx="10911535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554480"/>
                <a:gridCol w="2011680"/>
                <a:gridCol w="2011680"/>
                <a:gridCol w="1493215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Player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 class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Chain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Custody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Geography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30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Kettle Finance</a:t>
                      </a:r>
                      <a:endParaRPr lang="en-US" sz="11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L2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NYC vault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US-first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 raised · live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4K Protocol</a:t>
                      </a:r>
                      <a:endParaRPr lang="en-US" sz="11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luxury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/ Polygon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guardians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luxury loans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Tangible</a:t>
                      </a:r>
                      <a:endParaRPr lang="en-US" sz="11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 + watches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 SPVs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broader RWA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Arcade.xyz</a:t>
                      </a:r>
                      <a:endParaRPr lang="en-US" sz="11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Wrapped NFTs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digital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NFT lending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Georgia" panose="02040502050405090303" pitchFamily="34" charset="0"/>
                          <a:ea typeface="Georgia" panose="02040502050405090303" pitchFamily="34" charset="-122"/>
                          <a:cs typeface="Georgia" panose="02040502050405090303" pitchFamily="34" charset="-120"/>
                        </a:rPr>
                        <a:t>VAULX</a:t>
                      </a:r>
                      <a:endParaRPr lang="en-US" sz="1200" dirty="0">
                        <a:latin typeface="Georgia" panose="02040502050405090303" pitchFamily="34" charset="0"/>
                        <a:ea typeface="Georgia" panose="02040502050405090303" pitchFamily="34" charset="0"/>
                        <a:cs typeface="Georgia" panose="02040502050405090303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physical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licensed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→ modular global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Devnet · mainnet after audit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868680" y="51023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UNOCCUPIED VERTEX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4068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Solana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80644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 composability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82264" y="544068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Emerging-market first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82264" y="580644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credit costs 60–400%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95848" y="544068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Licensed third-party custody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95848" y="580644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black box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09431" y="544068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Joint issuance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09431" y="5806440"/>
            <a:ext cx="2339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regulated local partner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</a:t>
            </a:r>
            <a:r>
              <a:rPr lang="en-US" sz="1300" i="1" dirty="0">
                <a:solidFill>
                  <a:srgbClr val="1A1A1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Vaulx sits in that vertex. Solana economics, LATAM-first geography, composable architecture, regulated-local issuance.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BUILT  ·  ASK  · 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Built </a:t>
            </a:r>
            <a:r>
              <a:rPr lang="en-US" sz="3200" b="1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today</a:t>
            </a:r>
            <a:r>
              <a:rPr lang="en-US" sz="3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. Clear </a:t>
            </a:r>
            <a:r>
              <a:rPr lang="en-US" sz="3200" b="1" i="1" dirty="0">
                <a:solidFill>
                  <a:srgbClr val="C9A8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ask</a:t>
            </a:r>
            <a:r>
              <a:rPr lang="en-US" sz="3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. Mainnet in </a:t>
            </a:r>
            <a:r>
              <a:rPr lang="en-US" sz="3200" b="1" i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90 days</a:t>
            </a:r>
            <a:r>
              <a:rPr lang="en-US" sz="3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484778" cy="333756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67128"/>
            <a:ext cx="257037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Built today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2651760"/>
            <a:ext cx="2936138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8803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54480" y="2926080"/>
            <a:ext cx="247893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Anchor programs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54480" y="3172968"/>
            <a:ext cx="24789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· loan · trdc · auction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34747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45+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54480" y="3520440"/>
            <a:ext cx="247893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tests green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554480" y="3767328"/>
            <a:ext cx="24789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+ CI gating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440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54480" y="4114800"/>
            <a:ext cx="247893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frontend live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554480" y="4361688"/>
            <a:ext cx="24789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vaulx.fi · /admin/demo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" y="46634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554480" y="4709160"/>
            <a:ext cx="247893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indexer + bridge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54480" y="4956048"/>
            <a:ext cx="24789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event log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53458" y="1874520"/>
            <a:ext cx="3484778" cy="3337560"/>
          </a:xfrm>
          <a:prstGeom prst="rect">
            <a:avLst/>
          </a:prstGeom>
          <a:solidFill>
            <a:srgbClr val="12131A"/>
          </a:solidFill>
          <a:ln w="19050">
            <a:solidFill>
              <a:srgbClr val="C9A8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53458" y="1874520"/>
            <a:ext cx="91440" cy="33375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778" y="214884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30698" y="2167128"/>
            <a:ext cx="257037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Our ask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4627778" y="2651760"/>
            <a:ext cx="2936138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353458" y="2880360"/>
            <a:ext cx="348477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C9A8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$250K</a:t>
            </a:r>
            <a:endParaRPr lang="en-US" sz="7000" dirty="0"/>
          </a:p>
        </p:txBody>
      </p:sp>
      <p:sp>
        <p:nvSpPr>
          <p:cNvPr id="29" name="Text 25"/>
          <p:cNvSpPr/>
          <p:nvPr/>
        </p:nvSpPr>
        <p:spPr>
          <a:xfrm>
            <a:off x="4353458" y="3931920"/>
            <a:ext cx="348477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RWA track  ·  pre-seed bridge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719218" y="4297680"/>
            <a:ext cx="275325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27778" y="4206240"/>
            <a:ext cx="293613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our 4 Anchor programs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627778" y="4425696"/>
            <a:ext cx="293613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custodian + appraiser + curator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627778" y="4645152"/>
            <a:ext cx="293613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 first 50 loans by Q3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627778" y="4864608"/>
            <a:ext cx="293613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seed with traction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066837" y="1874520"/>
            <a:ext cx="3484778" cy="333756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2148840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844077" y="2167128"/>
            <a:ext cx="257037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90-day plan</a:t>
            </a:r>
            <a:endParaRPr lang="en-US" sz="2000" dirty="0"/>
          </a:p>
        </p:txBody>
      </p:sp>
      <p:sp>
        <p:nvSpPr>
          <p:cNvPr id="38" name="Shape 33"/>
          <p:cNvSpPr/>
          <p:nvPr/>
        </p:nvSpPr>
        <p:spPr>
          <a:xfrm>
            <a:off x="8341157" y="2651760"/>
            <a:ext cx="2936138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41157" y="28803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9438437" y="2880360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audit kickoff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9438437" y="3118104"/>
            <a:ext cx="202173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+ bug bounty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8341157" y="33832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60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9438437" y="3383280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custodian signed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9438437" y="3621024"/>
            <a:ext cx="202173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binder confirmed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8341157" y="38862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90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9438437" y="3886200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mainnet launch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9438437" y="4123944"/>
            <a:ext cx="202173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loan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8341157" y="43891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9438437" y="4389120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50 customers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9438437" y="4626864"/>
            <a:ext cx="202173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live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8341157" y="48920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9438437" y="4892040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100 customers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9438437" y="5129784"/>
            <a:ext cx="202173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close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640080" y="544068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STACK   </a:t>
            </a: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 ·  Sumsub  ·  Sekuro  ·  Lloyd's  ·  Kamino  ·  Crossmint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40080" y="5852160"/>
            <a:ext cx="1091153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rail between physical luxury and onchain capital.   </a:t>
            </a:r>
            <a:r>
              <a:rPr lang="en-US" sz="1400" b="1" dirty="0">
                <a:solidFill>
                  <a:srgbClr val="0E7C7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Built on Solana.</a:t>
            </a:r>
            <a:endParaRPr lang="en-US" sz="1400" dirty="0"/>
          </a:p>
        </p:txBody>
      </p:sp>
      <p:sp>
        <p:nvSpPr>
          <p:cNvPr id="57" name="Shape 52"/>
          <p:cNvSpPr/>
          <p:nvPr/>
        </p:nvSpPr>
        <p:spPr>
          <a:xfrm>
            <a:off x="8534095" y="5961888"/>
            <a:ext cx="30175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534095" y="59618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A0A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Come build with us.   </a:t>
            </a:r>
            <a:r>
              <a:rPr lang="en-US" sz="1400" b="1" i="1" dirty="0">
                <a:solidFill>
                  <a:srgbClr val="0A0A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</a:t>
            </a:r>
            <a:endParaRPr lang="en-US" sz="1400" dirty="0"/>
          </a:p>
        </p:txBody>
      </p:sp>
      <p:pic>
        <p:nvPicPr>
          <p:cNvPr id="59" name="Image 3" descr="/Users/gogy/MyCODE/VAULX/.claude/worktrees/recursing-mcnulty-a36d0a/docs/colosseum/vaulx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92240"/>
            <a:ext cx="457200" cy="123444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1097280" y="647395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  ·  vaulx.fi  ·  Solana Devnet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6485</Words>
  <Application>WPS Presentation</Application>
  <PresentationFormat>On-screen Show (16:9)</PresentationFormat>
  <Paragraphs>633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SimSun</vt:lpstr>
      <vt:lpstr>Wingdings</vt:lpstr>
      <vt:lpstr>Consolas</vt:lpstr>
      <vt:lpstr>苹方-简</vt:lpstr>
      <vt:lpstr>Consolas</vt:lpstr>
      <vt:lpstr>Consolas</vt:lpstr>
      <vt:lpstr>Georgia</vt:lpstr>
      <vt:lpstr>Georgia</vt:lpstr>
      <vt:lpstr>Georgia</vt:lpstr>
      <vt:lpstr>Calibri</vt:lpstr>
      <vt:lpstr>Calibri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Vaulx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Vaulx — The on-chain credit protocol</dc:title>
  <dc:creator>Vaulx</dc:creator>
  <dc:subject>Colosseum Cypherpunk Hackathon 2026 · Solana RWA</dc:subject>
  <cp:lastModifiedBy>George Dimitrov</cp:lastModifiedBy>
  <cp:revision>3</cp:revision>
  <dcterms:created xsi:type="dcterms:W3CDTF">2026-05-07T19:31:45Z</dcterms:created>
  <dcterms:modified xsi:type="dcterms:W3CDTF">2026-05-07T19:31:45Z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A46D34F392B2151EA1E7FC69773788EF_42</vt:lpwstr>
  </property>
</Properties>
</file>