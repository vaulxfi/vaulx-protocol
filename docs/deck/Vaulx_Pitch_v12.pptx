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 Marco in São Paulo. He owns a fourteen-thousand-dollar Rolex, but his options for liquidity are predatory. The official pawn monopoly lends twenty-percent LTV at thirty percent APR. Consumer loans hit sixty. Credit-card rotativo hits four hundred percent. Meanwhile, physical-asset-rich individuals cannot access cheap global liquidity sitting on-chain at eight percent. (Pause 2.5 seconds.) Until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Vaulx. The on-chain credit rail. We don't hold capital and we don't take custody. We orchestrate off-chain complexity by wiring into the best infrastructure in the world — pulling watch pricing data from Chrono24, integrating compliance through Sumsub, embedded wallets through Crossmint, oracles through Pyth, and tapping directly into Kamino and Loopscale for Solana liquidity. Vaultik, Sekuro, Brinks, and Loomis are our target integration network for licensed custody.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atomic contract enforces five strict gates. The killer invariant: no USDC is disbursed until the licensed custodian physically vaults the asset and signs on-chain — atomically, in the same transaction. Default is managed purely at the smart contract level via event-triggered auctions.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economics beat the market. We offer borrowers fifty percent LTV at twenty-four percent APR. We beat the cheapest formal credit, provide two-and-a-half times the capital, and value the watch as a watch — not scrap metal. Vaulx nets three to six hundred dollars per asset per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LPs are tranched to match risk. Senior LPs earn eight percent fixed, while Junior LPs earn twelve percent, sitting safely above our five-percent protocol-owned first-loss buffer. Every loan is over-collateralized, with a strict fourteen-day Dutch auction on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ninety-billion-dollar addressable market. But our immediate advantage is distribution. We don't rely on paid ads. Off-chain, our founders already process São Paulo's luxury watch flow and bring a network of corporate clients. On-chain, Kamino and Loopscale pipe us directly into existing Solana yield audiences.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Solana RWA TVL crossed one-point-eight billion dollars, and Western Union launched their stablecoin on Solana this month. The institutional rails are here. Competitors exist on Ethereum, but none have Solana's economics, composability, or our LATAM-first focus where credit costs are highest.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Anyone can fork a smart contract. You cannot fork our team. I bring fifteen years of global banking. Marcelo brings thirty-eight years building Brazilian electronic-security infrastructure — the exact IoT tech stack powering our atomic custody. Rodrigo leads LATAM BD, Felipe bridges DeFi, and Edson ships our Solana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four Anchor programs are live on Devnet with forty-five-plus tests passing. We're asking for the Colosseum prize to audit our contracts, sign our first custodian, originate fifty mainnet loans by Q3, one hundred by Q4, and bridge to seed. We are Vaulx. Come build with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7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7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7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2" Type="http://schemas.openxmlformats.org/officeDocument/2006/relationships/notesSlide" Target="../notesSlides/notesSlide2.xml"/><Relationship Id="rId11" Type="http://schemas.openxmlformats.org/officeDocument/2006/relationships/slideLayout" Target="../slideLayouts/slideLayout1.xml"/><Relationship Id="rId10" Type="http://schemas.openxmlformats.org/officeDocument/2006/relationships/image" Target="../media/image11.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xml"/><Relationship Id="rId4" Type="http://schemas.openxmlformats.org/officeDocument/2006/relationships/image" Target="../media/image2.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A0B"/>
        </a:solidFill>
        <a:effectLst/>
      </p:bgPr>
    </p:bg>
    <p:spTree>
      <p:nvGrpSpPr>
        <p:cNvPr id="1" name=""/>
        <p:cNvGrpSpPr/>
        <p:nvPr/>
      </p:nvGrpSpPr>
      <p:grpSpPr>
        <a:xfrm>
          <a:off x="0" y="0"/>
          <a:ext cx="0" cy="0"/>
          <a:chOff x="0" y="0"/>
          <a:chExt cx="0" cy="0"/>
        </a:xfrm>
      </p:grpSpPr>
      <p:sp>
        <p:nvSpPr>
          <p:cNvPr id="2" name="Shape 0"/>
          <p:cNvSpPr/>
          <p:nvPr/>
        </p:nvSpPr>
        <p:spPr>
          <a:xfrm>
            <a:off x="640080" y="530352"/>
            <a:ext cx="109728" cy="22860"/>
          </a:xfrm>
          <a:prstGeom prst="rect">
            <a:avLst/>
          </a:prstGeom>
          <a:solidFill>
            <a:srgbClr val="0E7C7B"/>
          </a:solidFill>
          <a:ln w="12700">
            <a:solidFill>
              <a:srgbClr val="0E7C7B"/>
            </a:solidFill>
            <a:prstDash val="solid"/>
          </a:ln>
        </p:spPr>
      </p:sp>
      <p:sp>
        <p:nvSpPr>
          <p:cNvPr id="3" name="Text 1"/>
          <p:cNvSpPr/>
          <p:nvPr/>
        </p:nvSpPr>
        <p:spPr>
          <a:xfrm>
            <a:off x="804672" y="457200"/>
            <a:ext cx="5321808" cy="228600"/>
          </a:xfrm>
          <a:prstGeom prst="rect">
            <a:avLst/>
          </a:prstGeom>
          <a:noFill/>
        </p:spPr>
        <p:txBody>
          <a:bodyPr wrap="square" lIns="0" tIns="0" rIns="0" bIns="0" rtlCol="0" anchor="ctr"/>
          <a:lstStyle/>
          <a:p>
            <a:pPr marL="0" indent="0">
              <a:buNone/>
            </a:pPr>
            <a:r>
              <a:rPr lang="en-US" sz="950" b="1" kern="0" spc="400" dirty="0">
                <a:solidFill>
                  <a:srgbClr val="0E7C7B"/>
                </a:solidFill>
                <a:latin typeface="Consolas" pitchFamily="34" charset="0"/>
                <a:ea typeface="Consolas" pitchFamily="34" charset="-122"/>
                <a:cs typeface="Consolas" pitchFamily="34" charset="-120"/>
              </a:rPr>
              <a:t>01  /  THE ASYMMETRY</a:t>
            </a:r>
            <a:endParaRPr lang="en-US" sz="950" dirty="0"/>
          </a:p>
        </p:txBody>
      </p:sp>
      <p:sp>
        <p:nvSpPr>
          <p:cNvPr id="4" name="Text 2"/>
          <p:cNvSpPr/>
          <p:nvPr/>
        </p:nvSpPr>
        <p:spPr>
          <a:xfrm>
            <a:off x="10911535" y="274320"/>
            <a:ext cx="914400" cy="228600"/>
          </a:xfrm>
          <a:prstGeom prst="rect">
            <a:avLst/>
          </a:prstGeom>
          <a:noFill/>
        </p:spPr>
        <p:txBody>
          <a:bodyPr wrap="square" lIns="0" tIns="0" rIns="0" bIns="0" rtlCol="0" anchor="ctr"/>
          <a:lstStyle/>
          <a:p>
            <a:pPr marL="0" indent="0" algn="r">
              <a:buNone/>
            </a:pPr>
            <a:r>
              <a:rPr lang="en-US" sz="900" kern="0" spc="300" dirty="0">
                <a:solidFill>
                  <a:srgbClr val="8A8A90"/>
                </a:solidFill>
                <a:latin typeface="Consolas" pitchFamily="34" charset="0"/>
                <a:ea typeface="Consolas" pitchFamily="34" charset="-122"/>
                <a:cs typeface="Consolas" pitchFamily="34" charset="-120"/>
              </a:rPr>
              <a:t>01 / 09</a:t>
            </a:r>
            <a:endParaRPr lang="en-US" sz="900" dirty="0"/>
          </a:p>
        </p:txBody>
      </p:sp>
      <p:sp>
        <p:nvSpPr>
          <p:cNvPr id="5" name="Text 3"/>
          <p:cNvSpPr/>
          <p:nvPr/>
        </p:nvSpPr>
        <p:spPr>
          <a:xfrm>
            <a:off x="640080" y="777240"/>
            <a:ext cx="10911535" cy="868680"/>
          </a:xfrm>
          <a:prstGeom prst="rect">
            <a:avLst/>
          </a:prstGeom>
          <a:noFill/>
        </p:spPr>
        <p:txBody>
          <a:bodyPr wrap="square" lIns="0" tIns="0" rIns="0" bIns="0" rtlCol="0" anchor="ctr"/>
          <a:lstStyle/>
          <a:p>
            <a:pPr marL="0" indent="0">
              <a:buNone/>
            </a:pPr>
            <a:r>
              <a:rPr lang="en-US" sz="3600" b="1" dirty="0">
                <a:solidFill>
                  <a:srgbClr val="F5F0E8"/>
                </a:solidFill>
                <a:latin typeface="Georgia" panose="02040502050405090303" pitchFamily="34" charset="0"/>
                <a:ea typeface="Georgia" panose="02040502050405090303" pitchFamily="34" charset="-122"/>
                <a:cs typeface="Georgia" panose="02040502050405090303" pitchFamily="34" charset="-120"/>
              </a:rPr>
              <a:t>Luxury collateral.  </a:t>
            </a:r>
            <a:endParaRPr lang="en-US" sz="3600" b="1" dirty="0">
              <a:solidFill>
                <a:srgbClr val="F5F0E8"/>
              </a:solidFill>
              <a:latin typeface="Georgia" panose="02040502050405090303" pitchFamily="34" charset="0"/>
              <a:ea typeface="Georgia" panose="02040502050405090303" pitchFamily="34" charset="-122"/>
              <a:cs typeface="Georgia" panose="02040502050405090303" pitchFamily="34" charset="-120"/>
            </a:endParaRPr>
          </a:p>
          <a:p>
            <a:pPr marL="3657600" lvl="8" indent="3507740">
              <a:buNone/>
            </a:pPr>
            <a:r>
              <a:rPr lang="en-US" sz="3600" b="1" dirty="0">
                <a:solidFill>
                  <a:srgbClr val="F5F0E8"/>
                </a:solidFill>
                <a:latin typeface="Georgia" panose="02040502050405090303" pitchFamily="34" charset="0"/>
                <a:ea typeface="Georgia" panose="02040502050405090303" pitchFamily="34" charset="-122"/>
                <a:cs typeface="Georgia" panose="02040502050405090303" pitchFamily="34" charset="-120"/>
              </a:rPr>
              <a:t>Broken credit </a:t>
            </a:r>
            <a:r>
              <a:rPr lang="en-US" sz="3600" b="1" i="1" dirty="0">
                <a:solidFill>
                  <a:srgbClr val="0E7C7B"/>
                </a:solidFill>
                <a:latin typeface="Georgia" panose="02040502050405090303" pitchFamily="34" charset="0"/>
                <a:ea typeface="Georgia" panose="02040502050405090303" pitchFamily="34" charset="-122"/>
                <a:cs typeface="Georgia" panose="02040502050405090303" pitchFamily="34" charset="-120"/>
              </a:rPr>
              <a:t>rail</a:t>
            </a:r>
            <a:r>
              <a:rPr lang="en-US" sz="3600" b="1" dirty="0">
                <a:solidFill>
                  <a:srgbClr val="F5F0E8"/>
                </a:solidFill>
                <a:latin typeface="Georgia" panose="02040502050405090303" pitchFamily="34" charset="0"/>
                <a:ea typeface="Georgia" panose="02040502050405090303" pitchFamily="34" charset="-122"/>
                <a:cs typeface="Georgia" panose="02040502050405090303" pitchFamily="34" charset="-120"/>
              </a:rPr>
              <a:t>.</a:t>
            </a:r>
            <a:endParaRPr lang="en-US" sz="3600" dirty="0"/>
          </a:p>
        </p:txBody>
      </p:sp>
      <p:sp>
        <p:nvSpPr>
          <p:cNvPr id="6" name="Text 4"/>
          <p:cNvSpPr/>
          <p:nvPr/>
        </p:nvSpPr>
        <p:spPr>
          <a:xfrm>
            <a:off x="640080" y="1691640"/>
            <a:ext cx="10911535" cy="365760"/>
          </a:xfrm>
          <a:prstGeom prst="rect">
            <a:avLst/>
          </a:prstGeom>
          <a:noFill/>
        </p:spPr>
        <p:txBody>
          <a:bodyPr wrap="square" lIns="0" tIns="0" rIns="0" bIns="0" rtlCol="0" anchor="ctr"/>
          <a:lstStyle/>
          <a:p>
            <a:pPr marL="0" indent="0">
              <a:buNone/>
            </a:pPr>
            <a:r>
              <a:rPr lang="en-US" sz="1300" dirty="0">
                <a:solidFill>
                  <a:srgbClr val="C8C2B2"/>
                </a:solidFill>
                <a:latin typeface="Calibri" pitchFamily="34" charset="0"/>
                <a:ea typeface="Calibri" pitchFamily="34" charset="-122"/>
                <a:cs typeface="Calibri" pitchFamily="34" charset="-120"/>
              </a:rPr>
              <a:t>Asset-rich borrowers face punitive credit. 					Onchain capital earns single digits. </a:t>
            </a:r>
            <a:endParaRPr lang="en-US" sz="1300" dirty="0"/>
          </a:p>
        </p:txBody>
      </p:sp>
      <p:sp>
        <p:nvSpPr>
          <p:cNvPr id="7" name="Shape 5"/>
          <p:cNvSpPr/>
          <p:nvPr/>
        </p:nvSpPr>
        <p:spPr>
          <a:xfrm>
            <a:off x="640080" y="2121408"/>
            <a:ext cx="914400" cy="0"/>
          </a:xfrm>
          <a:prstGeom prst="line">
            <a:avLst/>
          </a:prstGeom>
          <a:noFill/>
          <a:ln w="15240">
            <a:solidFill>
              <a:srgbClr val="C9A86A"/>
            </a:solidFill>
            <a:prstDash val="solid"/>
          </a:ln>
        </p:spPr>
      </p:sp>
      <p:sp>
        <p:nvSpPr>
          <p:cNvPr id="8" name="Text 6"/>
          <p:cNvSpPr/>
          <p:nvPr/>
        </p:nvSpPr>
        <p:spPr>
          <a:xfrm>
            <a:off x="640080" y="2331720"/>
            <a:ext cx="5852160" cy="274320"/>
          </a:xfrm>
          <a:prstGeom prst="rect">
            <a:avLst/>
          </a:prstGeom>
          <a:noFill/>
        </p:spPr>
        <p:txBody>
          <a:bodyPr wrap="square" lIns="0" tIns="0" rIns="0" bIns="0" rtlCol="0" anchor="ctr"/>
          <a:lstStyle/>
          <a:p>
            <a:pPr marL="0" indent="0">
              <a:buNone/>
            </a:pPr>
            <a:r>
              <a:rPr lang="en-US" sz="1000" b="1" kern="0" spc="400" dirty="0">
                <a:solidFill>
                  <a:srgbClr val="C8C2B2"/>
                </a:solidFill>
                <a:latin typeface="Consolas" pitchFamily="34" charset="0"/>
                <a:ea typeface="Consolas" pitchFamily="34" charset="-122"/>
                <a:cs typeface="Consolas" pitchFamily="34" charset="-120"/>
              </a:rPr>
              <a:t>DEMAND SIDE</a:t>
            </a:r>
            <a:endParaRPr lang="en-US" sz="1000" dirty="0"/>
          </a:p>
        </p:txBody>
      </p:sp>
      <p:sp>
        <p:nvSpPr>
          <p:cNvPr id="9" name="Text 7"/>
          <p:cNvSpPr/>
          <p:nvPr/>
        </p:nvSpPr>
        <p:spPr>
          <a:xfrm>
            <a:off x="640080" y="2743200"/>
            <a:ext cx="914400" cy="228600"/>
          </a:xfrm>
          <a:prstGeom prst="rect">
            <a:avLst/>
          </a:prstGeom>
          <a:noFill/>
        </p:spPr>
        <p:txBody>
          <a:bodyPr wrap="square" lIns="0" tIns="0" rIns="0" bIns="0" rtlCol="0" anchor="ctr"/>
          <a:lstStyle/>
          <a:p>
            <a:pPr marL="0" indent="0">
              <a:buNone/>
            </a:pPr>
            <a:r>
              <a:rPr lang="en-US" sz="900" b="1" kern="0" spc="300" dirty="0">
                <a:solidFill>
                  <a:srgbClr val="B8412C"/>
                </a:solidFill>
                <a:latin typeface="Consolas" pitchFamily="34" charset="0"/>
                <a:ea typeface="Consolas" pitchFamily="34" charset="-122"/>
                <a:cs typeface="Consolas" pitchFamily="34" charset="-120"/>
              </a:rPr>
              <a:t>PENALTY</a:t>
            </a:r>
            <a:endParaRPr lang="en-US" sz="900" dirty="0"/>
          </a:p>
        </p:txBody>
      </p:sp>
      <p:sp>
        <p:nvSpPr>
          <p:cNvPr id="10" name="Text 8"/>
          <p:cNvSpPr/>
          <p:nvPr/>
        </p:nvSpPr>
        <p:spPr>
          <a:xfrm>
            <a:off x="640080" y="2953512"/>
            <a:ext cx="2194560" cy="274320"/>
          </a:xfrm>
          <a:prstGeom prst="rect">
            <a:avLst/>
          </a:prstGeom>
          <a:noFill/>
        </p:spPr>
        <p:txBody>
          <a:bodyPr wrap="square" lIns="0" tIns="0" rIns="0" bIns="0" rtlCol="0" anchor="ctr"/>
          <a:lstStyle/>
          <a:p>
            <a:pPr marL="0" indent="0">
              <a:buNone/>
            </a:pPr>
            <a:r>
              <a:rPr lang="en-US" sz="1400" dirty="0">
                <a:solidFill>
                  <a:srgbClr val="F5F0E8"/>
                </a:solidFill>
                <a:latin typeface="Georgia" panose="02040502050405090303" pitchFamily="34" charset="0"/>
                <a:ea typeface="Georgia" panose="02040502050405090303" pitchFamily="34" charset="-122"/>
                <a:cs typeface="Georgia" panose="02040502050405090303" pitchFamily="34" charset="-120"/>
              </a:rPr>
              <a:t>Credit-card rotativo</a:t>
            </a:r>
            <a:endParaRPr lang="en-US" sz="1400" dirty="0"/>
          </a:p>
        </p:txBody>
      </p:sp>
      <p:sp>
        <p:nvSpPr>
          <p:cNvPr id="11" name="Text 9"/>
          <p:cNvSpPr/>
          <p:nvPr/>
        </p:nvSpPr>
        <p:spPr>
          <a:xfrm>
            <a:off x="2834640" y="2990088"/>
            <a:ext cx="3657600" cy="228600"/>
          </a:xfrm>
          <a:prstGeom prst="rect">
            <a:avLst/>
          </a:prstGeom>
          <a:noFill/>
        </p:spPr>
        <p:txBody>
          <a:bodyPr wrap="square" lIns="0" tIns="0" rIns="0" bIns="0" rtlCol="0" anchor="ctr"/>
          <a:lstStyle/>
          <a:p>
            <a:pPr marL="0" indent="0">
              <a:buNone/>
            </a:pPr>
            <a:r>
              <a:rPr lang="en-US" sz="1000" i="1" dirty="0">
                <a:solidFill>
                  <a:srgbClr val="8A8A90"/>
                </a:solidFill>
                <a:latin typeface="Calibri" pitchFamily="34" charset="0"/>
                <a:ea typeface="Calibri" pitchFamily="34" charset="-122"/>
                <a:cs typeface="Calibri" pitchFamily="34" charset="-120"/>
              </a:rPr>
              <a:t>revolving balance · 50M Brazilians</a:t>
            </a:r>
            <a:endParaRPr lang="en-US" sz="1000" dirty="0"/>
          </a:p>
        </p:txBody>
      </p:sp>
      <p:sp>
        <p:nvSpPr>
          <p:cNvPr id="12" name="Shape 10"/>
          <p:cNvSpPr/>
          <p:nvPr/>
        </p:nvSpPr>
        <p:spPr>
          <a:xfrm>
            <a:off x="640080" y="3227832"/>
            <a:ext cx="5029200" cy="27432"/>
          </a:xfrm>
          <a:prstGeom prst="rect">
            <a:avLst/>
          </a:prstGeom>
          <a:solidFill>
            <a:srgbClr val="1F1F25"/>
          </a:solidFill>
          <a:ln w="12700">
            <a:solidFill>
              <a:srgbClr val="1F1F25"/>
            </a:solidFill>
            <a:prstDash val="solid"/>
          </a:ln>
        </p:spPr>
      </p:sp>
      <p:sp>
        <p:nvSpPr>
          <p:cNvPr id="13" name="Shape 11"/>
          <p:cNvSpPr/>
          <p:nvPr/>
        </p:nvSpPr>
        <p:spPr>
          <a:xfrm>
            <a:off x="640080" y="3200400"/>
            <a:ext cx="5029200" cy="82296"/>
          </a:xfrm>
          <a:prstGeom prst="rect">
            <a:avLst/>
          </a:prstGeom>
          <a:solidFill>
            <a:srgbClr val="B8412C"/>
          </a:solidFill>
          <a:ln w="12700">
            <a:solidFill>
              <a:srgbClr val="B8412C"/>
            </a:solidFill>
            <a:prstDash val="solid"/>
          </a:ln>
        </p:spPr>
      </p:sp>
      <p:sp>
        <p:nvSpPr>
          <p:cNvPr id="14" name="Text 12"/>
          <p:cNvSpPr/>
          <p:nvPr/>
        </p:nvSpPr>
        <p:spPr>
          <a:xfrm>
            <a:off x="5669280" y="2697480"/>
            <a:ext cx="822960" cy="566928"/>
          </a:xfrm>
          <a:prstGeom prst="rect">
            <a:avLst/>
          </a:prstGeom>
          <a:noFill/>
        </p:spPr>
        <p:txBody>
          <a:bodyPr wrap="square" lIns="0" tIns="0" rIns="0" bIns="0" rtlCol="0" anchor="ctr"/>
          <a:lstStyle/>
          <a:p>
            <a:pPr marL="0" indent="0" algn="r">
              <a:buNone/>
            </a:pPr>
            <a:r>
              <a:rPr lang="en-US" sz="1600" b="1" dirty="0">
                <a:solidFill>
                  <a:srgbClr val="B8412C"/>
                </a:solidFill>
                <a:latin typeface="Consolas" pitchFamily="34" charset="0"/>
                <a:ea typeface="Consolas" pitchFamily="34" charset="-122"/>
                <a:cs typeface="Consolas" pitchFamily="34" charset="-120"/>
              </a:rPr>
              <a:t>~450%</a:t>
            </a:r>
            <a:endParaRPr lang="en-US" sz="1600" dirty="0"/>
          </a:p>
        </p:txBody>
      </p:sp>
      <p:sp>
        <p:nvSpPr>
          <p:cNvPr id="15" name="Text 13"/>
          <p:cNvSpPr/>
          <p:nvPr/>
        </p:nvSpPr>
        <p:spPr>
          <a:xfrm>
            <a:off x="640080" y="3383280"/>
            <a:ext cx="914400" cy="228600"/>
          </a:xfrm>
          <a:prstGeom prst="rect">
            <a:avLst/>
          </a:prstGeom>
          <a:noFill/>
        </p:spPr>
        <p:txBody>
          <a:bodyPr wrap="square" lIns="0" tIns="0" rIns="0" bIns="0" rtlCol="0" anchor="ctr"/>
          <a:lstStyle/>
          <a:p>
            <a:pPr marL="0" indent="0">
              <a:buNone/>
            </a:pPr>
            <a:r>
              <a:rPr lang="en-US" sz="900" b="1" kern="0" spc="300" dirty="0">
                <a:solidFill>
                  <a:srgbClr val="B8412C"/>
                </a:solidFill>
                <a:latin typeface="Consolas" pitchFamily="34" charset="0"/>
                <a:ea typeface="Consolas" pitchFamily="34" charset="-122"/>
                <a:cs typeface="Consolas" pitchFamily="34" charset="-120"/>
              </a:rPr>
              <a:t>STANDARD</a:t>
            </a:r>
            <a:endParaRPr lang="en-US" sz="900" dirty="0"/>
          </a:p>
        </p:txBody>
      </p:sp>
      <p:sp>
        <p:nvSpPr>
          <p:cNvPr id="16" name="Text 14"/>
          <p:cNvSpPr/>
          <p:nvPr/>
        </p:nvSpPr>
        <p:spPr>
          <a:xfrm>
            <a:off x="640080" y="3593592"/>
            <a:ext cx="2194560" cy="274320"/>
          </a:xfrm>
          <a:prstGeom prst="rect">
            <a:avLst/>
          </a:prstGeom>
          <a:noFill/>
        </p:spPr>
        <p:txBody>
          <a:bodyPr wrap="square" lIns="0" tIns="0" rIns="0" bIns="0" rtlCol="0" anchor="ctr"/>
          <a:lstStyle/>
          <a:p>
            <a:pPr marL="0" indent="0">
              <a:buNone/>
            </a:pPr>
            <a:r>
              <a:rPr lang="en-US" sz="1400" dirty="0">
                <a:solidFill>
                  <a:srgbClr val="F5F0E8"/>
                </a:solidFill>
                <a:latin typeface="Georgia" panose="02040502050405090303" pitchFamily="34" charset="0"/>
                <a:ea typeface="Georgia" panose="02040502050405090303" pitchFamily="34" charset="-122"/>
                <a:cs typeface="Georgia" panose="02040502050405090303" pitchFamily="34" charset="-120"/>
              </a:rPr>
              <a:t>Consumer loan</a:t>
            </a:r>
            <a:endParaRPr lang="en-US" sz="1400" dirty="0"/>
          </a:p>
        </p:txBody>
      </p:sp>
      <p:sp>
        <p:nvSpPr>
          <p:cNvPr id="17" name="Text 15"/>
          <p:cNvSpPr/>
          <p:nvPr/>
        </p:nvSpPr>
        <p:spPr>
          <a:xfrm>
            <a:off x="2834640" y="3630168"/>
            <a:ext cx="3657600" cy="228600"/>
          </a:xfrm>
          <a:prstGeom prst="rect">
            <a:avLst/>
          </a:prstGeom>
          <a:noFill/>
        </p:spPr>
        <p:txBody>
          <a:bodyPr wrap="square" lIns="0" tIns="0" rIns="0" bIns="0" rtlCol="0" anchor="ctr"/>
          <a:lstStyle/>
          <a:p>
            <a:pPr marL="0" indent="0">
              <a:buNone/>
            </a:pPr>
            <a:r>
              <a:rPr lang="en-US" sz="1000" i="1" dirty="0">
                <a:solidFill>
                  <a:srgbClr val="8A8A90"/>
                </a:solidFill>
                <a:latin typeface="Calibri" pitchFamily="34" charset="0"/>
                <a:ea typeface="Calibri" pitchFamily="34" charset="-122"/>
                <a:cs typeface="Calibri" pitchFamily="34" charset="-120"/>
              </a:rPr>
              <a:t>general bank lending rate</a:t>
            </a:r>
            <a:endParaRPr lang="en-US" sz="1000" dirty="0"/>
          </a:p>
        </p:txBody>
      </p:sp>
      <p:sp>
        <p:nvSpPr>
          <p:cNvPr id="18" name="Shape 16"/>
          <p:cNvSpPr/>
          <p:nvPr/>
        </p:nvSpPr>
        <p:spPr>
          <a:xfrm>
            <a:off x="640080" y="3867912"/>
            <a:ext cx="5029200" cy="27432"/>
          </a:xfrm>
          <a:prstGeom prst="rect">
            <a:avLst/>
          </a:prstGeom>
          <a:solidFill>
            <a:srgbClr val="1F1F25"/>
          </a:solidFill>
          <a:ln w="12700">
            <a:solidFill>
              <a:srgbClr val="1F1F25"/>
            </a:solidFill>
            <a:prstDash val="solid"/>
          </a:ln>
        </p:spPr>
      </p:sp>
      <p:sp>
        <p:nvSpPr>
          <p:cNvPr id="19" name="Shape 17"/>
          <p:cNvSpPr/>
          <p:nvPr/>
        </p:nvSpPr>
        <p:spPr>
          <a:xfrm>
            <a:off x="640080" y="3840480"/>
            <a:ext cx="1357884" cy="82296"/>
          </a:xfrm>
          <a:prstGeom prst="rect">
            <a:avLst/>
          </a:prstGeom>
          <a:solidFill>
            <a:srgbClr val="B8412C"/>
          </a:solidFill>
          <a:ln w="12700">
            <a:solidFill>
              <a:srgbClr val="B8412C"/>
            </a:solidFill>
            <a:prstDash val="solid"/>
          </a:ln>
        </p:spPr>
      </p:sp>
      <p:sp>
        <p:nvSpPr>
          <p:cNvPr id="20" name="Text 18"/>
          <p:cNvSpPr/>
          <p:nvPr/>
        </p:nvSpPr>
        <p:spPr>
          <a:xfrm>
            <a:off x="5669280" y="3337560"/>
            <a:ext cx="822960" cy="566928"/>
          </a:xfrm>
          <a:prstGeom prst="rect">
            <a:avLst/>
          </a:prstGeom>
          <a:noFill/>
        </p:spPr>
        <p:txBody>
          <a:bodyPr wrap="square" lIns="0" tIns="0" rIns="0" bIns="0" rtlCol="0" anchor="ctr"/>
          <a:lstStyle/>
          <a:p>
            <a:pPr marL="0" indent="0" algn="r">
              <a:buNone/>
            </a:pPr>
            <a:r>
              <a:rPr lang="en-US" sz="1600" b="1" dirty="0">
                <a:solidFill>
                  <a:srgbClr val="B8412C"/>
                </a:solidFill>
                <a:latin typeface="Consolas" pitchFamily="34" charset="0"/>
                <a:ea typeface="Consolas" pitchFamily="34" charset="-122"/>
                <a:cs typeface="Consolas" pitchFamily="34" charset="-120"/>
              </a:rPr>
              <a:t>~61%</a:t>
            </a:r>
            <a:endParaRPr lang="en-US" sz="1600" dirty="0"/>
          </a:p>
        </p:txBody>
      </p:sp>
      <p:sp>
        <p:nvSpPr>
          <p:cNvPr id="21" name="Text 19"/>
          <p:cNvSpPr/>
          <p:nvPr/>
        </p:nvSpPr>
        <p:spPr>
          <a:xfrm>
            <a:off x="640080" y="4023360"/>
            <a:ext cx="914400" cy="228600"/>
          </a:xfrm>
          <a:prstGeom prst="rect">
            <a:avLst/>
          </a:prstGeom>
          <a:noFill/>
        </p:spPr>
        <p:txBody>
          <a:bodyPr wrap="square" lIns="0" tIns="0" rIns="0" bIns="0" rtlCol="0" anchor="ctr"/>
          <a:lstStyle/>
          <a:p>
            <a:pPr marL="0" indent="0">
              <a:buNone/>
            </a:pPr>
            <a:r>
              <a:rPr lang="en-US" sz="900" b="1" kern="0" spc="300" dirty="0">
                <a:solidFill>
                  <a:srgbClr val="C8C2B2"/>
                </a:solidFill>
                <a:latin typeface="Consolas" pitchFamily="34" charset="0"/>
                <a:ea typeface="Consolas" pitchFamily="34" charset="-122"/>
                <a:cs typeface="Consolas" pitchFamily="34" charset="-120"/>
              </a:rPr>
              <a:t>CHEAPEST</a:t>
            </a:r>
            <a:endParaRPr lang="en-US" sz="900" dirty="0"/>
          </a:p>
        </p:txBody>
      </p:sp>
      <p:sp>
        <p:nvSpPr>
          <p:cNvPr id="22" name="Text 20"/>
          <p:cNvSpPr/>
          <p:nvPr/>
        </p:nvSpPr>
        <p:spPr>
          <a:xfrm>
            <a:off x="640080" y="4233672"/>
            <a:ext cx="2194560" cy="274320"/>
          </a:xfrm>
          <a:prstGeom prst="rect">
            <a:avLst/>
          </a:prstGeom>
          <a:noFill/>
        </p:spPr>
        <p:txBody>
          <a:bodyPr wrap="square" lIns="0" tIns="0" rIns="0" bIns="0" rtlCol="0" anchor="ctr"/>
          <a:lstStyle/>
          <a:p>
            <a:pPr marL="0" indent="0">
              <a:buNone/>
            </a:pPr>
            <a:r>
              <a:rPr lang="en-US" sz="1400" dirty="0">
                <a:solidFill>
                  <a:srgbClr val="F5F0E8"/>
                </a:solidFill>
                <a:latin typeface="Georgia" panose="02040502050405090303" pitchFamily="34" charset="0"/>
                <a:ea typeface="Georgia" panose="02040502050405090303" pitchFamily="34" charset="-122"/>
                <a:cs typeface="Georgia" panose="02040502050405090303" pitchFamily="34" charset="-120"/>
              </a:rPr>
              <a:t>Caixa penhor</a:t>
            </a:r>
            <a:endParaRPr lang="en-US" sz="1400" dirty="0"/>
          </a:p>
        </p:txBody>
      </p:sp>
      <p:sp>
        <p:nvSpPr>
          <p:cNvPr id="23" name="Text 21"/>
          <p:cNvSpPr/>
          <p:nvPr/>
        </p:nvSpPr>
        <p:spPr>
          <a:xfrm>
            <a:off x="2834640" y="4270248"/>
            <a:ext cx="3657600" cy="228600"/>
          </a:xfrm>
          <a:prstGeom prst="rect">
            <a:avLst/>
          </a:prstGeom>
          <a:noFill/>
        </p:spPr>
        <p:txBody>
          <a:bodyPr wrap="square" lIns="0" tIns="0" rIns="0" bIns="0" rtlCol="0" anchor="ctr"/>
          <a:lstStyle/>
          <a:p>
            <a:pPr marL="0" indent="0">
              <a:buNone/>
            </a:pPr>
            <a:r>
              <a:rPr lang="en-US" sz="1000" i="1" dirty="0">
                <a:solidFill>
                  <a:srgbClr val="8A8A90"/>
                </a:solidFill>
                <a:latin typeface="Calibri" pitchFamily="34" charset="0"/>
                <a:ea typeface="Calibri" pitchFamily="34" charset="-122"/>
                <a:cs typeface="Calibri" pitchFamily="34" charset="-120"/>
              </a:rPr>
              <a:t>20% LTV · scrap-metal value</a:t>
            </a:r>
            <a:endParaRPr lang="en-US" sz="1000" dirty="0"/>
          </a:p>
        </p:txBody>
      </p:sp>
      <p:sp>
        <p:nvSpPr>
          <p:cNvPr id="24" name="Shape 22"/>
          <p:cNvSpPr/>
          <p:nvPr/>
        </p:nvSpPr>
        <p:spPr>
          <a:xfrm>
            <a:off x="640080" y="4507992"/>
            <a:ext cx="5029200" cy="27432"/>
          </a:xfrm>
          <a:prstGeom prst="rect">
            <a:avLst/>
          </a:prstGeom>
          <a:solidFill>
            <a:srgbClr val="1F1F25"/>
          </a:solidFill>
          <a:ln w="12700">
            <a:solidFill>
              <a:srgbClr val="1F1F25"/>
            </a:solidFill>
            <a:prstDash val="solid"/>
          </a:ln>
        </p:spPr>
      </p:sp>
      <p:sp>
        <p:nvSpPr>
          <p:cNvPr id="25" name="Shape 23"/>
          <p:cNvSpPr/>
          <p:nvPr/>
        </p:nvSpPr>
        <p:spPr>
          <a:xfrm>
            <a:off x="640080" y="4480560"/>
            <a:ext cx="653796" cy="82296"/>
          </a:xfrm>
          <a:prstGeom prst="rect">
            <a:avLst/>
          </a:prstGeom>
          <a:solidFill>
            <a:srgbClr val="C8C2B2"/>
          </a:solidFill>
          <a:ln w="12700">
            <a:solidFill>
              <a:srgbClr val="C8C2B2"/>
            </a:solidFill>
            <a:prstDash val="solid"/>
          </a:ln>
        </p:spPr>
      </p:sp>
      <p:sp>
        <p:nvSpPr>
          <p:cNvPr id="26" name="Text 24"/>
          <p:cNvSpPr/>
          <p:nvPr/>
        </p:nvSpPr>
        <p:spPr>
          <a:xfrm>
            <a:off x="5669280" y="3977640"/>
            <a:ext cx="822960" cy="566928"/>
          </a:xfrm>
          <a:prstGeom prst="rect">
            <a:avLst/>
          </a:prstGeom>
          <a:noFill/>
        </p:spPr>
        <p:txBody>
          <a:bodyPr wrap="square" lIns="0" tIns="0" rIns="0" bIns="0" rtlCol="0" anchor="ctr"/>
          <a:lstStyle/>
          <a:p>
            <a:pPr marL="0" indent="0" algn="r">
              <a:buNone/>
            </a:pPr>
            <a:r>
              <a:rPr lang="en-US" sz="1600" b="1" dirty="0">
                <a:solidFill>
                  <a:srgbClr val="C8C2B2"/>
                </a:solidFill>
                <a:latin typeface="Consolas" pitchFamily="34" charset="0"/>
                <a:ea typeface="Consolas" pitchFamily="34" charset="-122"/>
                <a:cs typeface="Consolas" pitchFamily="34" charset="-120"/>
              </a:rPr>
              <a:t>~30%</a:t>
            </a:r>
            <a:endParaRPr lang="en-US" sz="1600" dirty="0"/>
          </a:p>
        </p:txBody>
      </p:sp>
      <p:sp>
        <p:nvSpPr>
          <p:cNvPr id="27" name="Text 25"/>
          <p:cNvSpPr/>
          <p:nvPr/>
        </p:nvSpPr>
        <p:spPr>
          <a:xfrm>
            <a:off x="640080" y="4663440"/>
            <a:ext cx="914400" cy="228600"/>
          </a:xfrm>
          <a:prstGeom prst="rect">
            <a:avLst/>
          </a:prstGeom>
          <a:noFill/>
        </p:spPr>
        <p:txBody>
          <a:bodyPr wrap="square" lIns="0" tIns="0" rIns="0" bIns="0" rtlCol="0" anchor="ctr"/>
          <a:lstStyle/>
          <a:p>
            <a:pPr marL="0" indent="0">
              <a:buNone/>
            </a:pPr>
            <a:r>
              <a:rPr lang="en-US" sz="900" b="1" kern="0" spc="300" dirty="0">
                <a:solidFill>
                  <a:srgbClr val="0E7C7B"/>
                </a:solidFill>
                <a:latin typeface="Consolas" pitchFamily="34" charset="0"/>
                <a:ea typeface="Consolas" pitchFamily="34" charset="-122"/>
                <a:cs typeface="Consolas" pitchFamily="34" charset="-120"/>
              </a:rPr>
              <a:t>VAULX</a:t>
            </a:r>
            <a:endParaRPr lang="en-US" sz="900" dirty="0"/>
          </a:p>
        </p:txBody>
      </p:sp>
      <p:sp>
        <p:nvSpPr>
          <p:cNvPr id="28" name="Text 26"/>
          <p:cNvSpPr/>
          <p:nvPr/>
        </p:nvSpPr>
        <p:spPr>
          <a:xfrm>
            <a:off x="640080" y="4873752"/>
            <a:ext cx="2194560" cy="274320"/>
          </a:xfrm>
          <a:prstGeom prst="rect">
            <a:avLst/>
          </a:prstGeom>
          <a:noFill/>
        </p:spPr>
        <p:txBody>
          <a:bodyPr wrap="square" lIns="0" tIns="0" rIns="0" bIns="0" rtlCol="0" anchor="ctr"/>
          <a:lstStyle/>
          <a:p>
            <a:pPr marL="0" indent="0">
              <a:buNone/>
            </a:pPr>
            <a:r>
              <a:rPr lang="en-US" sz="1400" dirty="0">
                <a:solidFill>
                  <a:srgbClr val="F5F0E8"/>
                </a:solidFill>
                <a:latin typeface="Georgia" panose="02040502050405090303" pitchFamily="34" charset="0"/>
                <a:ea typeface="Georgia" panose="02040502050405090303" pitchFamily="34" charset="-122"/>
                <a:cs typeface="Georgia" panose="02040502050405090303" pitchFamily="34" charset="-120"/>
              </a:rPr>
              <a:t>Vaulx</a:t>
            </a:r>
            <a:endParaRPr lang="en-US" sz="1400" dirty="0"/>
          </a:p>
        </p:txBody>
      </p:sp>
      <p:sp>
        <p:nvSpPr>
          <p:cNvPr id="29" name="Text 27"/>
          <p:cNvSpPr/>
          <p:nvPr/>
        </p:nvSpPr>
        <p:spPr>
          <a:xfrm>
            <a:off x="2834640" y="4910328"/>
            <a:ext cx="3657600" cy="228600"/>
          </a:xfrm>
          <a:prstGeom prst="rect">
            <a:avLst/>
          </a:prstGeom>
          <a:noFill/>
        </p:spPr>
        <p:txBody>
          <a:bodyPr wrap="square" lIns="0" tIns="0" rIns="0" bIns="0" rtlCol="0" anchor="ctr"/>
          <a:lstStyle/>
          <a:p>
            <a:pPr marL="0" indent="0">
              <a:buNone/>
            </a:pPr>
            <a:r>
              <a:rPr lang="en-US" sz="1000" i="1" dirty="0">
                <a:solidFill>
                  <a:srgbClr val="8A8A90"/>
                </a:solidFill>
                <a:latin typeface="Calibri" pitchFamily="34" charset="0"/>
                <a:ea typeface="Calibri" pitchFamily="34" charset="-122"/>
                <a:cs typeface="Calibri" pitchFamily="34" charset="-120"/>
              </a:rPr>
              <a:t>50% LTV · full asset value</a:t>
            </a:r>
            <a:endParaRPr lang="en-US" sz="1000" dirty="0"/>
          </a:p>
        </p:txBody>
      </p:sp>
      <p:sp>
        <p:nvSpPr>
          <p:cNvPr id="30" name="Shape 28"/>
          <p:cNvSpPr/>
          <p:nvPr/>
        </p:nvSpPr>
        <p:spPr>
          <a:xfrm>
            <a:off x="640080" y="5148072"/>
            <a:ext cx="5029200" cy="27432"/>
          </a:xfrm>
          <a:prstGeom prst="rect">
            <a:avLst/>
          </a:prstGeom>
          <a:solidFill>
            <a:srgbClr val="1F1F25"/>
          </a:solidFill>
          <a:ln w="12700">
            <a:solidFill>
              <a:srgbClr val="1F1F25"/>
            </a:solidFill>
            <a:prstDash val="solid"/>
          </a:ln>
        </p:spPr>
      </p:sp>
      <p:sp>
        <p:nvSpPr>
          <p:cNvPr id="31" name="Shape 29"/>
          <p:cNvSpPr/>
          <p:nvPr/>
        </p:nvSpPr>
        <p:spPr>
          <a:xfrm>
            <a:off x="640080" y="5120640"/>
            <a:ext cx="528066" cy="82296"/>
          </a:xfrm>
          <a:prstGeom prst="rect">
            <a:avLst/>
          </a:prstGeom>
          <a:solidFill>
            <a:srgbClr val="0E7C7B"/>
          </a:solidFill>
          <a:ln w="12700">
            <a:solidFill>
              <a:srgbClr val="0E7C7B"/>
            </a:solidFill>
            <a:prstDash val="solid"/>
          </a:ln>
        </p:spPr>
      </p:sp>
      <p:sp>
        <p:nvSpPr>
          <p:cNvPr id="32" name="Text 30"/>
          <p:cNvSpPr/>
          <p:nvPr/>
        </p:nvSpPr>
        <p:spPr>
          <a:xfrm>
            <a:off x="5669280" y="4617720"/>
            <a:ext cx="822960" cy="566928"/>
          </a:xfrm>
          <a:prstGeom prst="rect">
            <a:avLst/>
          </a:prstGeom>
          <a:noFill/>
        </p:spPr>
        <p:txBody>
          <a:bodyPr wrap="square" lIns="0" tIns="0" rIns="0" bIns="0" rtlCol="0" anchor="ctr"/>
          <a:lstStyle/>
          <a:p>
            <a:pPr marL="0" indent="0" algn="r">
              <a:buNone/>
            </a:pPr>
            <a:r>
              <a:rPr lang="en-US" sz="1600" b="1" dirty="0">
                <a:solidFill>
                  <a:srgbClr val="0E7C7B"/>
                </a:solidFill>
                <a:latin typeface="Consolas" pitchFamily="34" charset="0"/>
                <a:ea typeface="Consolas" pitchFamily="34" charset="-122"/>
                <a:cs typeface="Consolas" pitchFamily="34" charset="-120"/>
              </a:rPr>
              <a:t>24%</a:t>
            </a:r>
            <a:endParaRPr lang="en-US" sz="1600" dirty="0"/>
          </a:p>
        </p:txBody>
      </p:sp>
      <p:sp>
        <p:nvSpPr>
          <p:cNvPr id="33" name="Text 31"/>
          <p:cNvSpPr/>
          <p:nvPr/>
        </p:nvSpPr>
        <p:spPr>
          <a:xfrm>
            <a:off x="640080" y="5440680"/>
            <a:ext cx="5852160" cy="274320"/>
          </a:xfrm>
          <a:prstGeom prst="rect">
            <a:avLst/>
          </a:prstGeom>
          <a:noFill/>
        </p:spPr>
        <p:txBody>
          <a:bodyPr wrap="square" lIns="0" tIns="0" rIns="0" bIns="0" rtlCol="0" anchor="ctr"/>
          <a:lstStyle/>
          <a:p>
            <a:pPr marL="0" indent="0">
              <a:buNone/>
            </a:pPr>
            <a:r>
              <a:rPr lang="en-US" sz="850" dirty="0">
                <a:solidFill>
                  <a:srgbClr val="6B6B70"/>
                </a:solidFill>
                <a:latin typeface="Consolas" pitchFamily="34" charset="0"/>
                <a:ea typeface="Consolas" pitchFamily="34" charset="-122"/>
                <a:cs typeface="Consolas" pitchFamily="34" charset="-120"/>
              </a:rPr>
              <a:t>Sources: Banco Central do Brasil  ·  Caixa Federal published rates  ·  rotativo = balance carried past 30-day grace.</a:t>
            </a:r>
            <a:endParaRPr lang="en-US" sz="850" dirty="0"/>
          </a:p>
        </p:txBody>
      </p:sp>
      <p:sp>
        <p:nvSpPr>
          <p:cNvPr id="34" name="Text 32"/>
          <p:cNvSpPr/>
          <p:nvPr/>
        </p:nvSpPr>
        <p:spPr>
          <a:xfrm>
            <a:off x="7040880" y="2331720"/>
            <a:ext cx="4510735" cy="274320"/>
          </a:xfrm>
          <a:prstGeom prst="rect">
            <a:avLst/>
          </a:prstGeom>
          <a:noFill/>
        </p:spPr>
        <p:txBody>
          <a:bodyPr wrap="square" lIns="0" tIns="0" rIns="0" bIns="0" rtlCol="0" anchor="ctr"/>
          <a:lstStyle/>
          <a:p>
            <a:pPr marL="0" indent="0">
              <a:buNone/>
            </a:pPr>
            <a:r>
              <a:rPr lang="en-US" sz="1000" b="1" kern="0" spc="400" dirty="0">
                <a:solidFill>
                  <a:srgbClr val="C8C2B2"/>
                </a:solidFill>
                <a:latin typeface="Consolas" pitchFamily="34" charset="0"/>
                <a:ea typeface="Consolas" pitchFamily="34" charset="-122"/>
                <a:cs typeface="Consolas" pitchFamily="34" charset="-120"/>
              </a:rPr>
              <a:t>SUPPLY SIDE</a:t>
            </a:r>
            <a:endParaRPr lang="en-US" sz="1000" dirty="0"/>
          </a:p>
        </p:txBody>
      </p:sp>
      <p:sp>
        <p:nvSpPr>
          <p:cNvPr id="35" name="Shape 33"/>
          <p:cNvSpPr/>
          <p:nvPr/>
        </p:nvSpPr>
        <p:spPr>
          <a:xfrm>
            <a:off x="7040880" y="2697480"/>
            <a:ext cx="4510735" cy="3017520"/>
          </a:xfrm>
          <a:prstGeom prst="rect">
            <a:avLst/>
          </a:prstGeom>
          <a:solidFill>
            <a:srgbClr val="12131A"/>
          </a:solidFill>
          <a:ln w="9525">
            <a:solidFill>
              <a:srgbClr val="0E7C7B"/>
            </a:solidFill>
            <a:prstDash val="solid"/>
          </a:ln>
        </p:spPr>
      </p:sp>
      <p:sp>
        <p:nvSpPr>
          <p:cNvPr id="36" name="Text 34"/>
          <p:cNvSpPr/>
          <p:nvPr/>
        </p:nvSpPr>
        <p:spPr>
          <a:xfrm>
            <a:off x="7040880" y="2834640"/>
            <a:ext cx="4510735" cy="274320"/>
          </a:xfrm>
          <a:prstGeom prst="rect">
            <a:avLst/>
          </a:prstGeom>
          <a:noFill/>
        </p:spPr>
        <p:txBody>
          <a:bodyPr wrap="square" lIns="0" tIns="0" rIns="0" bIns="0" rtlCol="0" anchor="ctr"/>
          <a:lstStyle/>
          <a:p>
            <a:pPr marL="0" indent="0" algn="ctr">
              <a:buNone/>
            </a:pPr>
            <a:r>
              <a:rPr lang="en-US" sz="1000" b="1" kern="0" spc="500" dirty="0">
                <a:solidFill>
                  <a:srgbClr val="0E7C7B"/>
                </a:solidFill>
                <a:latin typeface="Consolas" pitchFamily="34" charset="0"/>
                <a:ea typeface="Consolas" pitchFamily="34" charset="-122"/>
                <a:cs typeface="Consolas" pitchFamily="34" charset="-120"/>
              </a:rPr>
              <a:t>ONCHAIN USDC YIELD</a:t>
            </a:r>
            <a:endParaRPr lang="en-US" sz="1000" dirty="0"/>
          </a:p>
        </p:txBody>
      </p:sp>
      <p:sp>
        <p:nvSpPr>
          <p:cNvPr id="37" name="Text 35"/>
          <p:cNvSpPr/>
          <p:nvPr/>
        </p:nvSpPr>
        <p:spPr>
          <a:xfrm>
            <a:off x="7040880" y="3200400"/>
            <a:ext cx="4510735" cy="1188720"/>
          </a:xfrm>
          <a:prstGeom prst="rect">
            <a:avLst/>
          </a:prstGeom>
          <a:noFill/>
        </p:spPr>
        <p:txBody>
          <a:bodyPr wrap="square" lIns="0" tIns="0" rIns="0" bIns="0" rtlCol="0" anchor="ctr"/>
          <a:lstStyle/>
          <a:p>
            <a:pPr marL="0" indent="0" algn="ctr">
              <a:buNone/>
            </a:pPr>
            <a:r>
              <a:rPr lang="en-US" sz="7600" b="1" dirty="0">
                <a:solidFill>
                  <a:srgbClr val="F5F0E8"/>
                </a:solidFill>
                <a:latin typeface="Georgia" panose="02040502050405090303" pitchFamily="34" charset="0"/>
                <a:ea typeface="Georgia" panose="02040502050405090303" pitchFamily="34" charset="-122"/>
                <a:cs typeface="Georgia" panose="02040502050405090303" pitchFamily="34" charset="-120"/>
              </a:rPr>
              <a:t>8–10%</a:t>
            </a:r>
            <a:endParaRPr lang="en-US" sz="7600" dirty="0"/>
          </a:p>
        </p:txBody>
      </p:sp>
      <p:sp>
        <p:nvSpPr>
          <p:cNvPr id="38" name="Text 36"/>
          <p:cNvSpPr/>
          <p:nvPr/>
        </p:nvSpPr>
        <p:spPr>
          <a:xfrm>
            <a:off x="7040880" y="4434840"/>
            <a:ext cx="4510735" cy="274320"/>
          </a:xfrm>
          <a:prstGeom prst="rect">
            <a:avLst/>
          </a:prstGeom>
          <a:noFill/>
        </p:spPr>
        <p:txBody>
          <a:bodyPr wrap="square" lIns="0" tIns="0" rIns="0" bIns="0" rtlCol="0" anchor="ctr"/>
          <a:lstStyle/>
          <a:p>
            <a:pPr marL="0" indent="0" algn="ctr">
              <a:buNone/>
            </a:pPr>
            <a:r>
              <a:rPr lang="en-US" sz="1100" i="1" dirty="0">
                <a:solidFill>
                  <a:srgbClr val="C8C2B2"/>
                </a:solidFill>
                <a:latin typeface="Calibri" pitchFamily="34" charset="0"/>
                <a:ea typeface="Calibri" pitchFamily="34" charset="-122"/>
                <a:cs typeface="Calibri" pitchFamily="34" charset="-120"/>
              </a:rPr>
              <a:t>APR  ·  cheap  ·  patient  ·  global</a:t>
            </a:r>
            <a:endParaRPr lang="en-US" sz="1100" dirty="0"/>
          </a:p>
        </p:txBody>
      </p:sp>
      <p:sp>
        <p:nvSpPr>
          <p:cNvPr id="39" name="Shape 37"/>
          <p:cNvSpPr/>
          <p:nvPr/>
        </p:nvSpPr>
        <p:spPr>
          <a:xfrm>
            <a:off x="7406640" y="4800600"/>
            <a:ext cx="3779215" cy="0"/>
          </a:xfrm>
          <a:prstGeom prst="line">
            <a:avLst/>
          </a:prstGeom>
          <a:noFill/>
          <a:ln w="6350">
            <a:solidFill>
              <a:srgbClr val="1F1F25"/>
            </a:solidFill>
            <a:prstDash val="solid"/>
          </a:ln>
        </p:spPr>
      </p:sp>
      <p:sp>
        <p:nvSpPr>
          <p:cNvPr id="40" name="Text 38"/>
          <p:cNvSpPr/>
          <p:nvPr/>
        </p:nvSpPr>
        <p:spPr>
          <a:xfrm>
            <a:off x="7040880" y="4937760"/>
            <a:ext cx="4510735" cy="274320"/>
          </a:xfrm>
          <a:prstGeom prst="rect">
            <a:avLst/>
          </a:prstGeom>
          <a:noFill/>
        </p:spPr>
        <p:txBody>
          <a:bodyPr wrap="square" lIns="0" tIns="0" rIns="0" bIns="0" rtlCol="0" anchor="ctr"/>
          <a:lstStyle/>
          <a:p>
            <a:pPr marL="0" indent="0" algn="ctr">
              <a:buNone/>
            </a:pPr>
            <a:r>
              <a:rPr lang="en-US" sz="1100" i="1" dirty="0">
                <a:solidFill>
                  <a:srgbClr val="0E7C7B"/>
                </a:solidFill>
                <a:latin typeface="Consolas" pitchFamily="34" charset="0"/>
                <a:ea typeface="Consolas" pitchFamily="34" charset="-122"/>
                <a:cs typeface="Consolas" pitchFamily="34" charset="-120"/>
              </a:rPr>
              <a:t>capital available  ·  rail missing</a:t>
            </a:r>
            <a:endParaRPr lang="en-US" sz="1100" dirty="0"/>
          </a:p>
        </p:txBody>
      </p:sp>
      <p:sp>
        <p:nvSpPr>
          <p:cNvPr id="41" name="Text 39"/>
          <p:cNvSpPr/>
          <p:nvPr/>
        </p:nvSpPr>
        <p:spPr>
          <a:xfrm>
            <a:off x="7040880" y="5303520"/>
            <a:ext cx="4510735" cy="274320"/>
          </a:xfrm>
          <a:prstGeom prst="rect">
            <a:avLst/>
          </a:prstGeom>
          <a:noFill/>
        </p:spPr>
        <p:txBody>
          <a:bodyPr wrap="square" lIns="0" tIns="0" rIns="0" bIns="0" rtlCol="0" anchor="ctr"/>
          <a:lstStyle/>
          <a:p>
            <a:pPr marL="0" indent="0" algn="ctr">
              <a:buNone/>
            </a:pPr>
            <a:r>
              <a:rPr lang="en-US" sz="850" i="1" dirty="0">
                <a:solidFill>
                  <a:srgbClr val="6B6B70"/>
                </a:solidFill>
                <a:latin typeface="Consolas" pitchFamily="34" charset="0"/>
                <a:ea typeface="Consolas" pitchFamily="34" charset="-122"/>
                <a:cs typeface="Consolas" pitchFamily="34" charset="-120"/>
              </a:rPr>
              <a:t>BTC / ETH-as-collateral exists.  Not the use case.</a:t>
            </a:r>
            <a:endParaRPr lang="en-US" sz="850" dirty="0"/>
          </a:p>
        </p:txBody>
      </p:sp>
      <p:sp>
        <p:nvSpPr>
          <p:cNvPr id="42" name="Shape 40"/>
          <p:cNvSpPr/>
          <p:nvPr/>
        </p:nvSpPr>
        <p:spPr>
          <a:xfrm>
            <a:off x="640080" y="5989320"/>
            <a:ext cx="10911535" cy="0"/>
          </a:xfrm>
          <a:prstGeom prst="line">
            <a:avLst/>
          </a:prstGeom>
          <a:noFill/>
          <a:ln w="9525">
            <a:solidFill>
              <a:srgbClr val="F5F0E8"/>
            </a:solidFill>
            <a:prstDash val="solid"/>
          </a:ln>
        </p:spPr>
      </p:sp>
      <p:sp>
        <p:nvSpPr>
          <p:cNvPr id="43" name="Text 41"/>
          <p:cNvSpPr/>
          <p:nvPr/>
        </p:nvSpPr>
        <p:spPr>
          <a:xfrm>
            <a:off x="640080" y="6126480"/>
            <a:ext cx="10911535" cy="502920"/>
          </a:xfrm>
          <a:prstGeom prst="rect">
            <a:avLst/>
          </a:prstGeom>
          <a:noFill/>
        </p:spPr>
        <p:txBody>
          <a:bodyPr wrap="square" lIns="0" tIns="0" rIns="0" bIns="0" rtlCol="0" anchor="ctr"/>
          <a:lstStyle/>
          <a:p>
            <a:pPr marL="0" indent="0">
              <a:buNone/>
            </a:pPr>
            <a:r>
              <a:rPr lang="en-US" sz="1800" dirty="0">
                <a:solidFill>
                  <a:srgbClr val="0E7C7B"/>
                </a:solidFill>
                <a:latin typeface="Georgia" panose="02040502050405090303" pitchFamily="34" charset="0"/>
                <a:ea typeface="Georgia" panose="02040502050405090303" pitchFamily="34" charset="-122"/>
                <a:cs typeface="Georgia" panose="02040502050405090303" pitchFamily="34" charset="-120"/>
              </a:rPr>
              <a:t>→  </a:t>
            </a:r>
            <a:r>
              <a:rPr lang="en-US" sz="1800" b="1" dirty="0">
                <a:solidFill>
                  <a:srgbClr val="F5F0E8"/>
                </a:solidFill>
                <a:latin typeface="Georgia" panose="02040502050405090303" pitchFamily="34" charset="0"/>
                <a:ea typeface="Georgia" panose="02040502050405090303" pitchFamily="34" charset="-122"/>
                <a:cs typeface="Georgia" panose="02040502050405090303" pitchFamily="34" charset="-120"/>
              </a:rPr>
              <a:t>The gap is not capital.   </a:t>
            </a:r>
            <a:r>
              <a:rPr lang="en-US" sz="1800" dirty="0">
                <a:solidFill>
                  <a:srgbClr val="0E7C7B"/>
                </a:solidFill>
                <a:latin typeface="Georgia" panose="02040502050405090303" pitchFamily="34" charset="0"/>
                <a:ea typeface="Georgia" panose="02040502050405090303" pitchFamily="34" charset="-122"/>
                <a:cs typeface="Georgia" panose="02040502050405090303" pitchFamily="34" charset="-120"/>
              </a:rPr>
              <a:t>→  </a:t>
            </a:r>
            <a:r>
              <a:rPr lang="en-US" sz="1800" b="1" dirty="0">
                <a:solidFill>
                  <a:srgbClr val="F5F0E8"/>
                </a:solidFill>
                <a:latin typeface="Georgia" panose="02040502050405090303" pitchFamily="34" charset="0"/>
                <a:ea typeface="Georgia" panose="02040502050405090303" pitchFamily="34" charset="-122"/>
                <a:cs typeface="Georgia" panose="02040502050405090303" pitchFamily="34" charset="-120"/>
              </a:rPr>
              <a:t>The gap is the </a:t>
            </a:r>
            <a:r>
              <a:rPr lang="en-US" sz="1800" b="1" i="1" dirty="0">
                <a:solidFill>
                  <a:srgbClr val="0E7C7B"/>
                </a:solidFill>
                <a:latin typeface="Georgia" panose="02040502050405090303" pitchFamily="34" charset="0"/>
                <a:ea typeface="Georgia" panose="02040502050405090303" pitchFamily="34" charset="-122"/>
                <a:cs typeface="Georgia" panose="02040502050405090303" pitchFamily="34" charset="-120"/>
              </a:rPr>
              <a:t>rail.</a:t>
            </a:r>
            <a:endParaRPr lang="en-US" sz="1800" dirty="0"/>
          </a:p>
        </p:txBody>
      </p:sp>
      <p:pic>
        <p:nvPicPr>
          <p:cNvPr id="44" name="Picture 43" descr="watch"/>
          <p:cNvPicPr>
            <a:picLocks noChangeAspect="1"/>
          </p:cNvPicPr>
          <p:nvPr/>
        </p:nvPicPr>
        <p:blipFill>
          <a:blip r:embed="rId1"/>
          <a:srcRect l="7327" t="8398" r="26489" b="8417"/>
          <a:stretch>
            <a:fillRect/>
          </a:stretch>
        </p:blipFill>
        <p:spPr>
          <a:xfrm>
            <a:off x="4006215" y="-84455"/>
            <a:ext cx="3932555" cy="2781935"/>
          </a:xfrm>
          <a:prstGeom prst="rect">
            <a:avLst/>
          </a:prstGeom>
          <a:effectLst>
            <a:softEdge rad="63500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A0B"/>
        </a:solidFill>
        <a:effectLst/>
      </p:bgPr>
    </p:bg>
    <p:spTree>
      <p:nvGrpSpPr>
        <p:cNvPr id="1" name=""/>
        <p:cNvGrpSpPr/>
        <p:nvPr/>
      </p:nvGrpSpPr>
      <p:grpSpPr>
        <a:xfrm>
          <a:off x="0" y="0"/>
          <a:ext cx="0" cy="0"/>
          <a:chOff x="0" y="0"/>
          <a:chExt cx="0" cy="0"/>
        </a:xfrm>
      </p:grpSpPr>
      <p:sp>
        <p:nvSpPr>
          <p:cNvPr id="2" name="Shape 0"/>
          <p:cNvSpPr/>
          <p:nvPr/>
        </p:nvSpPr>
        <p:spPr>
          <a:xfrm>
            <a:off x="640080" y="530352"/>
            <a:ext cx="109728" cy="22860"/>
          </a:xfrm>
          <a:prstGeom prst="rect">
            <a:avLst/>
          </a:prstGeom>
          <a:solidFill>
            <a:srgbClr val="0E7C7B"/>
          </a:solidFill>
          <a:ln w="12700">
            <a:solidFill>
              <a:srgbClr val="0E7C7B"/>
            </a:solidFill>
            <a:prstDash val="solid"/>
          </a:ln>
        </p:spPr>
      </p:sp>
      <p:sp>
        <p:nvSpPr>
          <p:cNvPr id="3" name="Text 1"/>
          <p:cNvSpPr/>
          <p:nvPr/>
        </p:nvSpPr>
        <p:spPr>
          <a:xfrm>
            <a:off x="804672" y="457200"/>
            <a:ext cx="5321808" cy="228600"/>
          </a:xfrm>
          <a:prstGeom prst="rect">
            <a:avLst/>
          </a:prstGeom>
          <a:noFill/>
        </p:spPr>
        <p:txBody>
          <a:bodyPr wrap="square" lIns="0" tIns="0" rIns="0" bIns="0" rtlCol="0" anchor="ctr"/>
          <a:lstStyle/>
          <a:p>
            <a:pPr marL="0" indent="0">
              <a:buNone/>
            </a:pPr>
            <a:r>
              <a:rPr lang="en-US" sz="950" b="1" kern="0" spc="400" dirty="0">
                <a:solidFill>
                  <a:srgbClr val="0E7C7B"/>
                </a:solidFill>
                <a:latin typeface="Consolas" pitchFamily="34" charset="0"/>
                <a:ea typeface="Consolas" pitchFamily="34" charset="-122"/>
                <a:cs typeface="Consolas" pitchFamily="34" charset="-120"/>
              </a:rPr>
              <a:t>02  /  THE RAIL</a:t>
            </a:r>
            <a:endParaRPr lang="en-US" sz="950" dirty="0"/>
          </a:p>
        </p:txBody>
      </p:sp>
      <p:sp>
        <p:nvSpPr>
          <p:cNvPr id="4" name="Text 2"/>
          <p:cNvSpPr/>
          <p:nvPr/>
        </p:nvSpPr>
        <p:spPr>
          <a:xfrm>
            <a:off x="10911535" y="274320"/>
            <a:ext cx="914400" cy="228600"/>
          </a:xfrm>
          <a:prstGeom prst="rect">
            <a:avLst/>
          </a:prstGeom>
          <a:noFill/>
        </p:spPr>
        <p:txBody>
          <a:bodyPr wrap="square" lIns="0" tIns="0" rIns="0" bIns="0" rtlCol="0" anchor="ctr"/>
          <a:lstStyle/>
          <a:p>
            <a:pPr marL="0" indent="0" algn="r">
              <a:buNone/>
            </a:pPr>
            <a:r>
              <a:rPr lang="en-US" sz="900" kern="0" spc="300" dirty="0">
                <a:solidFill>
                  <a:srgbClr val="8A8A90"/>
                </a:solidFill>
                <a:latin typeface="Consolas" pitchFamily="34" charset="0"/>
                <a:ea typeface="Consolas" pitchFamily="34" charset="-122"/>
                <a:cs typeface="Consolas" pitchFamily="34" charset="-120"/>
              </a:rPr>
              <a:t>02 / 09</a:t>
            </a:r>
            <a:endParaRPr lang="en-US" sz="900" dirty="0"/>
          </a:p>
        </p:txBody>
      </p:sp>
      <p:pic>
        <p:nvPicPr>
          <p:cNvPr id="5" name="Image 0" descr="/Users/gogy/MyCODE/VAULX/.claude/worktrees/recursing-mcnulty-a36d0a/docs/colosseum/vaulx_logo_white.png"/>
          <p:cNvPicPr>
            <a:picLocks noChangeAspect="1"/>
          </p:cNvPicPr>
          <p:nvPr/>
        </p:nvPicPr>
        <p:blipFill>
          <a:blip r:embed="rId1"/>
          <a:stretch>
            <a:fillRect/>
          </a:stretch>
        </p:blipFill>
        <p:spPr>
          <a:xfrm>
            <a:off x="640080" y="1280160"/>
            <a:ext cx="4206240" cy="1152144"/>
          </a:xfrm>
          <a:prstGeom prst="rect">
            <a:avLst/>
          </a:prstGeom>
        </p:spPr>
      </p:pic>
      <p:sp>
        <p:nvSpPr>
          <p:cNvPr id="6" name="Shape 3"/>
          <p:cNvSpPr/>
          <p:nvPr/>
        </p:nvSpPr>
        <p:spPr>
          <a:xfrm>
            <a:off x="640080" y="2697480"/>
            <a:ext cx="914400" cy="27432"/>
          </a:xfrm>
          <a:prstGeom prst="rect">
            <a:avLst/>
          </a:prstGeom>
          <a:solidFill>
            <a:srgbClr val="F5F0E8"/>
          </a:solidFill>
          <a:ln w="12700">
            <a:solidFill>
              <a:srgbClr val="F5F0E8"/>
            </a:solidFill>
            <a:prstDash val="solid"/>
          </a:ln>
        </p:spPr>
      </p:sp>
      <p:sp>
        <p:nvSpPr>
          <p:cNvPr id="7" name="Text 4"/>
          <p:cNvSpPr/>
          <p:nvPr/>
        </p:nvSpPr>
        <p:spPr>
          <a:xfrm>
            <a:off x="640080" y="2926080"/>
            <a:ext cx="5486400" cy="731520"/>
          </a:xfrm>
          <a:prstGeom prst="rect">
            <a:avLst/>
          </a:prstGeom>
          <a:noFill/>
        </p:spPr>
        <p:txBody>
          <a:bodyPr wrap="square" lIns="0" tIns="0" rIns="0" bIns="0" rtlCol="0" anchor="ctr"/>
          <a:lstStyle/>
          <a:p>
            <a:pPr marL="0" indent="0">
              <a:buNone/>
            </a:pPr>
            <a:r>
              <a:rPr lang="en-US" sz="3200" dirty="0">
                <a:solidFill>
                  <a:srgbClr val="F5F0E8"/>
                </a:solidFill>
                <a:latin typeface="Georgia" panose="02040502050405090303" pitchFamily="34" charset="0"/>
                <a:ea typeface="Georgia" panose="02040502050405090303" pitchFamily="34" charset="-122"/>
                <a:cs typeface="Georgia" panose="02040502050405090303" pitchFamily="34" charset="-120"/>
              </a:rPr>
              <a:t>The on-chain credit </a:t>
            </a:r>
            <a:r>
              <a:rPr lang="en-US" sz="3200" i="1" dirty="0">
                <a:solidFill>
                  <a:srgbClr val="0E7C7B"/>
                </a:solidFill>
                <a:latin typeface="Georgia" panose="02040502050405090303" pitchFamily="34" charset="0"/>
                <a:ea typeface="Georgia" panose="02040502050405090303" pitchFamily="34" charset="-122"/>
                <a:cs typeface="Georgia" panose="02040502050405090303" pitchFamily="34" charset="-120"/>
              </a:rPr>
              <a:t>rail</a:t>
            </a:r>
            <a:r>
              <a:rPr lang="en-US" sz="3200" dirty="0">
                <a:solidFill>
                  <a:srgbClr val="F5F0E8"/>
                </a:solidFill>
                <a:latin typeface="Georgia" panose="02040502050405090303" pitchFamily="34" charset="0"/>
                <a:ea typeface="Georgia" panose="02040502050405090303" pitchFamily="34" charset="-122"/>
                <a:cs typeface="Georgia" panose="02040502050405090303" pitchFamily="34" charset="-120"/>
              </a:rPr>
              <a:t>.</a:t>
            </a:r>
            <a:endParaRPr lang="en-US" sz="3200" dirty="0"/>
          </a:p>
        </p:txBody>
      </p:sp>
      <p:sp>
        <p:nvSpPr>
          <p:cNvPr id="8" name="Text 5"/>
          <p:cNvSpPr/>
          <p:nvPr/>
        </p:nvSpPr>
        <p:spPr>
          <a:xfrm>
            <a:off x="640080" y="3749040"/>
            <a:ext cx="5486400" cy="1097280"/>
          </a:xfrm>
          <a:prstGeom prst="rect">
            <a:avLst/>
          </a:prstGeom>
          <a:noFill/>
        </p:spPr>
        <p:txBody>
          <a:bodyPr wrap="square" lIns="0" tIns="0" rIns="0" bIns="0" rtlCol="0" anchor="ctr"/>
          <a:lstStyle/>
          <a:p>
            <a:pPr marL="0" indent="0">
              <a:lnSpc>
                <a:spcPts val="2200"/>
              </a:lnSpc>
              <a:buNone/>
            </a:pPr>
            <a:r>
              <a:rPr lang="en-US" sz="1400" dirty="0">
                <a:solidFill>
                  <a:srgbClr val="C8C2B2"/>
                </a:solidFill>
                <a:latin typeface="Calibri" pitchFamily="34" charset="0"/>
                <a:ea typeface="Calibri" pitchFamily="34" charset="-122"/>
                <a:cs typeface="Calibri" pitchFamily="34" charset="-120"/>
              </a:rPr>
              <a:t>Vaulx orchestrates off-chain complexity through licensed independent partners, wiring physical luxury collateral into Solana's onchain credit rails.</a:t>
            </a:r>
            <a:endParaRPr lang="en-US" sz="1400" dirty="0"/>
          </a:p>
        </p:txBody>
      </p:sp>
      <p:sp>
        <p:nvSpPr>
          <p:cNvPr id="9" name="Text 6"/>
          <p:cNvSpPr/>
          <p:nvPr/>
        </p:nvSpPr>
        <p:spPr>
          <a:xfrm>
            <a:off x="640080" y="5029200"/>
            <a:ext cx="5486400" cy="731520"/>
          </a:xfrm>
          <a:prstGeom prst="rect">
            <a:avLst/>
          </a:prstGeom>
          <a:noFill/>
        </p:spPr>
        <p:txBody>
          <a:bodyPr wrap="square" lIns="0" tIns="0" rIns="0" bIns="0" rtlCol="0" anchor="ctr"/>
          <a:lstStyle/>
          <a:p>
            <a:pPr marL="0" indent="0">
              <a:lnSpc>
                <a:spcPts val="1800"/>
              </a:lnSpc>
              <a:buNone/>
            </a:pPr>
            <a:r>
              <a:rPr lang="en-US" sz="1100" kern="0" spc="100" dirty="0">
                <a:solidFill>
                  <a:srgbClr val="F5F0E8"/>
                </a:solidFill>
                <a:latin typeface="Consolas" pitchFamily="34" charset="0"/>
                <a:ea typeface="Consolas" pitchFamily="34" charset="-122"/>
                <a:cs typeface="Consolas" pitchFamily="34" charset="-120"/>
              </a:rPr>
              <a:t>Vaulx doesn't take custody.  </a:t>
            </a:r>
            <a:r>
              <a:rPr lang="en-US" sz="1100" kern="0" spc="100" dirty="0">
                <a:solidFill>
                  <a:srgbClr val="F5F0E8"/>
                </a:solidFill>
                <a:latin typeface="Consolas" pitchFamily="34" charset="0"/>
                <a:ea typeface="Consolas" pitchFamily="34" charset="-122"/>
                <a:cs typeface="Consolas" pitchFamily="34" charset="-120"/>
              </a:rPr>
              <a:t>Vaulx doesn't hold capital.  </a:t>
            </a:r>
            <a:r>
              <a:rPr lang="en-US" sz="1100" b="1" kern="0" spc="100" dirty="0">
                <a:solidFill>
                  <a:srgbClr val="0E7C7B"/>
                </a:solidFill>
                <a:latin typeface="Consolas" pitchFamily="34" charset="0"/>
                <a:ea typeface="Consolas" pitchFamily="34" charset="-122"/>
                <a:cs typeface="Consolas" pitchFamily="34" charset="-120"/>
              </a:rPr>
              <a:t>All in smart contracts.</a:t>
            </a:r>
            <a:endParaRPr lang="en-US" sz="1100" dirty="0"/>
          </a:p>
        </p:txBody>
      </p:sp>
      <p:sp>
        <p:nvSpPr>
          <p:cNvPr id="10" name="Shape 7"/>
          <p:cNvSpPr/>
          <p:nvPr/>
        </p:nvSpPr>
        <p:spPr>
          <a:xfrm>
            <a:off x="6583680" y="914400"/>
            <a:ext cx="4967935" cy="5212080"/>
          </a:xfrm>
          <a:prstGeom prst="rect">
            <a:avLst/>
          </a:prstGeom>
          <a:solidFill>
            <a:srgbClr val="FFFFFF"/>
          </a:solidFill>
          <a:ln w="6350">
            <a:solidFill>
              <a:srgbClr val="E5E2D8"/>
            </a:solidFill>
            <a:prstDash val="solid"/>
          </a:ln>
        </p:spPr>
      </p:sp>
      <p:sp>
        <p:nvSpPr>
          <p:cNvPr id="11" name="Text 8"/>
          <p:cNvSpPr/>
          <p:nvPr/>
        </p:nvSpPr>
        <p:spPr>
          <a:xfrm>
            <a:off x="6858000" y="1143000"/>
            <a:ext cx="4419295" cy="274320"/>
          </a:xfrm>
          <a:prstGeom prst="rect">
            <a:avLst/>
          </a:prstGeom>
          <a:noFill/>
        </p:spPr>
        <p:txBody>
          <a:bodyPr wrap="square" lIns="0" tIns="0" rIns="0" bIns="0" rtlCol="0" anchor="ctr"/>
          <a:lstStyle/>
          <a:p>
            <a:pPr marL="0" indent="0">
              <a:buNone/>
            </a:pPr>
            <a:r>
              <a:rPr lang="en-US" sz="1000" b="1" kern="0" spc="400" dirty="0">
                <a:solidFill>
                  <a:srgbClr val="0E7C7B"/>
                </a:solidFill>
                <a:latin typeface="Consolas" pitchFamily="34" charset="0"/>
                <a:ea typeface="Consolas" pitchFamily="34" charset="-122"/>
                <a:cs typeface="Consolas" pitchFamily="34" charset="-120"/>
              </a:rPr>
              <a:t>INFRASTRUCTURE &amp; DATA</a:t>
            </a:r>
            <a:endParaRPr lang="en-US" sz="1000" dirty="0"/>
          </a:p>
        </p:txBody>
      </p:sp>
      <p:sp>
        <p:nvSpPr>
          <p:cNvPr id="12" name="Shape 9"/>
          <p:cNvSpPr/>
          <p:nvPr/>
        </p:nvSpPr>
        <p:spPr>
          <a:xfrm>
            <a:off x="6858000" y="1463040"/>
            <a:ext cx="4419295" cy="0"/>
          </a:xfrm>
          <a:prstGeom prst="line">
            <a:avLst/>
          </a:prstGeom>
          <a:noFill/>
          <a:ln w="6350">
            <a:solidFill>
              <a:srgbClr val="E5E2D8"/>
            </a:solidFill>
            <a:prstDash val="solid"/>
          </a:ln>
        </p:spPr>
      </p:sp>
      <p:pic>
        <p:nvPicPr>
          <p:cNvPr id="13" name="Image 1" descr="/tmp/vaulx_pptx/logo_pngs/solana-sol.png"/>
          <p:cNvPicPr>
            <a:picLocks noChangeAspect="1"/>
          </p:cNvPicPr>
          <p:nvPr/>
        </p:nvPicPr>
        <p:blipFill>
          <a:blip r:embed="rId2"/>
          <a:srcRect l="-20550" r="-20550"/>
          <a:stretch>
            <a:fillRect/>
          </a:stretch>
        </p:blipFill>
        <p:spPr>
          <a:xfrm>
            <a:off x="6949440" y="1691640"/>
            <a:ext cx="1290218" cy="502920"/>
          </a:xfrm>
          <a:prstGeom prst="rect">
            <a:avLst/>
          </a:prstGeom>
        </p:spPr>
      </p:pic>
      <p:sp>
        <p:nvSpPr>
          <p:cNvPr id="14" name="Text 10"/>
          <p:cNvSpPr/>
          <p:nvPr/>
        </p:nvSpPr>
        <p:spPr>
          <a:xfrm>
            <a:off x="6858000" y="2240280"/>
            <a:ext cx="1473098" cy="201168"/>
          </a:xfrm>
          <a:prstGeom prst="rect">
            <a:avLst/>
          </a:prstGeom>
          <a:noFill/>
        </p:spPr>
        <p:txBody>
          <a:bodyPr wrap="square" lIns="0" tIns="0" rIns="0" bIns="0" rtlCol="0" anchor="ctr"/>
          <a:lstStyle/>
          <a:p>
            <a:pPr marL="0" indent="0" algn="ctr">
              <a:buNone/>
            </a:pPr>
            <a:r>
              <a:rPr lang="en-US" sz="800" dirty="0">
                <a:solidFill>
                  <a:srgbClr val="6B6B70"/>
                </a:solidFill>
                <a:latin typeface="Consolas" pitchFamily="34" charset="0"/>
                <a:ea typeface="Consolas" pitchFamily="34" charset="-122"/>
                <a:cs typeface="Consolas" pitchFamily="34" charset="-120"/>
              </a:rPr>
              <a:t>Solana</a:t>
            </a:r>
            <a:endParaRPr lang="en-US" sz="800" dirty="0"/>
          </a:p>
        </p:txBody>
      </p:sp>
      <p:pic>
        <p:nvPicPr>
          <p:cNvPr id="15" name="Image 2" descr="/tmp/vaulx_pptx/logo_pngs/crossmint.png"/>
          <p:cNvPicPr>
            <a:picLocks noChangeAspect="1"/>
          </p:cNvPicPr>
          <p:nvPr/>
        </p:nvPicPr>
        <p:blipFill>
          <a:blip r:embed="rId3"/>
          <a:srcRect l="-20550" r="-20550"/>
          <a:stretch>
            <a:fillRect/>
          </a:stretch>
        </p:blipFill>
        <p:spPr>
          <a:xfrm>
            <a:off x="8422640" y="1909445"/>
            <a:ext cx="1290320" cy="285115"/>
          </a:xfrm>
          <a:prstGeom prst="rect">
            <a:avLst/>
          </a:prstGeom>
        </p:spPr>
      </p:pic>
      <p:sp>
        <p:nvSpPr>
          <p:cNvPr id="16" name="Text 11"/>
          <p:cNvSpPr/>
          <p:nvPr/>
        </p:nvSpPr>
        <p:spPr>
          <a:xfrm>
            <a:off x="8331098" y="2240280"/>
            <a:ext cx="1473098" cy="201168"/>
          </a:xfrm>
          <a:prstGeom prst="rect">
            <a:avLst/>
          </a:prstGeom>
          <a:noFill/>
        </p:spPr>
        <p:txBody>
          <a:bodyPr wrap="square" lIns="0" tIns="0" rIns="0" bIns="0" rtlCol="0" anchor="ctr"/>
          <a:lstStyle/>
          <a:p>
            <a:pPr marL="0" indent="0" algn="ctr">
              <a:buNone/>
            </a:pPr>
            <a:r>
              <a:rPr lang="en-US" sz="800" dirty="0">
                <a:solidFill>
                  <a:srgbClr val="6B6B70"/>
                </a:solidFill>
                <a:latin typeface="Consolas" pitchFamily="34" charset="0"/>
                <a:ea typeface="Consolas" pitchFamily="34" charset="-122"/>
                <a:cs typeface="Consolas" pitchFamily="34" charset="-120"/>
              </a:rPr>
              <a:t>Crossmint</a:t>
            </a:r>
            <a:endParaRPr lang="en-US" sz="800" dirty="0"/>
          </a:p>
        </p:txBody>
      </p:sp>
      <p:pic>
        <p:nvPicPr>
          <p:cNvPr id="17" name="Image 3" descr="/tmp/vaulx_pptx/logo_pngs/sumsub-horizontal-black.png"/>
          <p:cNvPicPr>
            <a:picLocks noChangeAspect="1"/>
          </p:cNvPicPr>
          <p:nvPr/>
        </p:nvPicPr>
        <p:blipFill>
          <a:blip r:embed="rId4"/>
          <a:srcRect l="-20550" r="-20550"/>
          <a:stretch>
            <a:fillRect/>
          </a:stretch>
        </p:blipFill>
        <p:spPr>
          <a:xfrm>
            <a:off x="9895637" y="1691640"/>
            <a:ext cx="1290218" cy="502920"/>
          </a:xfrm>
          <a:prstGeom prst="rect">
            <a:avLst/>
          </a:prstGeom>
        </p:spPr>
      </p:pic>
      <p:sp>
        <p:nvSpPr>
          <p:cNvPr id="18" name="Text 12"/>
          <p:cNvSpPr/>
          <p:nvPr/>
        </p:nvSpPr>
        <p:spPr>
          <a:xfrm>
            <a:off x="9804197" y="2240280"/>
            <a:ext cx="1473098" cy="201168"/>
          </a:xfrm>
          <a:prstGeom prst="rect">
            <a:avLst/>
          </a:prstGeom>
          <a:noFill/>
        </p:spPr>
        <p:txBody>
          <a:bodyPr wrap="square" lIns="0" tIns="0" rIns="0" bIns="0" rtlCol="0" anchor="ctr"/>
          <a:lstStyle/>
          <a:p>
            <a:pPr marL="0" indent="0" algn="ctr">
              <a:buNone/>
            </a:pPr>
            <a:r>
              <a:rPr lang="en-US" sz="800" dirty="0">
                <a:solidFill>
                  <a:srgbClr val="6B6B70"/>
                </a:solidFill>
                <a:latin typeface="Consolas" pitchFamily="34" charset="0"/>
                <a:ea typeface="Consolas" pitchFamily="34" charset="-122"/>
                <a:cs typeface="Consolas" pitchFamily="34" charset="-120"/>
              </a:rPr>
              <a:t>Sumsub</a:t>
            </a:r>
            <a:endParaRPr lang="en-US" sz="800" dirty="0"/>
          </a:p>
        </p:txBody>
      </p:sp>
      <p:pic>
        <p:nvPicPr>
          <p:cNvPr id="19" name="Image 4" descr="/tmp/vaulx_pptx/logo_pngs/kamino-cdn.png"/>
          <p:cNvPicPr>
            <a:picLocks noChangeAspect="1"/>
          </p:cNvPicPr>
          <p:nvPr/>
        </p:nvPicPr>
        <p:blipFill>
          <a:blip r:embed="rId5"/>
          <a:srcRect l="-20550" r="-20550"/>
          <a:stretch>
            <a:fillRect/>
          </a:stretch>
        </p:blipFill>
        <p:spPr>
          <a:xfrm>
            <a:off x="6949440" y="2697480"/>
            <a:ext cx="1290218" cy="502920"/>
          </a:xfrm>
          <a:prstGeom prst="rect">
            <a:avLst/>
          </a:prstGeom>
        </p:spPr>
      </p:pic>
      <p:sp>
        <p:nvSpPr>
          <p:cNvPr id="20" name="Text 13"/>
          <p:cNvSpPr/>
          <p:nvPr/>
        </p:nvSpPr>
        <p:spPr>
          <a:xfrm>
            <a:off x="6858000" y="3246120"/>
            <a:ext cx="1473098" cy="201168"/>
          </a:xfrm>
          <a:prstGeom prst="rect">
            <a:avLst/>
          </a:prstGeom>
          <a:noFill/>
        </p:spPr>
        <p:txBody>
          <a:bodyPr wrap="square" lIns="0" tIns="0" rIns="0" bIns="0" rtlCol="0" anchor="ctr"/>
          <a:lstStyle/>
          <a:p>
            <a:pPr marL="0" indent="0" algn="ctr">
              <a:buNone/>
            </a:pPr>
            <a:r>
              <a:rPr lang="en-US" sz="800" dirty="0">
                <a:solidFill>
                  <a:srgbClr val="6B6B70"/>
                </a:solidFill>
                <a:latin typeface="Consolas" pitchFamily="34" charset="0"/>
                <a:ea typeface="Consolas" pitchFamily="34" charset="-122"/>
                <a:cs typeface="Consolas" pitchFamily="34" charset="-120"/>
              </a:rPr>
              <a:t>Kamino</a:t>
            </a:r>
            <a:endParaRPr lang="en-US" sz="800" dirty="0"/>
          </a:p>
        </p:txBody>
      </p:sp>
      <p:pic>
        <p:nvPicPr>
          <p:cNvPr id="21" name="Image 5" descr="/tmp/vaulx_pptx/logo_pngs/pyth.png"/>
          <p:cNvPicPr>
            <a:picLocks noChangeAspect="1"/>
          </p:cNvPicPr>
          <p:nvPr/>
        </p:nvPicPr>
        <p:blipFill>
          <a:blip r:embed="rId6"/>
          <a:srcRect l="-20550" r="-20550"/>
          <a:stretch>
            <a:fillRect/>
          </a:stretch>
        </p:blipFill>
        <p:spPr>
          <a:xfrm>
            <a:off x="8527415" y="2625090"/>
            <a:ext cx="1056005" cy="575310"/>
          </a:xfrm>
          <a:prstGeom prst="rect">
            <a:avLst/>
          </a:prstGeom>
        </p:spPr>
      </p:pic>
      <p:sp>
        <p:nvSpPr>
          <p:cNvPr id="22" name="Text 14"/>
          <p:cNvSpPr/>
          <p:nvPr/>
        </p:nvSpPr>
        <p:spPr>
          <a:xfrm>
            <a:off x="8331098" y="3246120"/>
            <a:ext cx="1473098" cy="201168"/>
          </a:xfrm>
          <a:prstGeom prst="rect">
            <a:avLst/>
          </a:prstGeom>
          <a:noFill/>
        </p:spPr>
        <p:txBody>
          <a:bodyPr wrap="square" lIns="0" tIns="0" rIns="0" bIns="0" rtlCol="0" anchor="ctr"/>
          <a:lstStyle/>
          <a:p>
            <a:pPr marL="0" indent="0" algn="ctr">
              <a:buNone/>
            </a:pPr>
            <a:r>
              <a:rPr lang="en-US" sz="800" dirty="0">
                <a:solidFill>
                  <a:srgbClr val="6B6B70"/>
                </a:solidFill>
                <a:latin typeface="Consolas" pitchFamily="34" charset="0"/>
                <a:ea typeface="Consolas" pitchFamily="34" charset="-122"/>
                <a:cs typeface="Consolas" pitchFamily="34" charset="-120"/>
              </a:rPr>
              <a:t>Pyth</a:t>
            </a:r>
            <a:endParaRPr lang="en-US" sz="800" dirty="0"/>
          </a:p>
        </p:txBody>
      </p:sp>
      <p:pic>
        <p:nvPicPr>
          <p:cNvPr id="23" name="Image 6" descr="/tmp/vaulx_pptx/logo_pngs/chrono24.png"/>
          <p:cNvPicPr>
            <a:picLocks noChangeAspect="1"/>
          </p:cNvPicPr>
          <p:nvPr/>
        </p:nvPicPr>
        <p:blipFill>
          <a:blip r:embed="rId7"/>
          <a:srcRect l="-20550" r="-20550"/>
          <a:stretch>
            <a:fillRect/>
          </a:stretch>
        </p:blipFill>
        <p:spPr>
          <a:xfrm>
            <a:off x="9853295" y="2697480"/>
            <a:ext cx="1386840" cy="502920"/>
          </a:xfrm>
          <a:prstGeom prst="rect">
            <a:avLst/>
          </a:prstGeom>
        </p:spPr>
      </p:pic>
      <p:sp>
        <p:nvSpPr>
          <p:cNvPr id="24" name="Text 15"/>
          <p:cNvSpPr/>
          <p:nvPr/>
        </p:nvSpPr>
        <p:spPr>
          <a:xfrm>
            <a:off x="9804197" y="3246120"/>
            <a:ext cx="1473098" cy="201168"/>
          </a:xfrm>
          <a:prstGeom prst="rect">
            <a:avLst/>
          </a:prstGeom>
          <a:noFill/>
        </p:spPr>
        <p:txBody>
          <a:bodyPr wrap="square" lIns="0" tIns="0" rIns="0" bIns="0" rtlCol="0" anchor="ctr"/>
          <a:lstStyle/>
          <a:p>
            <a:pPr marL="0" indent="0" algn="ctr">
              <a:buNone/>
            </a:pPr>
            <a:r>
              <a:rPr lang="en-US" sz="800" dirty="0">
                <a:solidFill>
                  <a:srgbClr val="6B6B70"/>
                </a:solidFill>
                <a:latin typeface="Consolas" pitchFamily="34" charset="0"/>
                <a:ea typeface="Consolas" pitchFamily="34" charset="-122"/>
                <a:cs typeface="Consolas" pitchFamily="34" charset="-120"/>
              </a:rPr>
              <a:t>Chrono24</a:t>
            </a:r>
            <a:endParaRPr lang="en-US" sz="800" dirty="0"/>
          </a:p>
        </p:txBody>
      </p:sp>
      <p:sp>
        <p:nvSpPr>
          <p:cNvPr id="25" name="Shape 16"/>
          <p:cNvSpPr/>
          <p:nvPr/>
        </p:nvSpPr>
        <p:spPr>
          <a:xfrm>
            <a:off x="6858000" y="3749040"/>
            <a:ext cx="4419295" cy="0"/>
          </a:xfrm>
          <a:prstGeom prst="line">
            <a:avLst/>
          </a:prstGeom>
          <a:noFill/>
          <a:ln w="6350">
            <a:solidFill>
              <a:srgbClr val="E5E2D8"/>
            </a:solidFill>
            <a:prstDash val="solid"/>
          </a:ln>
        </p:spPr>
      </p:sp>
      <p:sp>
        <p:nvSpPr>
          <p:cNvPr id="26" name="Text 17"/>
          <p:cNvSpPr/>
          <p:nvPr/>
        </p:nvSpPr>
        <p:spPr>
          <a:xfrm>
            <a:off x="6858000" y="3886200"/>
            <a:ext cx="4419295" cy="274320"/>
          </a:xfrm>
          <a:prstGeom prst="rect">
            <a:avLst/>
          </a:prstGeom>
          <a:noFill/>
        </p:spPr>
        <p:txBody>
          <a:bodyPr wrap="square" lIns="0" tIns="0" rIns="0" bIns="0" rtlCol="0" anchor="ctr"/>
          <a:lstStyle/>
          <a:p>
            <a:pPr marL="0" indent="0">
              <a:buNone/>
            </a:pPr>
            <a:r>
              <a:rPr lang="en-US" sz="1000" b="1" kern="0" spc="400" dirty="0">
                <a:solidFill>
                  <a:srgbClr val="6B6B70"/>
                </a:solidFill>
                <a:latin typeface="Consolas" pitchFamily="34" charset="0"/>
                <a:ea typeface="Consolas" pitchFamily="34" charset="-122"/>
                <a:cs typeface="Consolas" pitchFamily="34" charset="-120"/>
              </a:rPr>
              <a:t>TARGET INTEGRATION NETWORK</a:t>
            </a:r>
            <a:endParaRPr lang="en-US" sz="1000" dirty="0"/>
          </a:p>
        </p:txBody>
      </p:sp>
      <p:sp>
        <p:nvSpPr>
          <p:cNvPr id="27" name="Shape 18"/>
          <p:cNvSpPr/>
          <p:nvPr/>
        </p:nvSpPr>
        <p:spPr>
          <a:xfrm>
            <a:off x="6858000" y="4206240"/>
            <a:ext cx="4419295" cy="0"/>
          </a:xfrm>
          <a:prstGeom prst="line">
            <a:avLst/>
          </a:prstGeom>
          <a:noFill/>
          <a:ln w="6350">
            <a:solidFill>
              <a:srgbClr val="E5E2D8"/>
            </a:solidFill>
            <a:prstDash val="solid"/>
          </a:ln>
        </p:spPr>
      </p:sp>
      <p:pic>
        <p:nvPicPr>
          <p:cNvPr id="28" name="Image 7" descr="/tmp/vaulx_pptx/logo_pngs/vaultik.png"/>
          <p:cNvPicPr>
            <a:picLocks noChangeAspect="1"/>
          </p:cNvPicPr>
          <p:nvPr/>
        </p:nvPicPr>
        <p:blipFill>
          <a:blip r:embed="rId8"/>
          <a:srcRect l="-413" r="-413"/>
          <a:stretch>
            <a:fillRect/>
          </a:stretch>
        </p:blipFill>
        <p:spPr>
          <a:xfrm>
            <a:off x="6949440" y="4434840"/>
            <a:ext cx="921944" cy="457200"/>
          </a:xfrm>
          <a:prstGeom prst="rect">
            <a:avLst/>
          </a:prstGeom>
        </p:spPr>
      </p:pic>
      <p:sp>
        <p:nvSpPr>
          <p:cNvPr id="29" name="Text 19"/>
          <p:cNvSpPr/>
          <p:nvPr/>
        </p:nvSpPr>
        <p:spPr>
          <a:xfrm>
            <a:off x="6858000" y="4937760"/>
            <a:ext cx="1104824" cy="201168"/>
          </a:xfrm>
          <a:prstGeom prst="rect">
            <a:avLst/>
          </a:prstGeom>
          <a:noFill/>
        </p:spPr>
        <p:txBody>
          <a:bodyPr wrap="square" lIns="0" tIns="0" rIns="0" bIns="0" rtlCol="0" anchor="ctr"/>
          <a:lstStyle/>
          <a:p>
            <a:pPr marL="0" indent="0" algn="ctr">
              <a:buNone/>
            </a:pPr>
            <a:r>
              <a:rPr lang="en-US" sz="800" dirty="0">
                <a:solidFill>
                  <a:srgbClr val="6B6B70"/>
                </a:solidFill>
                <a:latin typeface="Consolas" pitchFamily="34" charset="0"/>
                <a:ea typeface="Consolas" pitchFamily="34" charset="-122"/>
                <a:cs typeface="Consolas" pitchFamily="34" charset="-120"/>
              </a:rPr>
              <a:t>Vaultik</a:t>
            </a:r>
            <a:endParaRPr lang="en-US" sz="800" dirty="0"/>
          </a:p>
        </p:txBody>
      </p:sp>
      <p:sp>
        <p:nvSpPr>
          <p:cNvPr id="30" name="Text 20"/>
          <p:cNvSpPr/>
          <p:nvPr/>
        </p:nvSpPr>
        <p:spPr>
          <a:xfrm>
            <a:off x="7962824" y="4434840"/>
            <a:ext cx="1104824" cy="457200"/>
          </a:xfrm>
          <a:prstGeom prst="rect">
            <a:avLst/>
          </a:prstGeom>
          <a:noFill/>
        </p:spPr>
        <p:txBody>
          <a:bodyPr wrap="square" lIns="0" tIns="0" rIns="0" bIns="0" rtlCol="0" anchor="ctr"/>
          <a:lstStyle/>
          <a:p>
            <a:pPr marL="0" indent="0" algn="ctr">
              <a:buNone/>
            </a:pPr>
            <a:r>
              <a:rPr lang="en-US" sz="1800" b="1" dirty="0">
                <a:solidFill>
                  <a:srgbClr val="1A1A1D"/>
                </a:solidFill>
                <a:latin typeface="Georgia" panose="02040502050405090303" pitchFamily="34" charset="0"/>
                <a:ea typeface="Georgia" panose="02040502050405090303" pitchFamily="34" charset="-122"/>
                <a:cs typeface="Georgia" panose="02040502050405090303" pitchFamily="34" charset="-120"/>
              </a:rPr>
              <a:t>Sekuro</a:t>
            </a:r>
            <a:endParaRPr lang="en-US" sz="1800" dirty="0"/>
          </a:p>
        </p:txBody>
      </p:sp>
      <p:sp>
        <p:nvSpPr>
          <p:cNvPr id="31" name="Text 21"/>
          <p:cNvSpPr/>
          <p:nvPr/>
        </p:nvSpPr>
        <p:spPr>
          <a:xfrm>
            <a:off x="7962824" y="4937760"/>
            <a:ext cx="1104824" cy="201168"/>
          </a:xfrm>
          <a:prstGeom prst="rect">
            <a:avLst/>
          </a:prstGeom>
          <a:noFill/>
        </p:spPr>
        <p:txBody>
          <a:bodyPr wrap="square" lIns="0" tIns="0" rIns="0" bIns="0" rtlCol="0" anchor="ctr"/>
          <a:lstStyle/>
          <a:p>
            <a:pPr marL="0" indent="0" algn="ctr">
              <a:buNone/>
            </a:pPr>
            <a:r>
              <a:rPr lang="en-US" sz="800" dirty="0">
                <a:solidFill>
                  <a:srgbClr val="6B6B70"/>
                </a:solidFill>
                <a:latin typeface="Consolas" pitchFamily="34" charset="0"/>
                <a:ea typeface="Consolas" pitchFamily="34" charset="-122"/>
                <a:cs typeface="Consolas" pitchFamily="34" charset="-120"/>
              </a:rPr>
              <a:t>Sekuro</a:t>
            </a:r>
            <a:endParaRPr lang="en-US" sz="800" dirty="0"/>
          </a:p>
        </p:txBody>
      </p:sp>
      <p:pic>
        <p:nvPicPr>
          <p:cNvPr id="32" name="Image 8" descr="/tmp/vaulx_pptx/logo_pngs/brinks.png"/>
          <p:cNvPicPr>
            <a:picLocks noChangeAspect="1"/>
          </p:cNvPicPr>
          <p:nvPr/>
        </p:nvPicPr>
        <p:blipFill>
          <a:blip r:embed="rId9"/>
          <a:srcRect l="-413" r="-413"/>
          <a:stretch>
            <a:fillRect/>
          </a:stretch>
        </p:blipFill>
        <p:spPr>
          <a:xfrm>
            <a:off x="9159088" y="4434840"/>
            <a:ext cx="921944" cy="457200"/>
          </a:xfrm>
          <a:prstGeom prst="rect">
            <a:avLst/>
          </a:prstGeom>
        </p:spPr>
      </p:pic>
      <p:sp>
        <p:nvSpPr>
          <p:cNvPr id="33" name="Text 22"/>
          <p:cNvSpPr/>
          <p:nvPr/>
        </p:nvSpPr>
        <p:spPr>
          <a:xfrm>
            <a:off x="9067648" y="4937760"/>
            <a:ext cx="1104824" cy="201168"/>
          </a:xfrm>
          <a:prstGeom prst="rect">
            <a:avLst/>
          </a:prstGeom>
          <a:noFill/>
        </p:spPr>
        <p:txBody>
          <a:bodyPr wrap="square" lIns="0" tIns="0" rIns="0" bIns="0" rtlCol="0" anchor="ctr"/>
          <a:lstStyle/>
          <a:p>
            <a:pPr marL="0" indent="0" algn="ctr">
              <a:buNone/>
            </a:pPr>
            <a:r>
              <a:rPr lang="en-US" sz="800" dirty="0">
                <a:solidFill>
                  <a:srgbClr val="6B6B70"/>
                </a:solidFill>
                <a:latin typeface="Consolas" pitchFamily="34" charset="0"/>
                <a:ea typeface="Consolas" pitchFamily="34" charset="-122"/>
                <a:cs typeface="Consolas" pitchFamily="34" charset="-120"/>
              </a:rPr>
              <a:t>Brinks</a:t>
            </a:r>
            <a:endParaRPr lang="en-US" sz="800" dirty="0"/>
          </a:p>
        </p:txBody>
      </p:sp>
      <p:pic>
        <p:nvPicPr>
          <p:cNvPr id="34" name="Image 9" descr="/tmp/vaulx_pptx/logo_pngs/loomis.png"/>
          <p:cNvPicPr>
            <a:picLocks noChangeAspect="1"/>
          </p:cNvPicPr>
          <p:nvPr/>
        </p:nvPicPr>
        <p:blipFill>
          <a:blip r:embed="rId10"/>
          <a:srcRect l="-413" r="-413"/>
          <a:stretch>
            <a:fillRect/>
          </a:stretch>
        </p:blipFill>
        <p:spPr>
          <a:xfrm>
            <a:off x="10263911" y="4434840"/>
            <a:ext cx="921944" cy="457200"/>
          </a:xfrm>
          <a:prstGeom prst="rect">
            <a:avLst/>
          </a:prstGeom>
        </p:spPr>
      </p:pic>
      <p:sp>
        <p:nvSpPr>
          <p:cNvPr id="35" name="Text 23"/>
          <p:cNvSpPr/>
          <p:nvPr/>
        </p:nvSpPr>
        <p:spPr>
          <a:xfrm>
            <a:off x="10172471" y="4937760"/>
            <a:ext cx="1104824" cy="201168"/>
          </a:xfrm>
          <a:prstGeom prst="rect">
            <a:avLst/>
          </a:prstGeom>
          <a:noFill/>
        </p:spPr>
        <p:txBody>
          <a:bodyPr wrap="square" lIns="0" tIns="0" rIns="0" bIns="0" rtlCol="0" anchor="ctr"/>
          <a:lstStyle/>
          <a:p>
            <a:pPr marL="0" indent="0" algn="ctr">
              <a:buNone/>
            </a:pPr>
            <a:r>
              <a:rPr lang="en-US" sz="800" dirty="0">
                <a:solidFill>
                  <a:srgbClr val="6B6B70"/>
                </a:solidFill>
                <a:latin typeface="Consolas" pitchFamily="34" charset="0"/>
                <a:ea typeface="Consolas" pitchFamily="34" charset="-122"/>
                <a:cs typeface="Consolas" pitchFamily="34" charset="-120"/>
              </a:rPr>
              <a:t>Loomis</a:t>
            </a:r>
            <a:endParaRPr lang="en-US" sz="800" dirty="0"/>
          </a:p>
        </p:txBody>
      </p:sp>
      <p:sp>
        <p:nvSpPr>
          <p:cNvPr id="36" name="Text 24"/>
          <p:cNvSpPr/>
          <p:nvPr/>
        </p:nvSpPr>
        <p:spPr>
          <a:xfrm>
            <a:off x="6858000" y="5715000"/>
            <a:ext cx="4419295" cy="274320"/>
          </a:xfrm>
          <a:prstGeom prst="rect">
            <a:avLst/>
          </a:prstGeom>
          <a:noFill/>
        </p:spPr>
        <p:txBody>
          <a:bodyPr wrap="square" lIns="0" tIns="0" rIns="0" bIns="0" rtlCol="0" anchor="ctr"/>
          <a:lstStyle/>
          <a:p>
            <a:pPr marL="0" indent="0" algn="ctr">
              <a:buNone/>
            </a:pPr>
            <a:r>
              <a:rPr lang="en-US" sz="850" i="1" dirty="0">
                <a:solidFill>
                  <a:srgbClr val="6B6B70"/>
                </a:solidFill>
                <a:latin typeface="Consolas" pitchFamily="34" charset="0"/>
                <a:ea typeface="Consolas" pitchFamily="34" charset="-122"/>
                <a:cs typeface="Consolas" pitchFamily="34" charset="-120"/>
              </a:rPr>
              <a:t>Open-source primitives + active commercial conversations.</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640080" y="530352"/>
            <a:ext cx="109728" cy="22860"/>
          </a:xfrm>
          <a:prstGeom prst="rect">
            <a:avLst/>
          </a:prstGeom>
          <a:solidFill>
            <a:srgbClr val="0E7C7B"/>
          </a:solidFill>
          <a:ln w="12700">
            <a:solidFill>
              <a:srgbClr val="0E7C7B"/>
            </a:solidFill>
            <a:prstDash val="solid"/>
          </a:ln>
        </p:spPr>
      </p:sp>
      <p:sp>
        <p:nvSpPr>
          <p:cNvPr id="3" name="Text 1"/>
          <p:cNvSpPr/>
          <p:nvPr/>
        </p:nvSpPr>
        <p:spPr>
          <a:xfrm>
            <a:off x="804672" y="457200"/>
            <a:ext cx="5321808" cy="228600"/>
          </a:xfrm>
          <a:prstGeom prst="rect">
            <a:avLst/>
          </a:prstGeom>
          <a:noFill/>
        </p:spPr>
        <p:txBody>
          <a:bodyPr wrap="square" lIns="0" tIns="0" rIns="0" bIns="0" rtlCol="0" anchor="ctr"/>
          <a:lstStyle/>
          <a:p>
            <a:pPr marL="0" indent="0">
              <a:buNone/>
            </a:pPr>
            <a:r>
              <a:rPr lang="en-US" sz="950" b="1" kern="0" spc="400" dirty="0">
                <a:solidFill>
                  <a:srgbClr val="0E7C7B"/>
                </a:solidFill>
                <a:latin typeface="Consolas" pitchFamily="34" charset="0"/>
                <a:ea typeface="Consolas" pitchFamily="34" charset="-122"/>
                <a:cs typeface="Consolas" pitchFamily="34" charset="-120"/>
              </a:rPr>
              <a:t>03  /  THE ATOMIC RAIL</a:t>
            </a:r>
            <a:endParaRPr lang="en-US" sz="950" dirty="0"/>
          </a:p>
        </p:txBody>
      </p:sp>
      <p:sp>
        <p:nvSpPr>
          <p:cNvPr id="4" name="Text 2"/>
          <p:cNvSpPr/>
          <p:nvPr/>
        </p:nvSpPr>
        <p:spPr>
          <a:xfrm>
            <a:off x="10911535" y="274320"/>
            <a:ext cx="914400" cy="228600"/>
          </a:xfrm>
          <a:prstGeom prst="rect">
            <a:avLst/>
          </a:prstGeom>
          <a:noFill/>
        </p:spPr>
        <p:txBody>
          <a:bodyPr wrap="square" lIns="0" tIns="0" rIns="0" bIns="0" rtlCol="0" anchor="ctr"/>
          <a:lstStyle/>
          <a:p>
            <a:pPr marL="0" indent="0" algn="r">
              <a:buNone/>
            </a:pPr>
            <a:r>
              <a:rPr lang="en-US" sz="900" kern="0" spc="300" dirty="0">
                <a:solidFill>
                  <a:srgbClr val="6B6B70"/>
                </a:solidFill>
                <a:latin typeface="Consolas" pitchFamily="34" charset="0"/>
                <a:ea typeface="Consolas" pitchFamily="34" charset="-122"/>
                <a:cs typeface="Consolas" pitchFamily="34" charset="-120"/>
              </a:rPr>
              <a:t>03 / 09</a:t>
            </a:r>
            <a:endParaRPr lang="en-US" sz="900" dirty="0"/>
          </a:p>
        </p:txBody>
      </p:sp>
      <p:sp>
        <p:nvSpPr>
          <p:cNvPr id="5" name="Text 3"/>
          <p:cNvSpPr/>
          <p:nvPr/>
        </p:nvSpPr>
        <p:spPr>
          <a:xfrm>
            <a:off x="640080" y="777240"/>
            <a:ext cx="10911535" cy="868680"/>
          </a:xfrm>
          <a:prstGeom prst="rect">
            <a:avLst/>
          </a:prstGeom>
          <a:noFill/>
        </p:spPr>
        <p:txBody>
          <a:bodyPr wrap="square" lIns="0" tIns="0" rIns="0" bIns="0" rtlCol="0" anchor="ctr"/>
          <a:lstStyle/>
          <a:p>
            <a:pPr marL="0" indent="0">
              <a:buNone/>
            </a:pPr>
            <a:r>
              <a:rPr lang="en-US" sz="3400" b="1" dirty="0">
                <a:solidFill>
                  <a:srgbClr val="1A1A1D"/>
                </a:solidFill>
                <a:latin typeface="Georgia" panose="02040502050405090303" pitchFamily="34" charset="0"/>
                <a:ea typeface="Georgia" panose="02040502050405090303" pitchFamily="34" charset="-122"/>
                <a:cs typeface="Georgia" panose="02040502050405090303" pitchFamily="34" charset="-120"/>
              </a:rPr>
              <a:t>One atomic </a:t>
            </a:r>
            <a:r>
              <a:rPr lang="en-US" sz="3400" b="1" i="1" dirty="0">
                <a:solidFill>
                  <a:srgbClr val="0E7C7B"/>
                </a:solidFill>
                <a:latin typeface="Georgia" panose="02040502050405090303" pitchFamily="34" charset="0"/>
                <a:ea typeface="Georgia" panose="02040502050405090303" pitchFamily="34" charset="-122"/>
                <a:cs typeface="Georgia" panose="02040502050405090303" pitchFamily="34" charset="-120"/>
              </a:rPr>
              <a:t>rail </a:t>
            </a:r>
            <a:r>
              <a:rPr lang="en-US" sz="3400" b="1" dirty="0">
                <a:solidFill>
                  <a:srgbClr val="1A1A1D"/>
                </a:solidFill>
                <a:latin typeface="Georgia" panose="02040502050405090303" pitchFamily="34" charset="0"/>
                <a:ea typeface="Georgia" panose="02040502050405090303" pitchFamily="34" charset="-122"/>
                <a:cs typeface="Georgia" panose="02040502050405090303" pitchFamily="34" charset="-120"/>
              </a:rPr>
              <a:t>from vault to USDC.</a:t>
            </a:r>
            <a:endParaRPr lang="en-US" sz="3400" dirty="0"/>
          </a:p>
        </p:txBody>
      </p:sp>
      <p:sp>
        <p:nvSpPr>
          <p:cNvPr id="6" name="Text 4"/>
          <p:cNvSpPr/>
          <p:nvPr/>
        </p:nvSpPr>
        <p:spPr>
          <a:xfrm>
            <a:off x="640080" y="1645920"/>
            <a:ext cx="10911535" cy="365760"/>
          </a:xfrm>
          <a:prstGeom prst="rect">
            <a:avLst/>
          </a:prstGeom>
          <a:noFill/>
        </p:spPr>
        <p:txBody>
          <a:bodyPr wrap="square" lIns="0" tIns="0" rIns="0" bIns="0" rtlCol="0" anchor="ctr"/>
          <a:lstStyle/>
          <a:p>
            <a:pPr marL="0" indent="0">
              <a:buNone/>
            </a:pPr>
            <a:r>
              <a:rPr lang="en-US" sz="1300" dirty="0">
                <a:solidFill>
                  <a:srgbClr val="6B6B70"/>
                </a:solidFill>
                <a:latin typeface="Calibri" pitchFamily="34" charset="0"/>
                <a:ea typeface="Calibri" pitchFamily="34" charset="-122"/>
                <a:cs typeface="Calibri" pitchFamily="34" charset="-120"/>
              </a:rPr>
              <a:t>Borrower demand, licensed custody, onchain proof, and Solana liquidity — stitched into one transaction-safe system.</a:t>
            </a:r>
            <a:endParaRPr lang="en-US" sz="1300" dirty="0"/>
          </a:p>
        </p:txBody>
      </p:sp>
      <p:sp>
        <p:nvSpPr>
          <p:cNvPr id="7" name="Shape 5"/>
          <p:cNvSpPr/>
          <p:nvPr/>
        </p:nvSpPr>
        <p:spPr>
          <a:xfrm>
            <a:off x="640080" y="2075688"/>
            <a:ext cx="914400" cy="0"/>
          </a:xfrm>
          <a:prstGeom prst="line">
            <a:avLst/>
          </a:prstGeom>
          <a:noFill/>
          <a:ln w="15240">
            <a:solidFill>
              <a:srgbClr val="C9A86A"/>
            </a:solidFill>
            <a:prstDash val="solid"/>
          </a:ln>
        </p:spPr>
      </p:sp>
      <p:sp>
        <p:nvSpPr>
          <p:cNvPr id="8" name="Shape 6"/>
          <p:cNvSpPr/>
          <p:nvPr/>
        </p:nvSpPr>
        <p:spPr>
          <a:xfrm>
            <a:off x="640080" y="2286000"/>
            <a:ext cx="1926275" cy="3108960"/>
          </a:xfrm>
          <a:prstGeom prst="rect">
            <a:avLst/>
          </a:prstGeom>
          <a:solidFill>
            <a:srgbClr val="FFFFFF"/>
          </a:solidFill>
          <a:ln w="9525">
            <a:solidFill>
              <a:srgbClr val="E5E2D8"/>
            </a:solidFill>
            <a:prstDash val="solid"/>
          </a:ln>
        </p:spPr>
      </p:sp>
      <p:sp>
        <p:nvSpPr>
          <p:cNvPr id="9" name="Text 7"/>
          <p:cNvSpPr/>
          <p:nvPr/>
        </p:nvSpPr>
        <p:spPr>
          <a:xfrm>
            <a:off x="804672" y="2450592"/>
            <a:ext cx="457200" cy="274320"/>
          </a:xfrm>
          <a:prstGeom prst="rect">
            <a:avLst/>
          </a:prstGeom>
          <a:noFill/>
        </p:spPr>
        <p:txBody>
          <a:bodyPr wrap="square" lIns="0" tIns="0" rIns="0" bIns="0" rtlCol="0" anchor="ctr"/>
          <a:lstStyle/>
          <a:p>
            <a:pPr marL="0" indent="0">
              <a:buNone/>
            </a:pPr>
            <a:r>
              <a:rPr lang="en-US" sz="1100" b="1" kern="0" spc="200" dirty="0">
                <a:solidFill>
                  <a:srgbClr val="0E7C7B"/>
                </a:solidFill>
                <a:latin typeface="Consolas" pitchFamily="34" charset="0"/>
                <a:ea typeface="Consolas" pitchFamily="34" charset="-122"/>
                <a:cs typeface="Consolas" pitchFamily="34" charset="-120"/>
              </a:rPr>
              <a:t>01</a:t>
            </a:r>
            <a:endParaRPr lang="en-US" sz="1100" dirty="0"/>
          </a:p>
        </p:txBody>
      </p:sp>
      <p:pic>
        <p:nvPicPr>
          <p:cNvPr id="10" name="Image 0" descr="preencoded.png"/>
          <p:cNvPicPr>
            <a:picLocks noChangeAspect="1"/>
          </p:cNvPicPr>
          <p:nvPr/>
        </p:nvPicPr>
        <p:blipFill>
          <a:blip r:embed="rId1"/>
          <a:stretch>
            <a:fillRect/>
          </a:stretch>
        </p:blipFill>
        <p:spPr>
          <a:xfrm>
            <a:off x="1926275" y="2450592"/>
            <a:ext cx="411480" cy="411480"/>
          </a:xfrm>
          <a:prstGeom prst="rect">
            <a:avLst/>
          </a:prstGeom>
        </p:spPr>
      </p:pic>
      <p:sp>
        <p:nvSpPr>
          <p:cNvPr id="11" name="Text 8"/>
          <p:cNvSpPr/>
          <p:nvPr/>
        </p:nvSpPr>
        <p:spPr>
          <a:xfrm>
            <a:off x="822960" y="2971800"/>
            <a:ext cx="1560515" cy="640080"/>
          </a:xfrm>
          <a:prstGeom prst="rect">
            <a:avLst/>
          </a:prstGeom>
          <a:noFill/>
        </p:spPr>
        <p:txBody>
          <a:bodyPr wrap="square" lIns="0" tIns="0" rIns="0" bIns="0" rtlCol="0" anchor="ctr"/>
          <a:lstStyle/>
          <a:p>
            <a:pPr marL="0" indent="0">
              <a:lnSpc>
                <a:spcPts val="2000"/>
              </a:lnSpc>
              <a:buNone/>
            </a:pPr>
            <a:r>
              <a:rPr lang="en-US" sz="1600" b="1" dirty="0">
                <a:solidFill>
                  <a:srgbClr val="1A1A1D"/>
                </a:solidFill>
                <a:latin typeface="Georgia" panose="02040502050405090303" pitchFamily="34" charset="0"/>
                <a:ea typeface="Georgia" panose="02040502050405090303" pitchFamily="34" charset="-122"/>
                <a:cs typeface="Georgia" panose="02040502050405090303" pitchFamily="34" charset="-120"/>
              </a:rPr>
              <a:t>Borrower</a:t>
            </a:r>
            <a:endParaRPr lang="en-US" sz="1600" dirty="0"/>
          </a:p>
          <a:p>
            <a:pPr marL="0" indent="0">
              <a:lnSpc>
                <a:spcPts val="2000"/>
              </a:lnSpc>
              <a:buNone/>
            </a:pPr>
            <a:r>
              <a:rPr lang="en-US" sz="1600" b="1" dirty="0">
                <a:solidFill>
                  <a:srgbClr val="1A1A1D"/>
                </a:solidFill>
                <a:latin typeface="Georgia" panose="02040502050405090303" pitchFamily="34" charset="0"/>
                <a:ea typeface="Georgia" panose="02040502050405090303" pitchFamily="34" charset="-122"/>
                <a:cs typeface="Georgia" panose="02040502050405090303" pitchFamily="34" charset="-120"/>
              </a:rPr>
              <a:t>onboarding</a:t>
            </a:r>
            <a:endParaRPr lang="en-US" sz="1600" dirty="0"/>
          </a:p>
        </p:txBody>
      </p:sp>
      <p:sp>
        <p:nvSpPr>
          <p:cNvPr id="12" name="Text 9"/>
          <p:cNvSpPr/>
          <p:nvPr/>
        </p:nvSpPr>
        <p:spPr>
          <a:xfrm>
            <a:off x="822960" y="3657600"/>
            <a:ext cx="1560515" cy="1554480"/>
          </a:xfrm>
          <a:prstGeom prst="rect">
            <a:avLst/>
          </a:prstGeom>
          <a:noFill/>
        </p:spPr>
        <p:txBody>
          <a:bodyPr wrap="square" lIns="0" tIns="0" rIns="0" bIns="0" rtlCol="0" anchor="ctr"/>
          <a:lstStyle/>
          <a:p>
            <a:pPr marL="0" indent="0">
              <a:lnSpc>
                <a:spcPts val="1800"/>
              </a:lnSpc>
              <a:buNone/>
            </a:pPr>
            <a:r>
              <a:rPr lang="en-US" sz="1100" dirty="0">
                <a:solidFill>
                  <a:srgbClr val="6B6B70"/>
                </a:solidFill>
                <a:latin typeface="Consolas" pitchFamily="34" charset="0"/>
                <a:ea typeface="Consolas" pitchFamily="34" charset="-122"/>
                <a:cs typeface="Consolas" pitchFamily="34" charset="-120"/>
              </a:rPr>
              <a:t>social login</a:t>
            </a:r>
            <a:endParaRPr lang="en-US" sz="1100" dirty="0"/>
          </a:p>
          <a:p>
            <a:pPr marL="0" indent="0">
              <a:lnSpc>
                <a:spcPts val="1800"/>
              </a:lnSpc>
              <a:buNone/>
            </a:pPr>
            <a:r>
              <a:rPr lang="en-US" sz="1100" dirty="0">
                <a:solidFill>
                  <a:srgbClr val="6B6B70"/>
                </a:solidFill>
                <a:latin typeface="Consolas" pitchFamily="34" charset="0"/>
                <a:ea typeface="Consolas" pitchFamily="34" charset="-122"/>
                <a:cs typeface="Consolas" pitchFamily="34" charset="-120"/>
              </a:rPr>
              <a:t>Sumsub KYC</a:t>
            </a:r>
            <a:endParaRPr lang="en-US" sz="1100" dirty="0"/>
          </a:p>
          <a:p>
            <a:pPr marL="0" indent="0">
              <a:lnSpc>
                <a:spcPts val="1800"/>
              </a:lnSpc>
              <a:buNone/>
            </a:pPr>
            <a:r>
              <a:rPr lang="en-US" sz="1100" dirty="0">
                <a:solidFill>
                  <a:srgbClr val="6B6B70"/>
                </a:solidFill>
                <a:latin typeface="Consolas" pitchFamily="34" charset="0"/>
                <a:ea typeface="Consolas" pitchFamily="34" charset="-122"/>
                <a:cs typeface="Consolas" pitchFamily="34" charset="-120"/>
              </a:rPr>
              <a:t>appraisal</a:t>
            </a:r>
            <a:endParaRPr lang="en-US" sz="1100" dirty="0"/>
          </a:p>
        </p:txBody>
      </p:sp>
      <p:sp>
        <p:nvSpPr>
          <p:cNvPr id="13" name="Text 10"/>
          <p:cNvSpPr/>
          <p:nvPr/>
        </p:nvSpPr>
        <p:spPr>
          <a:xfrm>
            <a:off x="2566355" y="3611880"/>
            <a:ext cx="320040" cy="457200"/>
          </a:xfrm>
          <a:prstGeom prst="rect">
            <a:avLst/>
          </a:prstGeom>
          <a:noFill/>
        </p:spPr>
        <p:txBody>
          <a:bodyPr wrap="square" lIns="0" tIns="0" rIns="0" bIns="0" rtlCol="0" anchor="ctr"/>
          <a:lstStyle/>
          <a:p>
            <a:pPr marL="0" indent="0" algn="ctr">
              <a:buNone/>
            </a:pPr>
            <a:r>
              <a:rPr lang="en-US" sz="1800" dirty="0">
                <a:solidFill>
                  <a:srgbClr val="0E7C7B"/>
                </a:solidFill>
                <a:latin typeface="Calibri" pitchFamily="34" charset="0"/>
                <a:ea typeface="Calibri" pitchFamily="34" charset="-122"/>
                <a:cs typeface="Calibri" pitchFamily="34" charset="-120"/>
              </a:rPr>
              <a:t>→</a:t>
            </a:r>
            <a:endParaRPr lang="en-US" sz="1800" dirty="0"/>
          </a:p>
        </p:txBody>
      </p:sp>
      <p:sp>
        <p:nvSpPr>
          <p:cNvPr id="14" name="Shape 11"/>
          <p:cNvSpPr/>
          <p:nvPr/>
        </p:nvSpPr>
        <p:spPr>
          <a:xfrm>
            <a:off x="2886395" y="2286000"/>
            <a:ext cx="1926275" cy="3108960"/>
          </a:xfrm>
          <a:prstGeom prst="rect">
            <a:avLst/>
          </a:prstGeom>
          <a:solidFill>
            <a:srgbClr val="FFFFFF"/>
          </a:solidFill>
          <a:ln w="9525">
            <a:solidFill>
              <a:srgbClr val="E5E2D8"/>
            </a:solidFill>
            <a:prstDash val="solid"/>
          </a:ln>
        </p:spPr>
      </p:sp>
      <p:sp>
        <p:nvSpPr>
          <p:cNvPr id="15" name="Text 12"/>
          <p:cNvSpPr/>
          <p:nvPr/>
        </p:nvSpPr>
        <p:spPr>
          <a:xfrm>
            <a:off x="3050987" y="2450592"/>
            <a:ext cx="457200" cy="274320"/>
          </a:xfrm>
          <a:prstGeom prst="rect">
            <a:avLst/>
          </a:prstGeom>
          <a:noFill/>
        </p:spPr>
        <p:txBody>
          <a:bodyPr wrap="square" lIns="0" tIns="0" rIns="0" bIns="0" rtlCol="0" anchor="ctr"/>
          <a:lstStyle/>
          <a:p>
            <a:pPr marL="0" indent="0">
              <a:buNone/>
            </a:pPr>
            <a:r>
              <a:rPr lang="en-US" sz="1100" b="1" kern="0" spc="200" dirty="0">
                <a:solidFill>
                  <a:srgbClr val="0E7C7B"/>
                </a:solidFill>
                <a:latin typeface="Consolas" pitchFamily="34" charset="0"/>
                <a:ea typeface="Consolas" pitchFamily="34" charset="-122"/>
                <a:cs typeface="Consolas" pitchFamily="34" charset="-120"/>
              </a:rPr>
              <a:t>02</a:t>
            </a:r>
            <a:endParaRPr lang="en-US" sz="1100" dirty="0"/>
          </a:p>
        </p:txBody>
      </p:sp>
      <p:pic>
        <p:nvPicPr>
          <p:cNvPr id="16" name="Image 1" descr="preencoded.png"/>
          <p:cNvPicPr>
            <a:picLocks noChangeAspect="1"/>
          </p:cNvPicPr>
          <p:nvPr/>
        </p:nvPicPr>
        <p:blipFill>
          <a:blip r:embed="rId2"/>
          <a:stretch>
            <a:fillRect/>
          </a:stretch>
        </p:blipFill>
        <p:spPr>
          <a:xfrm>
            <a:off x="4172590" y="2450592"/>
            <a:ext cx="411480" cy="411480"/>
          </a:xfrm>
          <a:prstGeom prst="rect">
            <a:avLst/>
          </a:prstGeom>
        </p:spPr>
      </p:pic>
      <p:sp>
        <p:nvSpPr>
          <p:cNvPr id="17" name="Text 13"/>
          <p:cNvSpPr/>
          <p:nvPr/>
        </p:nvSpPr>
        <p:spPr>
          <a:xfrm>
            <a:off x="3069275" y="2971800"/>
            <a:ext cx="1560515" cy="640080"/>
          </a:xfrm>
          <a:prstGeom prst="rect">
            <a:avLst/>
          </a:prstGeom>
          <a:noFill/>
        </p:spPr>
        <p:txBody>
          <a:bodyPr wrap="square" lIns="0" tIns="0" rIns="0" bIns="0" rtlCol="0" anchor="ctr"/>
          <a:lstStyle/>
          <a:p>
            <a:pPr marL="0" indent="0">
              <a:lnSpc>
                <a:spcPts val="2000"/>
              </a:lnSpc>
              <a:buNone/>
            </a:pPr>
            <a:r>
              <a:rPr lang="en-US" sz="1600" b="1" dirty="0">
                <a:solidFill>
                  <a:srgbClr val="1A1A1D"/>
                </a:solidFill>
                <a:latin typeface="Georgia" panose="02040502050405090303" pitchFamily="34" charset="0"/>
                <a:ea typeface="Georgia" panose="02040502050405090303" pitchFamily="34" charset="-122"/>
                <a:cs typeface="Georgia" panose="02040502050405090303" pitchFamily="34" charset="-120"/>
              </a:rPr>
              <a:t>Licensed</a:t>
            </a:r>
            <a:endParaRPr lang="en-US" sz="1600" dirty="0"/>
          </a:p>
          <a:p>
            <a:pPr marL="0" indent="0">
              <a:lnSpc>
                <a:spcPts val="2000"/>
              </a:lnSpc>
              <a:buNone/>
            </a:pPr>
            <a:r>
              <a:rPr lang="en-US" sz="1600" b="1" dirty="0">
                <a:solidFill>
                  <a:srgbClr val="1A1A1D"/>
                </a:solidFill>
                <a:latin typeface="Georgia" panose="02040502050405090303" pitchFamily="34" charset="0"/>
                <a:ea typeface="Georgia" panose="02040502050405090303" pitchFamily="34" charset="-122"/>
                <a:cs typeface="Georgia" panose="02040502050405090303" pitchFamily="34" charset="-120"/>
              </a:rPr>
              <a:t>custody</a:t>
            </a:r>
            <a:endParaRPr lang="en-US" sz="1600" dirty="0"/>
          </a:p>
        </p:txBody>
      </p:sp>
      <p:sp>
        <p:nvSpPr>
          <p:cNvPr id="18" name="Text 14"/>
          <p:cNvSpPr/>
          <p:nvPr/>
        </p:nvSpPr>
        <p:spPr>
          <a:xfrm>
            <a:off x="3069275" y="3657600"/>
            <a:ext cx="1560515" cy="1554480"/>
          </a:xfrm>
          <a:prstGeom prst="rect">
            <a:avLst/>
          </a:prstGeom>
          <a:noFill/>
        </p:spPr>
        <p:txBody>
          <a:bodyPr wrap="square" lIns="0" tIns="0" rIns="0" bIns="0" rtlCol="0" anchor="ctr"/>
          <a:lstStyle/>
          <a:p>
            <a:pPr marL="0" indent="0">
              <a:lnSpc>
                <a:spcPts val="1800"/>
              </a:lnSpc>
              <a:buNone/>
            </a:pPr>
            <a:r>
              <a:rPr lang="en-US" sz="1100" dirty="0">
                <a:solidFill>
                  <a:srgbClr val="6B6B70"/>
                </a:solidFill>
                <a:latin typeface="Consolas" pitchFamily="34" charset="0"/>
                <a:ea typeface="Consolas" pitchFamily="34" charset="-122"/>
                <a:cs typeface="Consolas" pitchFamily="34" charset="-120"/>
              </a:rPr>
              <a:t>Custodian intake</a:t>
            </a:r>
            <a:endParaRPr lang="en-US" sz="1100" dirty="0"/>
          </a:p>
          <a:p>
            <a:pPr marL="0" indent="0">
              <a:lnSpc>
                <a:spcPts val="1800"/>
              </a:lnSpc>
              <a:buNone/>
            </a:pPr>
            <a:r>
              <a:rPr lang="en-US" sz="1100" dirty="0">
                <a:solidFill>
                  <a:srgbClr val="6B6B70"/>
                </a:solidFill>
                <a:latin typeface="Consolas" pitchFamily="34" charset="0"/>
                <a:ea typeface="Consolas" pitchFamily="34" charset="-122"/>
                <a:cs typeface="Consolas" pitchFamily="34" charset="-120"/>
              </a:rPr>
              <a:t>Brinks-class network</a:t>
            </a:r>
            <a:endParaRPr lang="en-US" sz="1100" dirty="0"/>
          </a:p>
          <a:p>
            <a:pPr marL="0" indent="0">
              <a:lnSpc>
                <a:spcPts val="1800"/>
              </a:lnSpc>
              <a:buNone/>
            </a:pPr>
            <a:r>
              <a:rPr lang="en-US" sz="1100" dirty="0">
                <a:solidFill>
                  <a:srgbClr val="6B6B70"/>
                </a:solidFill>
                <a:latin typeface="Consolas" pitchFamily="34" charset="0"/>
                <a:ea typeface="Consolas" pitchFamily="34" charset="-122"/>
                <a:cs typeface="Consolas" pitchFamily="34" charset="-120"/>
              </a:rPr>
              <a:t>Global insurance</a:t>
            </a:r>
            <a:endParaRPr lang="en-US" sz="1100" dirty="0"/>
          </a:p>
        </p:txBody>
      </p:sp>
      <p:sp>
        <p:nvSpPr>
          <p:cNvPr id="19" name="Text 15"/>
          <p:cNvSpPr/>
          <p:nvPr/>
        </p:nvSpPr>
        <p:spPr>
          <a:xfrm>
            <a:off x="4812670" y="3611880"/>
            <a:ext cx="320040" cy="457200"/>
          </a:xfrm>
          <a:prstGeom prst="rect">
            <a:avLst/>
          </a:prstGeom>
          <a:noFill/>
        </p:spPr>
        <p:txBody>
          <a:bodyPr wrap="square" lIns="0" tIns="0" rIns="0" bIns="0" rtlCol="0" anchor="ctr"/>
          <a:lstStyle/>
          <a:p>
            <a:pPr marL="0" indent="0" algn="ctr">
              <a:buNone/>
            </a:pPr>
            <a:r>
              <a:rPr lang="en-US" sz="1800" dirty="0">
                <a:solidFill>
                  <a:srgbClr val="0E7C7B"/>
                </a:solidFill>
                <a:latin typeface="Calibri" pitchFamily="34" charset="0"/>
                <a:ea typeface="Calibri" pitchFamily="34" charset="-122"/>
                <a:cs typeface="Calibri" pitchFamily="34" charset="-120"/>
              </a:rPr>
              <a:t>→</a:t>
            </a:r>
            <a:endParaRPr lang="en-US" sz="1800" dirty="0"/>
          </a:p>
        </p:txBody>
      </p:sp>
      <p:sp>
        <p:nvSpPr>
          <p:cNvPr id="20" name="Shape 16"/>
          <p:cNvSpPr/>
          <p:nvPr/>
        </p:nvSpPr>
        <p:spPr>
          <a:xfrm>
            <a:off x="5132710" y="2286000"/>
            <a:ext cx="1926275" cy="3108960"/>
          </a:xfrm>
          <a:prstGeom prst="rect">
            <a:avLst/>
          </a:prstGeom>
          <a:solidFill>
            <a:srgbClr val="FFFFFF"/>
          </a:solidFill>
          <a:ln w="9525">
            <a:solidFill>
              <a:srgbClr val="E5E2D8"/>
            </a:solidFill>
            <a:prstDash val="solid"/>
          </a:ln>
        </p:spPr>
      </p:sp>
      <p:sp>
        <p:nvSpPr>
          <p:cNvPr id="21" name="Text 17"/>
          <p:cNvSpPr/>
          <p:nvPr/>
        </p:nvSpPr>
        <p:spPr>
          <a:xfrm>
            <a:off x="5297302" y="2450592"/>
            <a:ext cx="457200" cy="274320"/>
          </a:xfrm>
          <a:prstGeom prst="rect">
            <a:avLst/>
          </a:prstGeom>
          <a:noFill/>
        </p:spPr>
        <p:txBody>
          <a:bodyPr wrap="square" lIns="0" tIns="0" rIns="0" bIns="0" rtlCol="0" anchor="ctr"/>
          <a:lstStyle/>
          <a:p>
            <a:pPr marL="0" indent="0">
              <a:buNone/>
            </a:pPr>
            <a:r>
              <a:rPr lang="en-US" sz="1100" b="1" kern="0" spc="200" dirty="0">
                <a:solidFill>
                  <a:srgbClr val="0E7C7B"/>
                </a:solidFill>
                <a:latin typeface="Consolas" pitchFamily="34" charset="0"/>
                <a:ea typeface="Consolas" pitchFamily="34" charset="-122"/>
                <a:cs typeface="Consolas" pitchFamily="34" charset="-120"/>
              </a:rPr>
              <a:t>03</a:t>
            </a:r>
            <a:endParaRPr lang="en-US" sz="1100" dirty="0"/>
          </a:p>
        </p:txBody>
      </p:sp>
      <p:pic>
        <p:nvPicPr>
          <p:cNvPr id="22" name="Image 2" descr="preencoded.png"/>
          <p:cNvPicPr>
            <a:picLocks noChangeAspect="1"/>
          </p:cNvPicPr>
          <p:nvPr/>
        </p:nvPicPr>
        <p:blipFill>
          <a:blip r:embed="rId3"/>
          <a:stretch>
            <a:fillRect/>
          </a:stretch>
        </p:blipFill>
        <p:spPr>
          <a:xfrm>
            <a:off x="6418905" y="2450592"/>
            <a:ext cx="411480" cy="411480"/>
          </a:xfrm>
          <a:prstGeom prst="rect">
            <a:avLst/>
          </a:prstGeom>
        </p:spPr>
      </p:pic>
      <p:sp>
        <p:nvSpPr>
          <p:cNvPr id="23" name="Text 18"/>
          <p:cNvSpPr/>
          <p:nvPr/>
        </p:nvSpPr>
        <p:spPr>
          <a:xfrm>
            <a:off x="5315590" y="2971800"/>
            <a:ext cx="1560515" cy="640080"/>
          </a:xfrm>
          <a:prstGeom prst="rect">
            <a:avLst/>
          </a:prstGeom>
          <a:noFill/>
        </p:spPr>
        <p:txBody>
          <a:bodyPr wrap="square" lIns="0" tIns="0" rIns="0" bIns="0" rtlCol="0" anchor="ctr"/>
          <a:lstStyle/>
          <a:p>
            <a:pPr marL="0" indent="0">
              <a:lnSpc>
                <a:spcPts val="2000"/>
              </a:lnSpc>
              <a:buNone/>
            </a:pPr>
            <a:r>
              <a:rPr lang="en-US" sz="1600" b="1" dirty="0">
                <a:solidFill>
                  <a:srgbClr val="1A1A1D"/>
                </a:solidFill>
                <a:latin typeface="Georgia" panose="02040502050405090303" pitchFamily="34" charset="0"/>
                <a:ea typeface="Georgia" panose="02040502050405090303" pitchFamily="34" charset="-122"/>
                <a:cs typeface="Georgia" panose="02040502050405090303" pitchFamily="34" charset="-120"/>
              </a:rPr>
              <a:t>Onchain</a:t>
            </a:r>
            <a:endParaRPr lang="en-US" sz="1600" dirty="0"/>
          </a:p>
          <a:p>
            <a:pPr marL="0" indent="0">
              <a:lnSpc>
                <a:spcPts val="2000"/>
              </a:lnSpc>
              <a:buNone/>
            </a:pPr>
            <a:r>
              <a:rPr lang="en-US" sz="1600" b="1" dirty="0">
                <a:solidFill>
                  <a:srgbClr val="1A1A1D"/>
                </a:solidFill>
                <a:latin typeface="Georgia" panose="02040502050405090303" pitchFamily="34" charset="0"/>
                <a:ea typeface="Georgia" panose="02040502050405090303" pitchFamily="34" charset="-122"/>
                <a:cs typeface="Georgia" panose="02040502050405090303" pitchFamily="34" charset="-120"/>
              </a:rPr>
              <a:t>proof</a:t>
            </a:r>
            <a:endParaRPr lang="en-US" sz="1600" dirty="0"/>
          </a:p>
        </p:txBody>
      </p:sp>
      <p:sp>
        <p:nvSpPr>
          <p:cNvPr id="24" name="Text 19"/>
          <p:cNvSpPr/>
          <p:nvPr/>
        </p:nvSpPr>
        <p:spPr>
          <a:xfrm>
            <a:off x="5315590" y="3657600"/>
            <a:ext cx="1560515" cy="1554480"/>
          </a:xfrm>
          <a:prstGeom prst="rect">
            <a:avLst/>
          </a:prstGeom>
          <a:noFill/>
        </p:spPr>
        <p:txBody>
          <a:bodyPr wrap="square" lIns="0" tIns="0" rIns="0" bIns="0" rtlCol="0" anchor="ctr"/>
          <a:lstStyle/>
          <a:p>
            <a:pPr marL="0" indent="0">
              <a:lnSpc>
                <a:spcPts val="1800"/>
              </a:lnSpc>
              <a:buNone/>
            </a:pPr>
            <a:r>
              <a:rPr lang="en-US" sz="1100" dirty="0">
                <a:solidFill>
                  <a:srgbClr val="6B6B70"/>
                </a:solidFill>
                <a:latin typeface="Consolas" pitchFamily="34" charset="0"/>
                <a:ea typeface="Consolas" pitchFamily="34" charset="-122"/>
                <a:cs typeface="Consolas" pitchFamily="34" charset="-120"/>
              </a:rPr>
              <a:t>Metaplex cNFT</a:t>
            </a:r>
            <a:endParaRPr lang="en-US" sz="1100" dirty="0"/>
          </a:p>
          <a:p>
            <a:pPr marL="0" indent="0">
              <a:lnSpc>
                <a:spcPts val="1800"/>
              </a:lnSpc>
              <a:buNone/>
            </a:pPr>
            <a:r>
              <a:rPr lang="en-US" sz="1100" dirty="0">
                <a:solidFill>
                  <a:srgbClr val="6B6B70"/>
                </a:solidFill>
                <a:latin typeface="Consolas" pitchFamily="34" charset="0"/>
                <a:ea typeface="Consolas" pitchFamily="34" charset="-122"/>
                <a:cs typeface="Consolas" pitchFamily="34" charset="-120"/>
              </a:rPr>
              <a:t>SAS attestation</a:t>
            </a:r>
            <a:endParaRPr lang="en-US" sz="1100" dirty="0"/>
          </a:p>
          <a:p>
            <a:pPr marL="0" indent="0">
              <a:lnSpc>
                <a:spcPts val="1800"/>
              </a:lnSpc>
              <a:buNone/>
            </a:pPr>
            <a:r>
              <a:rPr lang="en-US" sz="1100" dirty="0">
                <a:solidFill>
                  <a:srgbClr val="6B6B70"/>
                </a:solidFill>
                <a:latin typeface="Consolas" pitchFamily="34" charset="0"/>
                <a:ea typeface="Consolas" pitchFamily="34" charset="-122"/>
                <a:cs typeface="Consolas" pitchFamily="34" charset="-120"/>
              </a:rPr>
              <a:t>Pyth + RedStone</a:t>
            </a:r>
            <a:endParaRPr lang="en-US" sz="1100" dirty="0"/>
          </a:p>
        </p:txBody>
      </p:sp>
      <p:sp>
        <p:nvSpPr>
          <p:cNvPr id="25" name="Text 20"/>
          <p:cNvSpPr/>
          <p:nvPr/>
        </p:nvSpPr>
        <p:spPr>
          <a:xfrm>
            <a:off x="7058985" y="3611880"/>
            <a:ext cx="320040" cy="457200"/>
          </a:xfrm>
          <a:prstGeom prst="rect">
            <a:avLst/>
          </a:prstGeom>
          <a:noFill/>
        </p:spPr>
        <p:txBody>
          <a:bodyPr wrap="square" lIns="0" tIns="0" rIns="0" bIns="0" rtlCol="0" anchor="ctr"/>
          <a:lstStyle/>
          <a:p>
            <a:pPr marL="0" indent="0" algn="ctr">
              <a:buNone/>
            </a:pPr>
            <a:r>
              <a:rPr lang="en-US" sz="1800" dirty="0">
                <a:solidFill>
                  <a:srgbClr val="0E7C7B"/>
                </a:solidFill>
                <a:latin typeface="Calibri" pitchFamily="34" charset="0"/>
                <a:ea typeface="Calibri" pitchFamily="34" charset="-122"/>
                <a:cs typeface="Calibri" pitchFamily="34" charset="-120"/>
              </a:rPr>
              <a:t>→</a:t>
            </a:r>
            <a:endParaRPr lang="en-US" sz="1800" dirty="0"/>
          </a:p>
        </p:txBody>
      </p:sp>
      <p:sp>
        <p:nvSpPr>
          <p:cNvPr id="26" name="Shape 21"/>
          <p:cNvSpPr/>
          <p:nvPr/>
        </p:nvSpPr>
        <p:spPr>
          <a:xfrm>
            <a:off x="7379025" y="2286000"/>
            <a:ext cx="1926275" cy="3108960"/>
          </a:xfrm>
          <a:prstGeom prst="rect">
            <a:avLst/>
          </a:prstGeom>
          <a:solidFill>
            <a:srgbClr val="FFFFFF"/>
          </a:solidFill>
          <a:ln w="9525">
            <a:solidFill>
              <a:srgbClr val="E5E2D8"/>
            </a:solidFill>
            <a:prstDash val="solid"/>
          </a:ln>
        </p:spPr>
      </p:sp>
      <p:sp>
        <p:nvSpPr>
          <p:cNvPr id="27" name="Text 22"/>
          <p:cNvSpPr/>
          <p:nvPr/>
        </p:nvSpPr>
        <p:spPr>
          <a:xfrm>
            <a:off x="7543617" y="2450592"/>
            <a:ext cx="457200" cy="274320"/>
          </a:xfrm>
          <a:prstGeom prst="rect">
            <a:avLst/>
          </a:prstGeom>
          <a:noFill/>
        </p:spPr>
        <p:txBody>
          <a:bodyPr wrap="square" lIns="0" tIns="0" rIns="0" bIns="0" rtlCol="0" anchor="ctr"/>
          <a:lstStyle/>
          <a:p>
            <a:pPr marL="0" indent="0">
              <a:buNone/>
            </a:pPr>
            <a:r>
              <a:rPr lang="en-US" sz="1100" b="1" kern="0" spc="200" dirty="0">
                <a:solidFill>
                  <a:srgbClr val="0E7C7B"/>
                </a:solidFill>
                <a:latin typeface="Consolas" pitchFamily="34" charset="0"/>
                <a:ea typeface="Consolas" pitchFamily="34" charset="-122"/>
                <a:cs typeface="Consolas" pitchFamily="34" charset="-120"/>
              </a:rPr>
              <a:t>04</a:t>
            </a:r>
            <a:endParaRPr lang="en-US" sz="1100" dirty="0"/>
          </a:p>
        </p:txBody>
      </p:sp>
      <p:pic>
        <p:nvPicPr>
          <p:cNvPr id="28" name="Image 3" descr="preencoded.png"/>
          <p:cNvPicPr>
            <a:picLocks noChangeAspect="1"/>
          </p:cNvPicPr>
          <p:nvPr/>
        </p:nvPicPr>
        <p:blipFill>
          <a:blip r:embed="rId4"/>
          <a:stretch>
            <a:fillRect/>
          </a:stretch>
        </p:blipFill>
        <p:spPr>
          <a:xfrm>
            <a:off x="8665220" y="2450592"/>
            <a:ext cx="411480" cy="411480"/>
          </a:xfrm>
          <a:prstGeom prst="rect">
            <a:avLst/>
          </a:prstGeom>
        </p:spPr>
      </p:pic>
      <p:sp>
        <p:nvSpPr>
          <p:cNvPr id="29" name="Text 23"/>
          <p:cNvSpPr/>
          <p:nvPr/>
        </p:nvSpPr>
        <p:spPr>
          <a:xfrm>
            <a:off x="7561905" y="2971800"/>
            <a:ext cx="1560515" cy="640080"/>
          </a:xfrm>
          <a:prstGeom prst="rect">
            <a:avLst/>
          </a:prstGeom>
          <a:noFill/>
        </p:spPr>
        <p:txBody>
          <a:bodyPr wrap="square" lIns="0" tIns="0" rIns="0" bIns="0" rtlCol="0" anchor="ctr"/>
          <a:lstStyle/>
          <a:p>
            <a:pPr marL="0" indent="0">
              <a:lnSpc>
                <a:spcPts val="2000"/>
              </a:lnSpc>
              <a:buNone/>
            </a:pPr>
            <a:r>
              <a:rPr lang="en-US" sz="1600" b="1" dirty="0">
                <a:solidFill>
                  <a:srgbClr val="1A1A1D"/>
                </a:solidFill>
                <a:latin typeface="Georgia" panose="02040502050405090303" pitchFamily="34" charset="0"/>
                <a:ea typeface="Georgia" panose="02040502050405090303" pitchFamily="34" charset="-122"/>
                <a:cs typeface="Georgia" panose="02040502050405090303" pitchFamily="34" charset="-120"/>
              </a:rPr>
              <a:t>Lending</a:t>
            </a:r>
            <a:endParaRPr lang="en-US" sz="1600" dirty="0"/>
          </a:p>
          <a:p>
            <a:pPr marL="0" indent="0">
              <a:lnSpc>
                <a:spcPts val="2000"/>
              </a:lnSpc>
              <a:buNone/>
            </a:pPr>
            <a:r>
              <a:rPr lang="en-US" sz="1600" b="1" dirty="0">
                <a:solidFill>
                  <a:srgbClr val="1A1A1D"/>
                </a:solidFill>
                <a:latin typeface="Georgia" panose="02040502050405090303" pitchFamily="34" charset="0"/>
                <a:ea typeface="Georgia" panose="02040502050405090303" pitchFamily="34" charset="-122"/>
                <a:cs typeface="Georgia" panose="02040502050405090303" pitchFamily="34" charset="-120"/>
              </a:rPr>
              <a:t>rails</a:t>
            </a:r>
            <a:endParaRPr lang="en-US" sz="1600" dirty="0"/>
          </a:p>
        </p:txBody>
      </p:sp>
      <p:sp>
        <p:nvSpPr>
          <p:cNvPr id="30" name="Text 24"/>
          <p:cNvSpPr/>
          <p:nvPr/>
        </p:nvSpPr>
        <p:spPr>
          <a:xfrm>
            <a:off x="7561905" y="3657600"/>
            <a:ext cx="1560515" cy="1554480"/>
          </a:xfrm>
          <a:prstGeom prst="rect">
            <a:avLst/>
          </a:prstGeom>
          <a:noFill/>
        </p:spPr>
        <p:txBody>
          <a:bodyPr wrap="square" lIns="0" tIns="0" rIns="0" bIns="0" rtlCol="0" anchor="ctr"/>
          <a:lstStyle/>
          <a:p>
            <a:pPr marL="0" indent="0">
              <a:lnSpc>
                <a:spcPts val="1800"/>
              </a:lnSpc>
              <a:buNone/>
            </a:pPr>
            <a:r>
              <a:rPr lang="en-US" sz="1100" dirty="0">
                <a:solidFill>
                  <a:srgbClr val="6B6B70"/>
                </a:solidFill>
                <a:latin typeface="Consolas" pitchFamily="34" charset="0"/>
                <a:ea typeface="Consolas" pitchFamily="34" charset="-122"/>
                <a:cs typeface="Consolas" pitchFamily="34" charset="-120"/>
              </a:rPr>
              <a:t>vault · loan · auction</a:t>
            </a:r>
            <a:endParaRPr lang="en-US" sz="1100" dirty="0"/>
          </a:p>
          <a:p>
            <a:pPr marL="0" indent="0">
              <a:lnSpc>
                <a:spcPts val="1800"/>
              </a:lnSpc>
              <a:buNone/>
            </a:pPr>
            <a:r>
              <a:rPr lang="en-US" sz="1100" dirty="0">
                <a:solidFill>
                  <a:srgbClr val="6B6B70"/>
                </a:solidFill>
                <a:latin typeface="Consolas" pitchFamily="34" charset="0"/>
                <a:ea typeface="Consolas" pitchFamily="34" charset="-122"/>
                <a:cs typeface="Consolas" pitchFamily="34" charset="-120"/>
              </a:rPr>
              <a:t>Kamino · Loopscale</a:t>
            </a:r>
            <a:endParaRPr lang="en-US" sz="1100" dirty="0"/>
          </a:p>
          <a:p>
            <a:pPr marL="0" indent="0">
              <a:lnSpc>
                <a:spcPts val="1800"/>
              </a:lnSpc>
              <a:buNone/>
            </a:pPr>
            <a:r>
              <a:rPr lang="en-US" sz="1100" dirty="0">
                <a:solidFill>
                  <a:srgbClr val="6B6B70"/>
                </a:solidFill>
                <a:latin typeface="Consolas" pitchFamily="34" charset="0"/>
                <a:ea typeface="Consolas" pitchFamily="34" charset="-122"/>
                <a:cs typeface="Consolas" pitchFamily="34" charset="-120"/>
              </a:rPr>
              <a:t>curated USDC liquidity</a:t>
            </a:r>
            <a:endParaRPr lang="en-US" sz="1100" dirty="0"/>
          </a:p>
        </p:txBody>
      </p:sp>
      <p:sp>
        <p:nvSpPr>
          <p:cNvPr id="31" name="Text 25"/>
          <p:cNvSpPr/>
          <p:nvPr/>
        </p:nvSpPr>
        <p:spPr>
          <a:xfrm>
            <a:off x="9305300" y="3611880"/>
            <a:ext cx="320040" cy="457200"/>
          </a:xfrm>
          <a:prstGeom prst="rect">
            <a:avLst/>
          </a:prstGeom>
          <a:noFill/>
        </p:spPr>
        <p:txBody>
          <a:bodyPr wrap="square" lIns="0" tIns="0" rIns="0" bIns="0" rtlCol="0" anchor="ctr"/>
          <a:lstStyle/>
          <a:p>
            <a:pPr marL="0" indent="0" algn="ctr">
              <a:buNone/>
            </a:pPr>
            <a:r>
              <a:rPr lang="en-US" sz="1800" dirty="0">
                <a:solidFill>
                  <a:srgbClr val="0E7C7B"/>
                </a:solidFill>
                <a:latin typeface="Calibri" pitchFamily="34" charset="0"/>
                <a:ea typeface="Calibri" pitchFamily="34" charset="-122"/>
                <a:cs typeface="Calibri" pitchFamily="34" charset="-120"/>
              </a:rPr>
              <a:t>→</a:t>
            </a:r>
            <a:endParaRPr lang="en-US" sz="1800" dirty="0"/>
          </a:p>
        </p:txBody>
      </p:sp>
      <p:sp>
        <p:nvSpPr>
          <p:cNvPr id="32" name="Shape 26"/>
          <p:cNvSpPr/>
          <p:nvPr/>
        </p:nvSpPr>
        <p:spPr>
          <a:xfrm>
            <a:off x="9625340" y="2286000"/>
            <a:ext cx="1926275" cy="3108960"/>
          </a:xfrm>
          <a:prstGeom prst="rect">
            <a:avLst/>
          </a:prstGeom>
          <a:solidFill>
            <a:srgbClr val="FFFFFF"/>
          </a:solidFill>
          <a:ln w="9525">
            <a:solidFill>
              <a:srgbClr val="E5E2D8"/>
            </a:solidFill>
            <a:prstDash val="solid"/>
          </a:ln>
        </p:spPr>
      </p:sp>
      <p:sp>
        <p:nvSpPr>
          <p:cNvPr id="33" name="Text 27"/>
          <p:cNvSpPr/>
          <p:nvPr/>
        </p:nvSpPr>
        <p:spPr>
          <a:xfrm>
            <a:off x="9789932" y="2450592"/>
            <a:ext cx="457200" cy="274320"/>
          </a:xfrm>
          <a:prstGeom prst="rect">
            <a:avLst/>
          </a:prstGeom>
          <a:noFill/>
        </p:spPr>
        <p:txBody>
          <a:bodyPr wrap="square" lIns="0" tIns="0" rIns="0" bIns="0" rtlCol="0" anchor="ctr"/>
          <a:lstStyle/>
          <a:p>
            <a:pPr marL="0" indent="0">
              <a:buNone/>
            </a:pPr>
            <a:r>
              <a:rPr lang="en-US" sz="1100" b="1" kern="0" spc="200" dirty="0">
                <a:solidFill>
                  <a:srgbClr val="0E7C7B"/>
                </a:solidFill>
                <a:latin typeface="Consolas" pitchFamily="34" charset="0"/>
                <a:ea typeface="Consolas" pitchFamily="34" charset="-122"/>
                <a:cs typeface="Consolas" pitchFamily="34" charset="-120"/>
              </a:rPr>
              <a:t>05</a:t>
            </a:r>
            <a:endParaRPr lang="en-US" sz="1100" dirty="0"/>
          </a:p>
        </p:txBody>
      </p:sp>
      <p:pic>
        <p:nvPicPr>
          <p:cNvPr id="34" name="Image 4" descr="preencoded.png"/>
          <p:cNvPicPr>
            <a:picLocks noChangeAspect="1"/>
          </p:cNvPicPr>
          <p:nvPr/>
        </p:nvPicPr>
        <p:blipFill>
          <a:blip r:embed="rId5"/>
          <a:stretch>
            <a:fillRect/>
          </a:stretch>
        </p:blipFill>
        <p:spPr>
          <a:xfrm>
            <a:off x="10911535" y="2450592"/>
            <a:ext cx="411480" cy="411480"/>
          </a:xfrm>
          <a:prstGeom prst="rect">
            <a:avLst/>
          </a:prstGeom>
        </p:spPr>
      </p:pic>
      <p:sp>
        <p:nvSpPr>
          <p:cNvPr id="35" name="Text 28"/>
          <p:cNvSpPr/>
          <p:nvPr/>
        </p:nvSpPr>
        <p:spPr>
          <a:xfrm>
            <a:off x="9808220" y="2971800"/>
            <a:ext cx="1560515" cy="640080"/>
          </a:xfrm>
          <a:prstGeom prst="rect">
            <a:avLst/>
          </a:prstGeom>
          <a:noFill/>
        </p:spPr>
        <p:txBody>
          <a:bodyPr wrap="square" lIns="0" tIns="0" rIns="0" bIns="0" rtlCol="0" anchor="ctr"/>
          <a:lstStyle/>
          <a:p>
            <a:pPr marL="0" indent="0">
              <a:lnSpc>
                <a:spcPts val="2000"/>
              </a:lnSpc>
              <a:buNone/>
            </a:pPr>
            <a:r>
              <a:rPr lang="en-US" sz="1600" b="1" dirty="0">
                <a:solidFill>
                  <a:srgbClr val="1A1A1D"/>
                </a:solidFill>
                <a:latin typeface="Georgia" panose="02040502050405090303" pitchFamily="34" charset="0"/>
                <a:ea typeface="Georgia" panose="02040502050405090303" pitchFamily="34" charset="-122"/>
                <a:cs typeface="Georgia" panose="02040502050405090303" pitchFamily="34" charset="-120"/>
              </a:rPr>
              <a:t>Outcome</a:t>
            </a:r>
            <a:endParaRPr lang="en-US" sz="1600" dirty="0"/>
          </a:p>
        </p:txBody>
      </p:sp>
      <p:sp>
        <p:nvSpPr>
          <p:cNvPr id="36" name="Text 29"/>
          <p:cNvSpPr/>
          <p:nvPr/>
        </p:nvSpPr>
        <p:spPr>
          <a:xfrm>
            <a:off x="9808220" y="3657600"/>
            <a:ext cx="1560515" cy="1554480"/>
          </a:xfrm>
          <a:prstGeom prst="rect">
            <a:avLst/>
          </a:prstGeom>
          <a:noFill/>
        </p:spPr>
        <p:txBody>
          <a:bodyPr wrap="square" lIns="0" tIns="0" rIns="0" bIns="0" rtlCol="0" anchor="ctr"/>
          <a:lstStyle/>
          <a:p>
            <a:pPr marL="0" indent="0">
              <a:lnSpc>
                <a:spcPts val="1800"/>
              </a:lnSpc>
              <a:buNone/>
            </a:pPr>
            <a:r>
              <a:rPr lang="en-US" sz="1100" dirty="0">
                <a:solidFill>
                  <a:srgbClr val="6B6B70"/>
                </a:solidFill>
                <a:latin typeface="Consolas" pitchFamily="34" charset="0"/>
                <a:ea typeface="Consolas" pitchFamily="34" charset="-122"/>
                <a:cs typeface="Consolas" pitchFamily="34" charset="-120"/>
              </a:rPr>
              <a:t>instant USDC</a:t>
            </a:r>
            <a:endParaRPr lang="en-US" sz="1100" dirty="0"/>
          </a:p>
          <a:p>
            <a:pPr marL="0" indent="0">
              <a:lnSpc>
                <a:spcPts val="1800"/>
              </a:lnSpc>
              <a:buNone/>
            </a:pPr>
            <a:r>
              <a:rPr lang="en-US" sz="1100" dirty="0">
                <a:solidFill>
                  <a:srgbClr val="6B6B70"/>
                </a:solidFill>
                <a:latin typeface="Consolas" pitchFamily="34" charset="0"/>
                <a:ea typeface="Consolas" pitchFamily="34" charset="-122"/>
                <a:cs typeface="Consolas" pitchFamily="34" charset="-120"/>
              </a:rPr>
              <a:t>or 14-day Dutch</a:t>
            </a:r>
            <a:endParaRPr lang="en-US" sz="1100" dirty="0"/>
          </a:p>
          <a:p>
            <a:pPr marL="0" indent="0">
              <a:lnSpc>
                <a:spcPts val="1800"/>
              </a:lnSpc>
              <a:buNone/>
            </a:pPr>
            <a:r>
              <a:rPr lang="en-US" sz="1100" dirty="0">
                <a:solidFill>
                  <a:srgbClr val="6B6B70"/>
                </a:solidFill>
                <a:latin typeface="Consolas" pitchFamily="34" charset="0"/>
                <a:ea typeface="Consolas" pitchFamily="34" charset="-122"/>
                <a:cs typeface="Consolas" pitchFamily="34" charset="-120"/>
              </a:rPr>
              <a:t>default recovery</a:t>
            </a:r>
            <a:endParaRPr lang="en-US" sz="1100" dirty="0"/>
          </a:p>
        </p:txBody>
      </p:sp>
      <p:sp>
        <p:nvSpPr>
          <p:cNvPr id="37" name="Shape 30"/>
          <p:cNvSpPr/>
          <p:nvPr/>
        </p:nvSpPr>
        <p:spPr>
          <a:xfrm>
            <a:off x="640080" y="5577840"/>
            <a:ext cx="10911535" cy="594360"/>
          </a:xfrm>
          <a:prstGeom prst="rect">
            <a:avLst/>
          </a:prstGeom>
          <a:solidFill>
            <a:srgbClr val="0A0A0B"/>
          </a:solidFill>
          <a:ln w="12700">
            <a:solidFill>
              <a:srgbClr val="0A0A0B"/>
            </a:solidFill>
            <a:prstDash val="solid"/>
          </a:ln>
        </p:spPr>
      </p:sp>
      <p:sp>
        <p:nvSpPr>
          <p:cNvPr id="38" name="Shape 31"/>
          <p:cNvSpPr/>
          <p:nvPr/>
        </p:nvSpPr>
        <p:spPr>
          <a:xfrm>
            <a:off x="640080" y="5577840"/>
            <a:ext cx="73152" cy="594360"/>
          </a:xfrm>
          <a:prstGeom prst="rect">
            <a:avLst/>
          </a:prstGeom>
          <a:solidFill>
            <a:srgbClr val="0E7C7B"/>
          </a:solidFill>
          <a:ln w="12700">
            <a:solidFill>
              <a:srgbClr val="0E7C7B"/>
            </a:solidFill>
            <a:prstDash val="solid"/>
          </a:ln>
        </p:spPr>
      </p:sp>
      <p:sp>
        <p:nvSpPr>
          <p:cNvPr id="39" name="Text 32"/>
          <p:cNvSpPr/>
          <p:nvPr/>
        </p:nvSpPr>
        <p:spPr>
          <a:xfrm>
            <a:off x="914400" y="5577840"/>
            <a:ext cx="10362895" cy="594360"/>
          </a:xfrm>
          <a:prstGeom prst="rect">
            <a:avLst/>
          </a:prstGeom>
          <a:noFill/>
        </p:spPr>
        <p:txBody>
          <a:bodyPr wrap="square" lIns="0" tIns="0" rIns="0" bIns="0" rtlCol="0" anchor="ctr"/>
          <a:lstStyle/>
          <a:p>
            <a:pPr marL="0" indent="0">
              <a:buNone/>
            </a:pPr>
            <a:r>
              <a:rPr lang="en-US" sz="1400" b="1" i="1" kern="0" spc="400" dirty="0">
                <a:solidFill>
                  <a:srgbClr val="0E7C7B"/>
                </a:solidFill>
                <a:latin typeface="Georgia" panose="02040502050405090303" pitchFamily="34" charset="0"/>
                <a:ea typeface="Georgia" panose="02040502050405090303" pitchFamily="34" charset="-122"/>
                <a:cs typeface="Georgia" panose="02040502050405090303" pitchFamily="34" charset="-120"/>
              </a:rPr>
              <a:t>INVARIANT  ·  </a:t>
            </a:r>
            <a:r>
              <a:rPr lang="en-US" sz="1400" i="1" dirty="0">
                <a:solidFill>
                  <a:srgbClr val="F5F0E8"/>
                </a:solidFill>
                <a:latin typeface="Georgia" panose="02040502050405090303" pitchFamily="34" charset="0"/>
                <a:ea typeface="Georgia" panose="02040502050405090303" pitchFamily="34" charset="-122"/>
                <a:cs typeface="Georgia" panose="02040502050405090303" pitchFamily="34" charset="-120"/>
              </a:rPr>
              <a:t>no USDC is released until the licensed custodian confirms physical custody onchain.</a:t>
            </a:r>
            <a:endParaRPr lang="en-US" sz="1400" dirty="0"/>
          </a:p>
        </p:txBody>
      </p:sp>
      <p:sp>
        <p:nvSpPr>
          <p:cNvPr id="40" name="Text 33"/>
          <p:cNvSpPr/>
          <p:nvPr/>
        </p:nvSpPr>
        <p:spPr>
          <a:xfrm>
            <a:off x="731520" y="6355080"/>
            <a:ext cx="457200" cy="274320"/>
          </a:xfrm>
          <a:prstGeom prst="rect">
            <a:avLst/>
          </a:prstGeom>
          <a:noFill/>
        </p:spPr>
        <p:txBody>
          <a:bodyPr wrap="square" lIns="0" tIns="0" rIns="0" bIns="0" rtlCol="0" anchor="ctr"/>
          <a:lstStyle/>
          <a:p>
            <a:pPr marL="0" indent="0">
              <a:buNone/>
            </a:pPr>
            <a:r>
              <a:rPr lang="en-US" sz="1000" b="1" kern="0" spc="300" dirty="0">
                <a:solidFill>
                  <a:srgbClr val="0E7C7B"/>
                </a:solidFill>
                <a:latin typeface="Consolas" pitchFamily="34" charset="0"/>
                <a:ea typeface="Consolas" pitchFamily="34" charset="-122"/>
                <a:cs typeface="Consolas" pitchFamily="34" charset="-120"/>
              </a:rPr>
              <a:t>01</a:t>
            </a:r>
            <a:endParaRPr lang="en-US" sz="1000" dirty="0"/>
          </a:p>
        </p:txBody>
      </p:sp>
      <p:sp>
        <p:nvSpPr>
          <p:cNvPr id="41" name="Text 34"/>
          <p:cNvSpPr/>
          <p:nvPr/>
        </p:nvSpPr>
        <p:spPr>
          <a:xfrm>
            <a:off x="1188720" y="6355080"/>
            <a:ext cx="2997098" cy="274320"/>
          </a:xfrm>
          <a:prstGeom prst="rect">
            <a:avLst/>
          </a:prstGeom>
          <a:noFill/>
        </p:spPr>
        <p:txBody>
          <a:bodyPr wrap="square" lIns="0" tIns="0" rIns="0" bIns="0" rtlCol="0" anchor="ctr"/>
          <a:lstStyle/>
          <a:p>
            <a:pPr marL="0" indent="0">
              <a:buNone/>
            </a:pPr>
            <a:r>
              <a:rPr lang="en-US" sz="1100" dirty="0">
                <a:solidFill>
                  <a:srgbClr val="1A1A1D"/>
                </a:solidFill>
                <a:latin typeface="Calibri" pitchFamily="34" charset="0"/>
                <a:ea typeface="Calibri" pitchFamily="34" charset="-122"/>
                <a:cs typeface="Calibri" pitchFamily="34" charset="-120"/>
              </a:rPr>
              <a:t>Global modules ship once</a:t>
            </a:r>
            <a:endParaRPr lang="en-US" sz="1100" dirty="0"/>
          </a:p>
        </p:txBody>
      </p:sp>
      <p:sp>
        <p:nvSpPr>
          <p:cNvPr id="42" name="Text 35"/>
          <p:cNvSpPr/>
          <p:nvPr/>
        </p:nvSpPr>
        <p:spPr>
          <a:xfrm>
            <a:off x="4368698" y="6355080"/>
            <a:ext cx="457200" cy="274320"/>
          </a:xfrm>
          <a:prstGeom prst="rect">
            <a:avLst/>
          </a:prstGeom>
          <a:noFill/>
        </p:spPr>
        <p:txBody>
          <a:bodyPr wrap="square" lIns="0" tIns="0" rIns="0" bIns="0" rtlCol="0" anchor="ctr"/>
          <a:lstStyle/>
          <a:p>
            <a:pPr marL="0" indent="0">
              <a:buNone/>
            </a:pPr>
            <a:r>
              <a:rPr lang="en-US" sz="1000" b="1" kern="0" spc="300" dirty="0">
                <a:solidFill>
                  <a:srgbClr val="0E7C7B"/>
                </a:solidFill>
                <a:latin typeface="Consolas" pitchFamily="34" charset="0"/>
                <a:ea typeface="Consolas" pitchFamily="34" charset="-122"/>
                <a:cs typeface="Consolas" pitchFamily="34" charset="-120"/>
              </a:rPr>
              <a:t>02</a:t>
            </a:r>
            <a:endParaRPr lang="en-US" sz="1000" dirty="0"/>
          </a:p>
        </p:txBody>
      </p:sp>
      <p:sp>
        <p:nvSpPr>
          <p:cNvPr id="43" name="Text 36"/>
          <p:cNvSpPr/>
          <p:nvPr/>
        </p:nvSpPr>
        <p:spPr>
          <a:xfrm>
            <a:off x="4825898" y="6355080"/>
            <a:ext cx="2997098" cy="274320"/>
          </a:xfrm>
          <a:prstGeom prst="rect">
            <a:avLst/>
          </a:prstGeom>
          <a:noFill/>
        </p:spPr>
        <p:txBody>
          <a:bodyPr wrap="square" lIns="0" tIns="0" rIns="0" bIns="0" rtlCol="0" anchor="ctr"/>
          <a:lstStyle/>
          <a:p>
            <a:pPr marL="0" indent="0">
              <a:buNone/>
            </a:pPr>
            <a:r>
              <a:rPr lang="en-US" sz="1100" dirty="0">
                <a:solidFill>
                  <a:srgbClr val="1A1A1D"/>
                </a:solidFill>
                <a:latin typeface="Calibri" pitchFamily="34" charset="0"/>
                <a:ea typeface="Calibri" pitchFamily="34" charset="-122"/>
                <a:cs typeface="Calibri" pitchFamily="34" charset="-120"/>
              </a:rPr>
              <a:t>Local modules swap per market</a:t>
            </a:r>
            <a:endParaRPr lang="en-US" sz="1100" dirty="0"/>
          </a:p>
        </p:txBody>
      </p:sp>
      <p:sp>
        <p:nvSpPr>
          <p:cNvPr id="44" name="Text 37"/>
          <p:cNvSpPr/>
          <p:nvPr/>
        </p:nvSpPr>
        <p:spPr>
          <a:xfrm>
            <a:off x="8005877" y="6355080"/>
            <a:ext cx="457200" cy="274320"/>
          </a:xfrm>
          <a:prstGeom prst="rect">
            <a:avLst/>
          </a:prstGeom>
          <a:noFill/>
        </p:spPr>
        <p:txBody>
          <a:bodyPr wrap="square" lIns="0" tIns="0" rIns="0" bIns="0" rtlCol="0" anchor="ctr"/>
          <a:lstStyle/>
          <a:p>
            <a:pPr marL="0" indent="0">
              <a:buNone/>
            </a:pPr>
            <a:r>
              <a:rPr lang="en-US" sz="1000" b="1" kern="0" spc="300" dirty="0">
                <a:solidFill>
                  <a:srgbClr val="0E7C7B"/>
                </a:solidFill>
                <a:latin typeface="Consolas" pitchFamily="34" charset="0"/>
                <a:ea typeface="Consolas" pitchFamily="34" charset="-122"/>
                <a:cs typeface="Consolas" pitchFamily="34" charset="-120"/>
              </a:rPr>
              <a:t>03</a:t>
            </a:r>
            <a:endParaRPr lang="en-US" sz="1000" dirty="0"/>
          </a:p>
        </p:txBody>
      </p:sp>
      <p:sp>
        <p:nvSpPr>
          <p:cNvPr id="45" name="Text 38"/>
          <p:cNvSpPr/>
          <p:nvPr/>
        </p:nvSpPr>
        <p:spPr>
          <a:xfrm>
            <a:off x="8463077" y="6355080"/>
            <a:ext cx="2997098" cy="274320"/>
          </a:xfrm>
          <a:prstGeom prst="rect">
            <a:avLst/>
          </a:prstGeom>
          <a:noFill/>
        </p:spPr>
        <p:txBody>
          <a:bodyPr wrap="square" lIns="0" tIns="0" rIns="0" bIns="0" rtlCol="0" anchor="ctr"/>
          <a:lstStyle/>
          <a:p>
            <a:pPr marL="0" indent="0">
              <a:buNone/>
            </a:pPr>
            <a:r>
              <a:rPr lang="en-US" sz="1100" dirty="0">
                <a:solidFill>
                  <a:srgbClr val="1A1A1D"/>
                </a:solidFill>
                <a:latin typeface="Calibri" pitchFamily="34" charset="0"/>
                <a:ea typeface="Calibri" pitchFamily="34" charset="-122"/>
                <a:cs typeface="Calibri" pitchFamily="34" charset="-120"/>
              </a:rPr>
              <a:t>Vaulx posts 5% first-loss POL on every loan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640080" y="530352"/>
            <a:ext cx="109728" cy="22860"/>
          </a:xfrm>
          <a:prstGeom prst="rect">
            <a:avLst/>
          </a:prstGeom>
          <a:solidFill>
            <a:srgbClr val="0E7C7B"/>
          </a:solidFill>
          <a:ln w="12700">
            <a:solidFill>
              <a:srgbClr val="0E7C7B"/>
            </a:solidFill>
            <a:prstDash val="solid"/>
          </a:ln>
        </p:spPr>
      </p:sp>
      <p:sp>
        <p:nvSpPr>
          <p:cNvPr id="3" name="Text 1"/>
          <p:cNvSpPr/>
          <p:nvPr/>
        </p:nvSpPr>
        <p:spPr>
          <a:xfrm>
            <a:off x="804672" y="457200"/>
            <a:ext cx="5321808" cy="228600"/>
          </a:xfrm>
          <a:prstGeom prst="rect">
            <a:avLst/>
          </a:prstGeom>
          <a:noFill/>
        </p:spPr>
        <p:txBody>
          <a:bodyPr wrap="square" lIns="0" tIns="0" rIns="0" bIns="0" rtlCol="0" anchor="ctr"/>
          <a:lstStyle/>
          <a:p>
            <a:pPr marL="0" indent="0">
              <a:buNone/>
            </a:pPr>
            <a:r>
              <a:rPr lang="en-US" sz="950" b="1" kern="0" spc="400" dirty="0">
                <a:solidFill>
                  <a:srgbClr val="0E7C7B"/>
                </a:solidFill>
                <a:latin typeface="Consolas" pitchFamily="34" charset="0"/>
                <a:ea typeface="Consolas" pitchFamily="34" charset="-122"/>
                <a:cs typeface="Consolas" pitchFamily="34" charset="-120"/>
              </a:rPr>
              <a:t>04  /  CYCLE ECONOMICS</a:t>
            </a:r>
            <a:endParaRPr lang="en-US" sz="950" dirty="0"/>
          </a:p>
        </p:txBody>
      </p:sp>
      <p:sp>
        <p:nvSpPr>
          <p:cNvPr id="4" name="Text 2"/>
          <p:cNvSpPr/>
          <p:nvPr/>
        </p:nvSpPr>
        <p:spPr>
          <a:xfrm>
            <a:off x="10911535" y="274320"/>
            <a:ext cx="914400" cy="228600"/>
          </a:xfrm>
          <a:prstGeom prst="rect">
            <a:avLst/>
          </a:prstGeom>
          <a:noFill/>
        </p:spPr>
        <p:txBody>
          <a:bodyPr wrap="square" lIns="0" tIns="0" rIns="0" bIns="0" rtlCol="0" anchor="ctr"/>
          <a:lstStyle/>
          <a:p>
            <a:pPr marL="0" indent="0" algn="r">
              <a:buNone/>
            </a:pPr>
            <a:r>
              <a:rPr lang="en-US" sz="900" kern="0" spc="300" dirty="0">
                <a:solidFill>
                  <a:srgbClr val="6B6B70"/>
                </a:solidFill>
                <a:latin typeface="Consolas" pitchFamily="34" charset="0"/>
                <a:ea typeface="Consolas" pitchFamily="34" charset="-122"/>
                <a:cs typeface="Consolas" pitchFamily="34" charset="-120"/>
              </a:rPr>
              <a:t>04 / 09</a:t>
            </a:r>
            <a:endParaRPr lang="en-US" sz="900" dirty="0"/>
          </a:p>
        </p:txBody>
      </p:sp>
      <p:sp>
        <p:nvSpPr>
          <p:cNvPr id="5" name="Text 3"/>
          <p:cNvSpPr/>
          <p:nvPr/>
        </p:nvSpPr>
        <p:spPr>
          <a:xfrm>
            <a:off x="640080" y="777240"/>
            <a:ext cx="10911535" cy="777240"/>
          </a:xfrm>
          <a:prstGeom prst="rect">
            <a:avLst/>
          </a:prstGeom>
          <a:noFill/>
        </p:spPr>
        <p:txBody>
          <a:bodyPr wrap="square" lIns="0" tIns="0" rIns="0" bIns="0" rtlCol="0" anchor="ctr"/>
          <a:lstStyle/>
          <a:p>
            <a:pPr marL="0" indent="0">
              <a:buNone/>
            </a:pPr>
            <a:r>
              <a:rPr lang="en-US" sz="3000" b="1" dirty="0">
                <a:solidFill>
                  <a:srgbClr val="1A1A1D"/>
                </a:solidFill>
                <a:latin typeface="Georgia" panose="02040502050405090303" pitchFamily="34" charset="0"/>
                <a:ea typeface="Georgia" panose="02040502050405090303" pitchFamily="34" charset="-122"/>
                <a:cs typeface="Georgia" panose="02040502050405090303" pitchFamily="34" charset="-120"/>
              </a:rPr>
              <a:t>Cheaper than formal credit. More capital per asset.</a:t>
            </a:r>
            <a:endParaRPr lang="en-US" sz="3000" dirty="0"/>
          </a:p>
        </p:txBody>
      </p:sp>
      <p:sp>
        <p:nvSpPr>
          <p:cNvPr id="6" name="Text 4"/>
          <p:cNvSpPr/>
          <p:nvPr/>
        </p:nvSpPr>
        <p:spPr>
          <a:xfrm>
            <a:off x="640080" y="1554480"/>
            <a:ext cx="10911535" cy="365760"/>
          </a:xfrm>
          <a:prstGeom prst="rect">
            <a:avLst/>
          </a:prstGeom>
          <a:noFill/>
        </p:spPr>
        <p:txBody>
          <a:bodyPr wrap="square" lIns="0" tIns="0" rIns="0" bIns="0" rtlCol="0" anchor="ctr"/>
          <a:lstStyle/>
          <a:p>
            <a:pPr marL="0" indent="0">
              <a:buNone/>
            </a:pPr>
            <a:r>
              <a:rPr lang="en-US" sz="1300" dirty="0">
                <a:solidFill>
                  <a:srgbClr val="6B6B70"/>
                </a:solidFill>
                <a:latin typeface="Calibri" pitchFamily="34" charset="0"/>
                <a:ea typeface="Calibri" pitchFamily="34" charset="-122"/>
                <a:cs typeface="Calibri" pitchFamily="34" charset="-120"/>
              </a:rPr>
              <a:t>At 24% APR and 50% LTV, Vaulx undercuts the cheapest formal option in Brazil and lends far more per watch.</a:t>
            </a:r>
            <a:endParaRPr lang="en-US" sz="1300" dirty="0"/>
          </a:p>
        </p:txBody>
      </p:sp>
      <p:sp>
        <p:nvSpPr>
          <p:cNvPr id="7" name="Shape 5"/>
          <p:cNvSpPr/>
          <p:nvPr/>
        </p:nvSpPr>
        <p:spPr>
          <a:xfrm>
            <a:off x="640080" y="1993392"/>
            <a:ext cx="914400" cy="0"/>
          </a:xfrm>
          <a:prstGeom prst="line">
            <a:avLst/>
          </a:prstGeom>
          <a:noFill/>
          <a:ln w="15240">
            <a:solidFill>
              <a:srgbClr val="C9A86A"/>
            </a:solidFill>
            <a:prstDash val="solid"/>
          </a:ln>
        </p:spPr>
      </p:sp>
      <p:graphicFrame>
        <p:nvGraphicFramePr>
          <p:cNvPr id="8" name="Table 0"/>
          <p:cNvGraphicFramePr>
            <a:graphicFrameLocks noGrp="1"/>
          </p:cNvGraphicFramePr>
          <p:nvPr/>
        </p:nvGraphicFramePr>
        <p:xfrm>
          <a:off x="640080" y="2240280"/>
          <a:ext cx="10911535" cy="2103120"/>
        </p:xfrm>
        <a:graphic>
          <a:graphicData uri="http://schemas.openxmlformats.org/drawingml/2006/table">
            <a:tbl>
              <a:tblPr/>
              <a:tblGrid>
                <a:gridCol w="2743200"/>
                <a:gridCol w="1280160"/>
                <a:gridCol w="1463040"/>
                <a:gridCol w="2743200"/>
                <a:gridCol w="2681935"/>
              </a:tblGrid>
              <a:tr h="420624">
                <a:tc>
                  <a:txBody>
                    <a:bodyPr/>
                    <a:lstStyle/>
                    <a:p>
                      <a:pPr marL="0" indent="0" algn="l">
                        <a:buNone/>
                      </a:pPr>
                      <a:r>
                        <a:rPr lang="en-US" sz="1100" b="1" kern="0" spc="300" dirty="0">
                          <a:solidFill>
                            <a:srgbClr val="0E7C7B"/>
                          </a:solidFill>
                          <a:latin typeface="Consolas" pitchFamily="34" charset="0"/>
                          <a:ea typeface="Consolas" pitchFamily="34" charset="-122"/>
                          <a:cs typeface="Consolas" pitchFamily="34" charset="-120"/>
                        </a:rPr>
                        <a:t>Option</a:t>
                      </a:r>
                      <a:endParaRPr lang="en-US" sz="1100" dirty="0">
                        <a:latin typeface="Consolas" pitchFamily="34" charset="0"/>
                        <a:ea typeface="Consolas" pitchFamily="34" charset="0"/>
                        <a:cs typeface="Consolas" pitchFamily="34" charset="0"/>
                      </a:endParaRPr>
                    </a:p>
                  </a:txBody>
                  <a:tcPr marL="164592" marR="164592" marT="91440" marB="91440"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ctr">
                        <a:buNone/>
                      </a:pPr>
                      <a:r>
                        <a:rPr lang="en-US" sz="1100" b="1" kern="0" spc="300" dirty="0">
                          <a:solidFill>
                            <a:srgbClr val="0E7C7B"/>
                          </a:solidFill>
                          <a:latin typeface="Consolas" pitchFamily="34" charset="0"/>
                          <a:ea typeface="Consolas" pitchFamily="34" charset="-122"/>
                          <a:cs typeface="Consolas" pitchFamily="34" charset="-120"/>
                        </a:rPr>
                        <a:t>APR</a:t>
                      </a:r>
                      <a:endParaRPr lang="en-US" sz="1100" dirty="0">
                        <a:latin typeface="Consolas" pitchFamily="34" charset="0"/>
                        <a:ea typeface="Consolas" pitchFamily="34" charset="0"/>
                        <a:cs typeface="Consolas" pitchFamily="34" charset="0"/>
                      </a:endParaRPr>
                    </a:p>
                  </a:txBody>
                  <a:tcPr marL="164592" marR="164592" marT="91440" marB="91440"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ctr">
                        <a:buNone/>
                      </a:pPr>
                      <a:r>
                        <a:rPr lang="en-US" sz="1100" b="1" kern="0" spc="300" dirty="0">
                          <a:solidFill>
                            <a:srgbClr val="0E7C7B"/>
                          </a:solidFill>
                          <a:latin typeface="Consolas" pitchFamily="34" charset="0"/>
                          <a:ea typeface="Consolas" pitchFamily="34" charset="-122"/>
                          <a:cs typeface="Consolas" pitchFamily="34" charset="-120"/>
                        </a:rPr>
                        <a:t>LTV</a:t>
                      </a:r>
                      <a:endParaRPr lang="en-US" sz="1100" dirty="0">
                        <a:latin typeface="Consolas" pitchFamily="34" charset="0"/>
                        <a:ea typeface="Consolas" pitchFamily="34" charset="0"/>
                        <a:cs typeface="Consolas" pitchFamily="34" charset="0"/>
                      </a:endParaRPr>
                    </a:p>
                  </a:txBody>
                  <a:tcPr marL="164592" marR="164592" marT="91440" marB="91440"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ctr">
                        <a:buNone/>
                      </a:pPr>
                      <a:r>
                        <a:rPr lang="en-US" sz="1100" b="1" kern="0" spc="300" dirty="0">
                          <a:solidFill>
                            <a:srgbClr val="0E7C7B"/>
                          </a:solidFill>
                          <a:latin typeface="Consolas" pitchFamily="34" charset="0"/>
                          <a:ea typeface="Consolas" pitchFamily="34" charset="-122"/>
                          <a:cs typeface="Consolas" pitchFamily="34" charset="-120"/>
                        </a:rPr>
                        <a:t>$ from $14k Rolex</a:t>
                      </a:r>
                      <a:endParaRPr lang="en-US" sz="1100" dirty="0">
                        <a:latin typeface="Consolas" pitchFamily="34" charset="0"/>
                        <a:ea typeface="Consolas" pitchFamily="34" charset="0"/>
                        <a:cs typeface="Consolas" pitchFamily="34" charset="0"/>
                      </a:endParaRPr>
                    </a:p>
                  </a:txBody>
                  <a:tcPr marL="164592" marR="164592" marT="91440" marB="91440"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ctr">
                        <a:buNone/>
                      </a:pPr>
                      <a:r>
                        <a:rPr lang="en-US" sz="1100" b="1" kern="0" spc="300" dirty="0">
                          <a:solidFill>
                            <a:srgbClr val="0E7C7B"/>
                          </a:solidFill>
                          <a:latin typeface="Consolas" pitchFamily="34" charset="0"/>
                          <a:ea typeface="Consolas" pitchFamily="34" charset="-122"/>
                          <a:cs typeface="Consolas" pitchFamily="34" charset="-120"/>
                        </a:rPr>
                        <a:t>12-mo cost</a:t>
                      </a:r>
                      <a:endParaRPr lang="en-US" sz="1100" dirty="0">
                        <a:latin typeface="Consolas" pitchFamily="34" charset="0"/>
                        <a:ea typeface="Consolas" pitchFamily="34" charset="0"/>
                        <a:cs typeface="Consolas" pitchFamily="34" charset="0"/>
                      </a:endParaRPr>
                    </a:p>
                  </a:txBody>
                  <a:tcPr marL="164592" marR="164592" marT="91440" marB="91440"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r>
              <a:tr h="420624">
                <a:tc>
                  <a:txBody>
                    <a:bodyPr/>
                    <a:lstStyle/>
                    <a:p>
                      <a:pPr marL="0" indent="0" algn="l">
                        <a:buNone/>
                      </a:pPr>
                      <a:r>
                        <a:rPr lang="en-US" sz="1200" b="1" dirty="0">
                          <a:solidFill>
                            <a:srgbClr val="1A1A1D"/>
                          </a:solidFill>
                          <a:latin typeface="Georgia" panose="02040502050405090303" pitchFamily="34" charset="0"/>
                          <a:ea typeface="Georgia" panose="02040502050405090303" pitchFamily="34" charset="-122"/>
                          <a:cs typeface="Georgia" panose="02040502050405090303" pitchFamily="34" charset="-120"/>
                        </a:rPr>
                        <a:t>Credit-card rotativo</a:t>
                      </a:r>
                      <a:endParaRPr lang="en-US" sz="1200" dirty="0">
                        <a:latin typeface="Georgia" panose="02040502050405090303" pitchFamily="34" charset="0"/>
                        <a:ea typeface="Georgia" panose="02040502050405090303" pitchFamily="34" charset="0"/>
                        <a:cs typeface="Georgia" panose="02040502050405090303"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ctr">
                        <a:buNone/>
                      </a:pPr>
                      <a:r>
                        <a:rPr lang="en-US" sz="1200" dirty="0">
                          <a:solidFill>
                            <a:srgbClr val="B8412C"/>
                          </a:solidFill>
                          <a:latin typeface="Consolas" pitchFamily="34" charset="0"/>
                          <a:ea typeface="Consolas" pitchFamily="34" charset="-122"/>
                          <a:cs typeface="Consolas" pitchFamily="34" charset="-120"/>
                        </a:rPr>
                        <a:t>~450%</a:t>
                      </a:r>
                      <a:endParaRPr lang="en-US" sz="1200" dirty="0">
                        <a:latin typeface="Consolas" pitchFamily="34" charset="0"/>
                        <a:ea typeface="Consolas" pitchFamily="34" charset="0"/>
                        <a:cs typeface="Consolas"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ctr">
                        <a:buNone/>
                      </a:pPr>
                      <a:r>
                        <a:rPr lang="en-US" sz="1200" dirty="0">
                          <a:solidFill>
                            <a:srgbClr val="6B6B70"/>
                          </a:solidFill>
                          <a:latin typeface="Consolas" pitchFamily="34" charset="0"/>
                          <a:ea typeface="Consolas" pitchFamily="34" charset="-122"/>
                          <a:cs typeface="Consolas" pitchFamily="34" charset="-120"/>
                        </a:rPr>
                        <a:t>—</a:t>
                      </a:r>
                      <a:endParaRPr lang="en-US" sz="1200" dirty="0">
                        <a:latin typeface="Consolas" pitchFamily="34" charset="0"/>
                        <a:ea typeface="Consolas" pitchFamily="34" charset="0"/>
                        <a:cs typeface="Consolas"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ctr">
                        <a:buNone/>
                      </a:pPr>
                      <a:r>
                        <a:rPr lang="en-US" sz="1200" dirty="0">
                          <a:solidFill>
                            <a:srgbClr val="6B6B70"/>
                          </a:solidFill>
                          <a:latin typeface="Consolas" pitchFamily="34" charset="0"/>
                          <a:ea typeface="Consolas" pitchFamily="34" charset="-122"/>
                          <a:cs typeface="Consolas" pitchFamily="34" charset="-120"/>
                        </a:rPr>
                        <a:t>n/a</a:t>
                      </a:r>
                      <a:endParaRPr lang="en-US" sz="1200" dirty="0">
                        <a:latin typeface="Consolas" pitchFamily="34" charset="0"/>
                        <a:ea typeface="Consolas" pitchFamily="34" charset="0"/>
                        <a:cs typeface="Consolas"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ctr">
                        <a:buNone/>
                      </a:pPr>
                      <a:r>
                        <a:rPr lang="en-US" sz="1200" dirty="0">
                          <a:solidFill>
                            <a:srgbClr val="6B6B70"/>
                          </a:solidFill>
                          <a:latin typeface="Consolas" pitchFamily="34" charset="0"/>
                          <a:ea typeface="Consolas" pitchFamily="34" charset="-122"/>
                          <a:cs typeface="Consolas" pitchFamily="34" charset="-120"/>
                        </a:rPr>
                        <a:t>massive</a:t>
                      </a:r>
                      <a:endParaRPr lang="en-US" sz="1200" dirty="0">
                        <a:latin typeface="Consolas" pitchFamily="34" charset="0"/>
                        <a:ea typeface="Consolas" pitchFamily="34" charset="0"/>
                        <a:cs typeface="Consolas"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r>
              <a:tr h="420624">
                <a:tc>
                  <a:txBody>
                    <a:bodyPr/>
                    <a:lstStyle/>
                    <a:p>
                      <a:pPr marL="0" indent="0" algn="l">
                        <a:buNone/>
                      </a:pPr>
                      <a:r>
                        <a:rPr lang="en-US" sz="1200" b="1" dirty="0">
                          <a:solidFill>
                            <a:srgbClr val="1A1A1D"/>
                          </a:solidFill>
                          <a:latin typeface="Georgia" panose="02040502050405090303" pitchFamily="34" charset="0"/>
                          <a:ea typeface="Georgia" panose="02040502050405090303" pitchFamily="34" charset="-122"/>
                          <a:cs typeface="Georgia" panose="02040502050405090303" pitchFamily="34" charset="-120"/>
                        </a:rPr>
                        <a:t>Consumer loan</a:t>
                      </a:r>
                      <a:endParaRPr lang="en-US" sz="1200" dirty="0">
                        <a:latin typeface="Georgia" panose="02040502050405090303" pitchFamily="34" charset="0"/>
                        <a:ea typeface="Georgia" panose="02040502050405090303" pitchFamily="34" charset="0"/>
                        <a:cs typeface="Georgia" panose="02040502050405090303"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ctr">
                        <a:buNone/>
                      </a:pPr>
                      <a:r>
                        <a:rPr lang="en-US" sz="1200" dirty="0">
                          <a:solidFill>
                            <a:srgbClr val="B8412C"/>
                          </a:solidFill>
                          <a:latin typeface="Consolas" pitchFamily="34" charset="0"/>
                          <a:ea typeface="Consolas" pitchFamily="34" charset="-122"/>
                          <a:cs typeface="Consolas" pitchFamily="34" charset="-120"/>
                        </a:rPr>
                        <a:t>~61%</a:t>
                      </a:r>
                      <a:endParaRPr lang="en-US" sz="1200" dirty="0">
                        <a:latin typeface="Consolas" pitchFamily="34" charset="0"/>
                        <a:ea typeface="Consolas" pitchFamily="34" charset="0"/>
                        <a:cs typeface="Consolas"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ctr">
                        <a:buNone/>
                      </a:pPr>
                      <a:r>
                        <a:rPr lang="en-US" sz="1200" dirty="0">
                          <a:solidFill>
                            <a:srgbClr val="6B6B70"/>
                          </a:solidFill>
                          <a:latin typeface="Consolas" pitchFamily="34" charset="0"/>
                          <a:ea typeface="Consolas" pitchFamily="34" charset="-122"/>
                          <a:cs typeface="Consolas" pitchFamily="34" charset="-120"/>
                        </a:rPr>
                        <a:t>—</a:t>
                      </a:r>
                      <a:endParaRPr lang="en-US" sz="1200" dirty="0">
                        <a:latin typeface="Consolas" pitchFamily="34" charset="0"/>
                        <a:ea typeface="Consolas" pitchFamily="34" charset="0"/>
                        <a:cs typeface="Consolas"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ctr">
                        <a:buNone/>
                      </a:pPr>
                      <a:r>
                        <a:rPr lang="en-US" sz="1200" dirty="0">
                          <a:solidFill>
                            <a:srgbClr val="6B6B70"/>
                          </a:solidFill>
                          <a:latin typeface="Consolas" pitchFamily="34" charset="0"/>
                          <a:ea typeface="Consolas" pitchFamily="34" charset="-122"/>
                          <a:cs typeface="Consolas" pitchFamily="34" charset="-120"/>
                        </a:rPr>
                        <a:t>n/a</a:t>
                      </a:r>
                      <a:endParaRPr lang="en-US" sz="1200" dirty="0">
                        <a:latin typeface="Consolas" pitchFamily="34" charset="0"/>
                        <a:ea typeface="Consolas" pitchFamily="34" charset="0"/>
                        <a:cs typeface="Consolas"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ctr">
                        <a:buNone/>
                      </a:pPr>
                      <a:r>
                        <a:rPr lang="en-US" sz="1200" dirty="0">
                          <a:solidFill>
                            <a:srgbClr val="6B6B70"/>
                          </a:solidFill>
                          <a:latin typeface="Consolas" pitchFamily="34" charset="0"/>
                          <a:ea typeface="Consolas" pitchFamily="34" charset="-122"/>
                          <a:cs typeface="Consolas" pitchFamily="34" charset="-120"/>
                        </a:rPr>
                        <a:t>~$3,050 on $5k</a:t>
                      </a:r>
                      <a:endParaRPr lang="en-US" sz="1200" dirty="0">
                        <a:latin typeface="Consolas" pitchFamily="34" charset="0"/>
                        <a:ea typeface="Consolas" pitchFamily="34" charset="0"/>
                        <a:cs typeface="Consolas"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r>
              <a:tr h="420624">
                <a:tc>
                  <a:txBody>
                    <a:bodyPr/>
                    <a:lstStyle/>
                    <a:p>
                      <a:pPr marL="0" indent="0" algn="l">
                        <a:buNone/>
                      </a:pPr>
                      <a:r>
                        <a:rPr lang="en-US" sz="1200" b="1" dirty="0">
                          <a:solidFill>
                            <a:srgbClr val="1A1A1D"/>
                          </a:solidFill>
                          <a:latin typeface="Georgia" panose="02040502050405090303" pitchFamily="34" charset="0"/>
                          <a:ea typeface="Georgia" panose="02040502050405090303" pitchFamily="34" charset="-122"/>
                          <a:cs typeface="Georgia" panose="02040502050405090303" pitchFamily="34" charset="-120"/>
                        </a:rPr>
                        <a:t>Caixa penhor</a:t>
                      </a:r>
                      <a:endParaRPr lang="en-US" sz="1200" dirty="0">
                        <a:latin typeface="Georgia" panose="02040502050405090303" pitchFamily="34" charset="0"/>
                        <a:ea typeface="Georgia" panose="02040502050405090303" pitchFamily="34" charset="0"/>
                        <a:cs typeface="Georgia" panose="02040502050405090303"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ctr">
                        <a:buNone/>
                      </a:pPr>
                      <a:r>
                        <a:rPr lang="en-US" sz="1200" dirty="0">
                          <a:solidFill>
                            <a:srgbClr val="6B6B70"/>
                          </a:solidFill>
                          <a:latin typeface="Consolas" pitchFamily="34" charset="0"/>
                          <a:ea typeface="Consolas" pitchFamily="34" charset="-122"/>
                          <a:cs typeface="Consolas" pitchFamily="34" charset="-120"/>
                        </a:rPr>
                        <a:t>~30%</a:t>
                      </a:r>
                      <a:endParaRPr lang="en-US" sz="1200" dirty="0">
                        <a:latin typeface="Consolas" pitchFamily="34" charset="0"/>
                        <a:ea typeface="Consolas" pitchFamily="34" charset="0"/>
                        <a:cs typeface="Consolas"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ctr">
                        <a:buNone/>
                      </a:pPr>
                      <a:r>
                        <a:rPr lang="en-US" sz="1200" dirty="0">
                          <a:solidFill>
                            <a:srgbClr val="6B6B70"/>
                          </a:solidFill>
                          <a:latin typeface="Consolas" pitchFamily="34" charset="0"/>
                          <a:ea typeface="Consolas" pitchFamily="34" charset="-122"/>
                          <a:cs typeface="Consolas" pitchFamily="34" charset="-120"/>
                        </a:rPr>
                        <a:t>20%</a:t>
                      </a:r>
                      <a:endParaRPr lang="en-US" sz="1200" dirty="0">
                        <a:latin typeface="Consolas" pitchFamily="34" charset="0"/>
                        <a:ea typeface="Consolas" pitchFamily="34" charset="0"/>
                        <a:cs typeface="Consolas"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ctr">
                        <a:buNone/>
                      </a:pPr>
                      <a:r>
                        <a:rPr lang="en-US" sz="1200" dirty="0">
                          <a:solidFill>
                            <a:srgbClr val="6B6B70"/>
                          </a:solidFill>
                          <a:latin typeface="Consolas" pitchFamily="34" charset="0"/>
                          <a:ea typeface="Consolas" pitchFamily="34" charset="-122"/>
                          <a:cs typeface="Consolas" pitchFamily="34" charset="-120"/>
                        </a:rPr>
                        <a:t>~$2,800</a:t>
                      </a:r>
                      <a:endParaRPr lang="en-US" sz="1200" dirty="0">
                        <a:latin typeface="Consolas" pitchFamily="34" charset="0"/>
                        <a:ea typeface="Consolas" pitchFamily="34" charset="0"/>
                        <a:cs typeface="Consolas"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ctr">
                        <a:buNone/>
                      </a:pPr>
                      <a:r>
                        <a:rPr lang="en-US" sz="1200" dirty="0">
                          <a:solidFill>
                            <a:srgbClr val="6B6B70"/>
                          </a:solidFill>
                          <a:latin typeface="Consolas" pitchFamily="34" charset="0"/>
                          <a:ea typeface="Consolas" pitchFamily="34" charset="-122"/>
                          <a:cs typeface="Consolas" pitchFamily="34" charset="-120"/>
                        </a:rPr>
                        <a:t>~$840</a:t>
                      </a:r>
                      <a:endParaRPr lang="en-US" sz="1200" dirty="0">
                        <a:latin typeface="Consolas" pitchFamily="34" charset="0"/>
                        <a:ea typeface="Consolas" pitchFamily="34" charset="0"/>
                        <a:cs typeface="Consolas"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r>
              <a:tr h="420624">
                <a:tc>
                  <a:txBody>
                    <a:bodyPr/>
                    <a:lstStyle/>
                    <a:p>
                      <a:pPr marL="0" indent="0" algn="l">
                        <a:buNone/>
                      </a:pPr>
                      <a:r>
                        <a:rPr lang="en-US" sz="1300" b="1" dirty="0">
                          <a:solidFill>
                            <a:srgbClr val="F5F0E8"/>
                          </a:solidFill>
                          <a:latin typeface="Georgia" panose="02040502050405090303" pitchFamily="34" charset="0"/>
                          <a:ea typeface="Georgia" panose="02040502050405090303" pitchFamily="34" charset="-122"/>
                          <a:cs typeface="Georgia" panose="02040502050405090303" pitchFamily="34" charset="-120"/>
                        </a:rPr>
                        <a:t>VAULX</a:t>
                      </a:r>
                      <a:endParaRPr lang="en-US" sz="1300" dirty="0">
                        <a:latin typeface="Georgia" panose="02040502050405090303" pitchFamily="34" charset="0"/>
                        <a:ea typeface="Georgia" panose="02040502050405090303" pitchFamily="34" charset="0"/>
                        <a:cs typeface="Georgia" panose="02040502050405090303"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0E7C7B"/>
                    </a:solidFill>
                  </a:tcPr>
                </a:tc>
                <a:tc>
                  <a:txBody>
                    <a:bodyPr/>
                    <a:lstStyle/>
                    <a:p>
                      <a:pPr marL="0" indent="0" algn="ctr">
                        <a:buNone/>
                      </a:pPr>
                      <a:r>
                        <a:rPr lang="en-US" sz="1300" dirty="0">
                          <a:solidFill>
                            <a:srgbClr val="F5F0E8"/>
                          </a:solidFill>
                          <a:latin typeface="Consolas" pitchFamily="34" charset="0"/>
                          <a:ea typeface="Consolas" pitchFamily="34" charset="-122"/>
                          <a:cs typeface="Consolas" pitchFamily="34" charset="-120"/>
                        </a:rPr>
                        <a:t>24%</a:t>
                      </a:r>
                      <a:endParaRPr lang="en-US" sz="1300" dirty="0">
                        <a:latin typeface="Consolas" pitchFamily="34" charset="0"/>
                        <a:ea typeface="Consolas" pitchFamily="34" charset="0"/>
                        <a:cs typeface="Consolas"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0E7C7B"/>
                    </a:solidFill>
                  </a:tcPr>
                </a:tc>
                <a:tc>
                  <a:txBody>
                    <a:bodyPr/>
                    <a:lstStyle/>
                    <a:p>
                      <a:pPr marL="0" indent="0" algn="ctr">
                        <a:buNone/>
                      </a:pPr>
                      <a:r>
                        <a:rPr lang="en-US" sz="1300" dirty="0">
                          <a:solidFill>
                            <a:srgbClr val="F5F0E8"/>
                          </a:solidFill>
                          <a:latin typeface="Consolas" pitchFamily="34" charset="0"/>
                          <a:ea typeface="Consolas" pitchFamily="34" charset="-122"/>
                          <a:cs typeface="Consolas" pitchFamily="34" charset="-120"/>
                        </a:rPr>
                        <a:t>50%</a:t>
                      </a:r>
                      <a:endParaRPr lang="en-US" sz="1300" dirty="0">
                        <a:latin typeface="Consolas" pitchFamily="34" charset="0"/>
                        <a:ea typeface="Consolas" pitchFamily="34" charset="0"/>
                        <a:cs typeface="Consolas"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0E7C7B"/>
                    </a:solidFill>
                  </a:tcPr>
                </a:tc>
                <a:tc>
                  <a:txBody>
                    <a:bodyPr/>
                    <a:lstStyle/>
                    <a:p>
                      <a:pPr marL="0" indent="0" algn="ctr">
                        <a:buNone/>
                      </a:pPr>
                      <a:r>
                        <a:rPr lang="en-US" sz="1300" dirty="0">
                          <a:solidFill>
                            <a:srgbClr val="F5F0E8"/>
                          </a:solidFill>
                          <a:latin typeface="Consolas" pitchFamily="34" charset="0"/>
                          <a:ea typeface="Consolas" pitchFamily="34" charset="-122"/>
                          <a:cs typeface="Consolas" pitchFamily="34" charset="-120"/>
                        </a:rPr>
                        <a:t>$7,000</a:t>
                      </a:r>
                      <a:endParaRPr lang="en-US" sz="1300" dirty="0">
                        <a:latin typeface="Consolas" pitchFamily="34" charset="0"/>
                        <a:ea typeface="Consolas" pitchFamily="34" charset="0"/>
                        <a:cs typeface="Consolas"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0E7C7B"/>
                    </a:solidFill>
                  </a:tcPr>
                </a:tc>
                <a:tc>
                  <a:txBody>
                    <a:bodyPr/>
                    <a:lstStyle/>
                    <a:p>
                      <a:pPr marL="0" indent="0" algn="ctr">
                        <a:buNone/>
                      </a:pPr>
                      <a:r>
                        <a:rPr lang="en-US" sz="1300" dirty="0">
                          <a:solidFill>
                            <a:srgbClr val="F5F0E8"/>
                          </a:solidFill>
                          <a:latin typeface="Consolas" pitchFamily="34" charset="0"/>
                          <a:ea typeface="Consolas" pitchFamily="34" charset="-122"/>
                          <a:cs typeface="Consolas" pitchFamily="34" charset="-120"/>
                        </a:rPr>
                        <a:t>~$1,680</a:t>
                      </a:r>
                      <a:endParaRPr lang="en-US" sz="1300" dirty="0">
                        <a:latin typeface="Consolas" pitchFamily="34" charset="0"/>
                        <a:ea typeface="Consolas" pitchFamily="34" charset="0"/>
                        <a:cs typeface="Consolas"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0E7C7B"/>
                    </a:solidFill>
                  </a:tcPr>
                </a:tc>
              </a:tr>
            </a:tbl>
          </a:graphicData>
        </a:graphic>
      </p:graphicFrame>
      <p:sp>
        <p:nvSpPr>
          <p:cNvPr id="9" name="Shape 6"/>
          <p:cNvSpPr/>
          <p:nvPr/>
        </p:nvSpPr>
        <p:spPr>
          <a:xfrm>
            <a:off x="640080" y="4434840"/>
            <a:ext cx="3527450" cy="1554480"/>
          </a:xfrm>
          <a:prstGeom prst="rect">
            <a:avLst/>
          </a:prstGeom>
          <a:solidFill>
            <a:srgbClr val="FFFFFF"/>
          </a:solidFill>
          <a:ln w="9525">
            <a:solidFill>
              <a:srgbClr val="E5E2D8"/>
            </a:solidFill>
            <a:prstDash val="solid"/>
          </a:ln>
        </p:spPr>
      </p:sp>
      <p:sp>
        <p:nvSpPr>
          <p:cNvPr id="10" name="Text 7"/>
          <p:cNvSpPr/>
          <p:nvPr/>
        </p:nvSpPr>
        <p:spPr>
          <a:xfrm>
            <a:off x="868680" y="4572000"/>
            <a:ext cx="3070250" cy="274320"/>
          </a:xfrm>
          <a:prstGeom prst="rect">
            <a:avLst/>
          </a:prstGeom>
          <a:noFill/>
        </p:spPr>
        <p:txBody>
          <a:bodyPr wrap="square" lIns="0" tIns="0" rIns="0" bIns="0" rtlCol="0" anchor="ctr"/>
          <a:lstStyle/>
          <a:p>
            <a:pPr marL="0" indent="0">
              <a:buNone/>
            </a:pPr>
            <a:r>
              <a:rPr lang="en-US" sz="950" b="1" kern="0" spc="300" dirty="0">
                <a:solidFill>
                  <a:srgbClr val="0E7C7B"/>
                </a:solidFill>
                <a:latin typeface="Consolas" pitchFamily="34" charset="0"/>
                <a:ea typeface="Consolas" pitchFamily="34" charset="-122"/>
                <a:cs typeface="Consolas" pitchFamily="34" charset="-120"/>
              </a:rPr>
              <a:t>PER 3-MO LOAN  ·  $7K BORROWED</a:t>
            </a:r>
            <a:endParaRPr lang="en-US" sz="950" dirty="0"/>
          </a:p>
        </p:txBody>
      </p:sp>
      <p:sp>
        <p:nvSpPr>
          <p:cNvPr id="11" name="Text 8"/>
          <p:cNvSpPr/>
          <p:nvPr/>
        </p:nvSpPr>
        <p:spPr>
          <a:xfrm>
            <a:off x="868680" y="4892040"/>
            <a:ext cx="1371600" cy="228600"/>
          </a:xfrm>
          <a:prstGeom prst="rect">
            <a:avLst/>
          </a:prstGeom>
          <a:noFill/>
        </p:spPr>
        <p:txBody>
          <a:bodyPr wrap="square" lIns="0" tIns="0" rIns="0" bIns="0" rtlCol="0" anchor="ctr"/>
          <a:lstStyle/>
          <a:p>
            <a:pPr marL="0" indent="0">
              <a:buNone/>
            </a:pPr>
            <a:r>
              <a:rPr lang="en-US" sz="1200" dirty="0">
                <a:solidFill>
                  <a:srgbClr val="1A1A1D"/>
                </a:solidFill>
                <a:latin typeface="Georgia" panose="02040502050405090303" pitchFamily="34" charset="0"/>
                <a:ea typeface="Georgia" panose="02040502050405090303" pitchFamily="34" charset="-122"/>
                <a:cs typeface="Georgia" panose="02040502050405090303" pitchFamily="34" charset="-120"/>
              </a:rPr>
              <a:t>Interest:</a:t>
            </a:r>
            <a:endParaRPr lang="en-US" sz="1200" dirty="0"/>
          </a:p>
        </p:txBody>
      </p:sp>
      <p:sp>
        <p:nvSpPr>
          <p:cNvPr id="12" name="Text 9"/>
          <p:cNvSpPr/>
          <p:nvPr/>
        </p:nvSpPr>
        <p:spPr>
          <a:xfrm>
            <a:off x="3253130" y="4892040"/>
            <a:ext cx="640080" cy="228600"/>
          </a:xfrm>
          <a:prstGeom prst="rect">
            <a:avLst/>
          </a:prstGeom>
          <a:noFill/>
        </p:spPr>
        <p:txBody>
          <a:bodyPr wrap="square" lIns="0" tIns="0" rIns="0" bIns="0" rtlCol="0" anchor="ctr"/>
          <a:lstStyle/>
          <a:p>
            <a:pPr marL="0" indent="0" algn="r">
              <a:buNone/>
            </a:pPr>
            <a:r>
              <a:rPr lang="en-US" sz="1300" b="1" dirty="0">
                <a:solidFill>
                  <a:srgbClr val="1A1A1D"/>
                </a:solidFill>
                <a:latin typeface="Consolas" pitchFamily="34" charset="0"/>
                <a:ea typeface="Consolas" pitchFamily="34" charset="-122"/>
                <a:cs typeface="Consolas" pitchFamily="34" charset="-120"/>
              </a:rPr>
              <a:t>$420</a:t>
            </a:r>
            <a:endParaRPr lang="en-US" sz="1300" dirty="0"/>
          </a:p>
        </p:txBody>
      </p:sp>
      <p:sp>
        <p:nvSpPr>
          <p:cNvPr id="13" name="Text 10"/>
          <p:cNvSpPr/>
          <p:nvPr/>
        </p:nvSpPr>
        <p:spPr>
          <a:xfrm>
            <a:off x="1005840" y="5212080"/>
            <a:ext cx="2247290" cy="201168"/>
          </a:xfrm>
          <a:prstGeom prst="rect">
            <a:avLst/>
          </a:prstGeom>
          <a:noFill/>
        </p:spPr>
        <p:txBody>
          <a:bodyPr wrap="square" lIns="0" tIns="0" rIns="0" bIns="0" rtlCol="0" anchor="ctr"/>
          <a:lstStyle/>
          <a:p>
            <a:pPr marL="0" indent="0">
              <a:buNone/>
            </a:pPr>
            <a:r>
              <a:rPr lang="en-US" sz="1050" dirty="0">
                <a:solidFill>
                  <a:srgbClr val="6B6B70"/>
                </a:solidFill>
                <a:latin typeface="Calibri" pitchFamily="34" charset="0"/>
                <a:ea typeface="Calibri" pitchFamily="34" charset="-122"/>
                <a:cs typeface="Calibri" pitchFamily="34" charset="-120"/>
              </a:rPr>
              <a:t>· LP yield (8%)</a:t>
            </a:r>
            <a:endParaRPr lang="en-US" sz="1050" dirty="0"/>
          </a:p>
        </p:txBody>
      </p:sp>
      <p:sp>
        <p:nvSpPr>
          <p:cNvPr id="14" name="Text 11"/>
          <p:cNvSpPr/>
          <p:nvPr/>
        </p:nvSpPr>
        <p:spPr>
          <a:xfrm>
            <a:off x="3253130" y="5212080"/>
            <a:ext cx="640080" cy="201168"/>
          </a:xfrm>
          <a:prstGeom prst="rect">
            <a:avLst/>
          </a:prstGeom>
          <a:noFill/>
        </p:spPr>
        <p:txBody>
          <a:bodyPr wrap="square" lIns="0" tIns="0" rIns="0" bIns="0" rtlCol="0" anchor="ctr"/>
          <a:lstStyle/>
          <a:p>
            <a:pPr marL="0" indent="0" algn="r">
              <a:buNone/>
            </a:pPr>
            <a:r>
              <a:rPr lang="en-US" sz="1050" dirty="0">
                <a:solidFill>
                  <a:srgbClr val="6B6B70"/>
                </a:solidFill>
                <a:latin typeface="Consolas" pitchFamily="34" charset="0"/>
                <a:ea typeface="Consolas" pitchFamily="34" charset="-122"/>
                <a:cs typeface="Consolas" pitchFamily="34" charset="-120"/>
              </a:rPr>
              <a:t>$140</a:t>
            </a:r>
            <a:endParaRPr lang="en-US" sz="1050" dirty="0"/>
          </a:p>
        </p:txBody>
      </p:sp>
      <p:sp>
        <p:nvSpPr>
          <p:cNvPr id="15" name="Text 12"/>
          <p:cNvSpPr/>
          <p:nvPr/>
        </p:nvSpPr>
        <p:spPr>
          <a:xfrm>
            <a:off x="1005840" y="5431536"/>
            <a:ext cx="2247290" cy="201168"/>
          </a:xfrm>
          <a:prstGeom prst="rect">
            <a:avLst/>
          </a:prstGeom>
          <a:noFill/>
        </p:spPr>
        <p:txBody>
          <a:bodyPr wrap="square" lIns="0" tIns="0" rIns="0" bIns="0" rtlCol="0" anchor="ctr"/>
          <a:lstStyle/>
          <a:p>
            <a:pPr marL="0" indent="0">
              <a:buNone/>
            </a:pPr>
            <a:r>
              <a:rPr lang="en-US" sz="1050" dirty="0">
                <a:solidFill>
                  <a:srgbClr val="6B6B70"/>
                </a:solidFill>
                <a:latin typeface="Calibri" pitchFamily="34" charset="0"/>
                <a:ea typeface="Calibri" pitchFamily="34" charset="-122"/>
                <a:cs typeface="Calibri" pitchFamily="34" charset="-120"/>
              </a:rPr>
              <a:t>· Operations (12%)</a:t>
            </a:r>
            <a:endParaRPr lang="en-US" sz="1050" dirty="0"/>
          </a:p>
        </p:txBody>
      </p:sp>
      <p:sp>
        <p:nvSpPr>
          <p:cNvPr id="16" name="Text 13"/>
          <p:cNvSpPr/>
          <p:nvPr/>
        </p:nvSpPr>
        <p:spPr>
          <a:xfrm>
            <a:off x="3253130" y="5431536"/>
            <a:ext cx="640080" cy="201168"/>
          </a:xfrm>
          <a:prstGeom prst="rect">
            <a:avLst/>
          </a:prstGeom>
          <a:noFill/>
        </p:spPr>
        <p:txBody>
          <a:bodyPr wrap="square" lIns="0" tIns="0" rIns="0" bIns="0" rtlCol="0" anchor="ctr"/>
          <a:lstStyle/>
          <a:p>
            <a:pPr marL="0" indent="0" algn="r">
              <a:buNone/>
            </a:pPr>
            <a:r>
              <a:rPr lang="en-US" sz="1050" dirty="0">
                <a:solidFill>
                  <a:srgbClr val="6B6B70"/>
                </a:solidFill>
                <a:latin typeface="Consolas" pitchFamily="34" charset="0"/>
                <a:ea typeface="Consolas" pitchFamily="34" charset="-122"/>
                <a:cs typeface="Consolas" pitchFamily="34" charset="-120"/>
              </a:rPr>
              <a:t>$210</a:t>
            </a:r>
            <a:endParaRPr lang="en-US" sz="1050" dirty="0"/>
          </a:p>
        </p:txBody>
      </p:sp>
      <p:sp>
        <p:nvSpPr>
          <p:cNvPr id="17" name="Text 14"/>
          <p:cNvSpPr/>
          <p:nvPr/>
        </p:nvSpPr>
        <p:spPr>
          <a:xfrm>
            <a:off x="1005840" y="5650992"/>
            <a:ext cx="2247290" cy="201168"/>
          </a:xfrm>
          <a:prstGeom prst="rect">
            <a:avLst/>
          </a:prstGeom>
          <a:noFill/>
        </p:spPr>
        <p:txBody>
          <a:bodyPr wrap="square" lIns="0" tIns="0" rIns="0" bIns="0" rtlCol="0" anchor="ctr"/>
          <a:lstStyle/>
          <a:p>
            <a:pPr marL="0" indent="0">
              <a:buNone/>
            </a:pPr>
            <a:r>
              <a:rPr lang="en-US" sz="1050" dirty="0">
                <a:solidFill>
                  <a:srgbClr val="6B6B70"/>
                </a:solidFill>
                <a:latin typeface="Calibri" pitchFamily="34" charset="0"/>
                <a:ea typeface="Calibri" pitchFamily="34" charset="-122"/>
                <a:cs typeface="Calibri" pitchFamily="34" charset="-120"/>
              </a:rPr>
              <a:t>· Risk margin (4%)</a:t>
            </a:r>
            <a:endParaRPr lang="en-US" sz="1050" dirty="0"/>
          </a:p>
        </p:txBody>
      </p:sp>
      <p:sp>
        <p:nvSpPr>
          <p:cNvPr id="18" name="Text 15"/>
          <p:cNvSpPr/>
          <p:nvPr/>
        </p:nvSpPr>
        <p:spPr>
          <a:xfrm>
            <a:off x="3253130" y="5650992"/>
            <a:ext cx="640080" cy="201168"/>
          </a:xfrm>
          <a:prstGeom prst="rect">
            <a:avLst/>
          </a:prstGeom>
          <a:noFill/>
        </p:spPr>
        <p:txBody>
          <a:bodyPr wrap="square" lIns="0" tIns="0" rIns="0" bIns="0" rtlCol="0" anchor="ctr"/>
          <a:lstStyle/>
          <a:p>
            <a:pPr marL="0" indent="0" algn="r">
              <a:buNone/>
            </a:pPr>
            <a:r>
              <a:rPr lang="en-US" sz="1050" dirty="0">
                <a:solidFill>
                  <a:srgbClr val="6B6B70"/>
                </a:solidFill>
                <a:latin typeface="Consolas" pitchFamily="34" charset="0"/>
                <a:ea typeface="Consolas" pitchFamily="34" charset="-122"/>
                <a:cs typeface="Consolas" pitchFamily="34" charset="-120"/>
              </a:rPr>
              <a:t>$70</a:t>
            </a:r>
            <a:endParaRPr lang="en-US" sz="1050" dirty="0"/>
          </a:p>
        </p:txBody>
      </p:sp>
      <p:sp>
        <p:nvSpPr>
          <p:cNvPr id="19" name="Shape 16"/>
          <p:cNvSpPr/>
          <p:nvPr/>
        </p:nvSpPr>
        <p:spPr>
          <a:xfrm>
            <a:off x="4332122" y="4434840"/>
            <a:ext cx="3527450" cy="1554480"/>
          </a:xfrm>
          <a:prstGeom prst="rect">
            <a:avLst/>
          </a:prstGeom>
          <a:solidFill>
            <a:srgbClr val="0E7C7B"/>
          </a:solidFill>
          <a:ln w="12700">
            <a:solidFill>
              <a:srgbClr val="0E7C7B"/>
            </a:solidFill>
            <a:prstDash val="solid"/>
          </a:ln>
        </p:spPr>
      </p:sp>
      <p:sp>
        <p:nvSpPr>
          <p:cNvPr id="20" name="Text 17"/>
          <p:cNvSpPr/>
          <p:nvPr/>
        </p:nvSpPr>
        <p:spPr>
          <a:xfrm>
            <a:off x="4332122" y="4572000"/>
            <a:ext cx="3527450" cy="274320"/>
          </a:xfrm>
          <a:prstGeom prst="rect">
            <a:avLst/>
          </a:prstGeom>
          <a:noFill/>
        </p:spPr>
        <p:txBody>
          <a:bodyPr wrap="square" lIns="0" tIns="0" rIns="0" bIns="0" rtlCol="0" anchor="ctr"/>
          <a:lstStyle/>
          <a:p>
            <a:pPr marL="0" indent="0" algn="ctr">
              <a:buNone/>
            </a:pPr>
            <a:r>
              <a:rPr lang="en-US" sz="950" b="1" kern="0" spc="300" dirty="0">
                <a:solidFill>
                  <a:srgbClr val="0E7C7B"/>
                </a:solidFill>
                <a:latin typeface="Consolas" pitchFamily="34" charset="0"/>
                <a:ea typeface="Consolas" pitchFamily="34" charset="-122"/>
                <a:cs typeface="Consolas" pitchFamily="34" charset="-120"/>
              </a:rPr>
              <a:t>CAPITAL EFFICIENCY</a:t>
            </a:r>
            <a:endParaRPr lang="en-US" sz="950" dirty="0"/>
          </a:p>
        </p:txBody>
      </p:sp>
      <p:sp>
        <p:nvSpPr>
          <p:cNvPr id="21" name="Text 18"/>
          <p:cNvSpPr/>
          <p:nvPr/>
        </p:nvSpPr>
        <p:spPr>
          <a:xfrm>
            <a:off x="4332122" y="4668520"/>
            <a:ext cx="3527450" cy="777240"/>
          </a:xfrm>
          <a:prstGeom prst="rect">
            <a:avLst/>
          </a:prstGeom>
          <a:noFill/>
        </p:spPr>
        <p:txBody>
          <a:bodyPr wrap="square" lIns="0" tIns="0" rIns="0" bIns="0" rtlCol="0" anchor="ctr"/>
          <a:lstStyle/>
          <a:p>
            <a:pPr marL="0" indent="0" algn="ctr">
              <a:buNone/>
            </a:pPr>
            <a:r>
              <a:rPr lang="en-US" sz="6400" b="1" dirty="0">
                <a:solidFill>
                  <a:srgbClr val="F5F0E8"/>
                </a:solidFill>
                <a:latin typeface="Georgia" panose="02040502050405090303" pitchFamily="34" charset="0"/>
                <a:ea typeface="Georgia" panose="02040502050405090303" pitchFamily="34" charset="-122"/>
                <a:cs typeface="Georgia" panose="02040502050405090303" pitchFamily="34" charset="-120"/>
              </a:rPr>
              <a:t>2.5×</a:t>
            </a:r>
            <a:endParaRPr lang="en-US" sz="6400" dirty="0"/>
          </a:p>
        </p:txBody>
      </p:sp>
      <p:sp>
        <p:nvSpPr>
          <p:cNvPr id="22" name="Text 19"/>
          <p:cNvSpPr/>
          <p:nvPr/>
        </p:nvSpPr>
        <p:spPr>
          <a:xfrm>
            <a:off x="4332122" y="5501640"/>
            <a:ext cx="3527450" cy="274320"/>
          </a:xfrm>
          <a:prstGeom prst="rect">
            <a:avLst/>
          </a:prstGeom>
          <a:noFill/>
        </p:spPr>
        <p:txBody>
          <a:bodyPr wrap="square" lIns="0" tIns="0" rIns="0" bIns="0" rtlCol="0" anchor="ctr"/>
          <a:lstStyle/>
          <a:p>
            <a:pPr marL="0" indent="0" algn="ctr">
              <a:buNone/>
            </a:pPr>
            <a:r>
              <a:rPr lang="en-US" sz="1400" i="1" dirty="0">
                <a:solidFill>
                  <a:srgbClr val="F5F0E8"/>
                </a:solidFill>
                <a:latin typeface="Georgia" panose="02040502050405090303" pitchFamily="34" charset="0"/>
                <a:ea typeface="Georgia" panose="02040502050405090303" pitchFamily="34" charset="-122"/>
                <a:cs typeface="Georgia" panose="02040502050405090303" pitchFamily="34" charset="-120"/>
              </a:rPr>
              <a:t>more capital per asset</a:t>
            </a:r>
            <a:endParaRPr lang="en-US" sz="1400" dirty="0"/>
          </a:p>
        </p:txBody>
      </p:sp>
      <p:sp>
        <p:nvSpPr>
          <p:cNvPr id="23" name="Text 20"/>
          <p:cNvSpPr/>
          <p:nvPr/>
        </p:nvSpPr>
        <p:spPr>
          <a:xfrm>
            <a:off x="4332122" y="5760720"/>
            <a:ext cx="3527450" cy="228600"/>
          </a:xfrm>
          <a:prstGeom prst="rect">
            <a:avLst/>
          </a:prstGeom>
          <a:noFill/>
        </p:spPr>
        <p:txBody>
          <a:bodyPr wrap="square" lIns="0" tIns="0" rIns="0" bIns="0" rtlCol="0" anchor="ctr"/>
          <a:lstStyle/>
          <a:p>
            <a:pPr marL="0" indent="0" algn="ctr">
              <a:buNone/>
            </a:pPr>
            <a:r>
              <a:rPr lang="en-US" sz="1000" dirty="0">
                <a:solidFill>
                  <a:srgbClr val="C8C2B2"/>
                </a:solidFill>
                <a:latin typeface="Consolas" pitchFamily="34" charset="0"/>
                <a:ea typeface="Consolas" pitchFamily="34" charset="-122"/>
                <a:cs typeface="Consolas" pitchFamily="34" charset="-120"/>
              </a:rPr>
              <a:t>50% LTV vs 20% scrap-metal LTV</a:t>
            </a:r>
            <a:endParaRPr lang="en-US" sz="1000" dirty="0"/>
          </a:p>
        </p:txBody>
      </p:sp>
      <p:sp>
        <p:nvSpPr>
          <p:cNvPr id="24" name="Shape 21"/>
          <p:cNvSpPr/>
          <p:nvPr/>
        </p:nvSpPr>
        <p:spPr>
          <a:xfrm>
            <a:off x="8024165" y="4434840"/>
            <a:ext cx="3527450" cy="1554480"/>
          </a:xfrm>
          <a:prstGeom prst="rect">
            <a:avLst/>
          </a:prstGeom>
          <a:solidFill>
            <a:srgbClr val="FFFFFF"/>
          </a:solidFill>
          <a:ln w="9525">
            <a:solidFill>
              <a:srgbClr val="E5E2D8"/>
            </a:solidFill>
            <a:prstDash val="solid"/>
          </a:ln>
        </p:spPr>
      </p:sp>
      <p:sp>
        <p:nvSpPr>
          <p:cNvPr id="25" name="Text 22"/>
          <p:cNvSpPr/>
          <p:nvPr/>
        </p:nvSpPr>
        <p:spPr>
          <a:xfrm>
            <a:off x="8252765" y="4572000"/>
            <a:ext cx="3070250" cy="274320"/>
          </a:xfrm>
          <a:prstGeom prst="rect">
            <a:avLst/>
          </a:prstGeom>
          <a:noFill/>
        </p:spPr>
        <p:txBody>
          <a:bodyPr wrap="square" lIns="0" tIns="0" rIns="0" bIns="0" rtlCol="0" anchor="ctr"/>
          <a:lstStyle/>
          <a:p>
            <a:pPr marL="0" indent="0">
              <a:buNone/>
            </a:pPr>
            <a:r>
              <a:rPr lang="en-US" sz="950" b="1" kern="0" spc="300" dirty="0">
                <a:solidFill>
                  <a:srgbClr val="0E7C7B"/>
                </a:solidFill>
                <a:latin typeface="Consolas" pitchFamily="34" charset="0"/>
                <a:ea typeface="Consolas" pitchFamily="34" charset="-122"/>
                <a:cs typeface="Consolas" pitchFamily="34" charset="-120"/>
              </a:rPr>
              <a:t>BORROWER WIN</a:t>
            </a:r>
            <a:endParaRPr lang="en-US" sz="950" dirty="0"/>
          </a:p>
        </p:txBody>
      </p:sp>
      <p:sp>
        <p:nvSpPr>
          <p:cNvPr id="26" name="Text 23"/>
          <p:cNvSpPr/>
          <p:nvPr/>
        </p:nvSpPr>
        <p:spPr>
          <a:xfrm>
            <a:off x="8252765" y="4937760"/>
            <a:ext cx="3070250" cy="594360"/>
          </a:xfrm>
          <a:prstGeom prst="rect">
            <a:avLst/>
          </a:prstGeom>
          <a:noFill/>
        </p:spPr>
        <p:txBody>
          <a:bodyPr wrap="square" lIns="0" tIns="0" rIns="0" bIns="0" rtlCol="0" anchor="ctr"/>
          <a:lstStyle/>
          <a:p>
            <a:pPr marL="0" indent="0">
              <a:lnSpc>
                <a:spcPts val="2400"/>
              </a:lnSpc>
              <a:buNone/>
            </a:pPr>
            <a:r>
              <a:rPr lang="en-US" sz="1400" b="1" dirty="0">
                <a:solidFill>
                  <a:srgbClr val="1A1A1D"/>
                </a:solidFill>
                <a:latin typeface="Georgia" panose="02040502050405090303" pitchFamily="34" charset="0"/>
                <a:ea typeface="Georgia" panose="02040502050405090303" pitchFamily="34" charset="-122"/>
                <a:cs typeface="Georgia" panose="02040502050405090303" pitchFamily="34" charset="-120"/>
              </a:rPr>
              <a:t>Cheaper</a:t>
            </a:r>
            <a:r>
              <a:rPr lang="en-US" sz="1400" dirty="0">
                <a:solidFill>
                  <a:srgbClr val="6B6B70"/>
                </a:solidFill>
                <a:latin typeface="Calibri" pitchFamily="34" charset="0"/>
                <a:ea typeface="Calibri" pitchFamily="34" charset="-122"/>
                <a:cs typeface="Calibri" pitchFamily="34" charset="-120"/>
              </a:rPr>
              <a:t> than Caixa.
</a:t>
            </a:r>
            <a:r>
              <a:rPr lang="en-US" sz="1400" b="1" dirty="0">
                <a:solidFill>
                  <a:srgbClr val="0E7C7B"/>
                </a:solidFill>
                <a:latin typeface="Georgia" panose="02040502050405090303" pitchFamily="34" charset="0"/>
                <a:ea typeface="Georgia" panose="02040502050405090303" pitchFamily="34" charset="-122"/>
                <a:cs typeface="Georgia" panose="02040502050405090303" pitchFamily="34" charset="-120"/>
              </a:rPr>
              <a:t>19×</a:t>
            </a:r>
            <a:r>
              <a:rPr lang="en-US" sz="1400" dirty="0">
                <a:solidFill>
                  <a:srgbClr val="6B6B70"/>
                </a:solidFill>
                <a:latin typeface="Calibri" pitchFamily="34" charset="0"/>
                <a:ea typeface="Calibri" pitchFamily="34" charset="-122"/>
                <a:cs typeface="Calibri" pitchFamily="34" charset="-120"/>
              </a:rPr>
              <a:t> cheaper than rotativo.</a:t>
            </a:r>
            <a:endParaRPr lang="en-US" sz="1400" dirty="0"/>
          </a:p>
        </p:txBody>
      </p:sp>
      <p:sp>
        <p:nvSpPr>
          <p:cNvPr id="27" name="Shape 24"/>
          <p:cNvSpPr/>
          <p:nvPr/>
        </p:nvSpPr>
        <p:spPr>
          <a:xfrm>
            <a:off x="8252765" y="5577840"/>
            <a:ext cx="3070250" cy="0"/>
          </a:xfrm>
          <a:prstGeom prst="line">
            <a:avLst/>
          </a:prstGeom>
          <a:noFill/>
          <a:ln w="6350">
            <a:solidFill>
              <a:srgbClr val="E5E2D8"/>
            </a:solidFill>
            <a:prstDash val="solid"/>
          </a:ln>
        </p:spPr>
      </p:sp>
      <p:sp>
        <p:nvSpPr>
          <p:cNvPr id="28" name="Text 25"/>
          <p:cNvSpPr/>
          <p:nvPr/>
        </p:nvSpPr>
        <p:spPr>
          <a:xfrm>
            <a:off x="8252765" y="5669280"/>
            <a:ext cx="3070250" cy="228600"/>
          </a:xfrm>
          <a:prstGeom prst="rect">
            <a:avLst/>
          </a:prstGeom>
          <a:noFill/>
        </p:spPr>
        <p:txBody>
          <a:bodyPr wrap="square" lIns="0" tIns="0" rIns="0" bIns="0" rtlCol="0" anchor="ctr"/>
          <a:lstStyle/>
          <a:p>
            <a:pPr marL="0" indent="0">
              <a:buNone/>
            </a:pPr>
            <a:r>
              <a:rPr lang="en-US" sz="1000" dirty="0">
                <a:solidFill>
                  <a:srgbClr val="6B6B70"/>
                </a:solidFill>
                <a:latin typeface="Consolas" pitchFamily="34" charset="0"/>
                <a:ea typeface="Consolas" pitchFamily="34" charset="-122"/>
                <a:cs typeface="Consolas" pitchFamily="34" charset="-120"/>
              </a:rPr>
              <a:t>Vaulx revenue:  </a:t>
            </a:r>
            <a:r>
              <a:rPr lang="en-US" sz="1100" b="1" dirty="0">
                <a:solidFill>
                  <a:srgbClr val="0E7C7B"/>
                </a:solidFill>
                <a:latin typeface="Consolas" pitchFamily="34" charset="0"/>
                <a:ea typeface="Consolas" pitchFamily="34" charset="-122"/>
                <a:cs typeface="Consolas" pitchFamily="34" charset="-120"/>
              </a:rPr>
              <a:t>$300–600/yr</a:t>
            </a:r>
            <a:endParaRPr lang="en-US" sz="1000" dirty="0"/>
          </a:p>
        </p:txBody>
      </p:sp>
      <p:sp>
        <p:nvSpPr>
          <p:cNvPr id="29" name="Text 26"/>
          <p:cNvSpPr/>
          <p:nvPr/>
        </p:nvSpPr>
        <p:spPr>
          <a:xfrm>
            <a:off x="777240" y="6263640"/>
            <a:ext cx="2453564" cy="201168"/>
          </a:xfrm>
          <a:prstGeom prst="rect">
            <a:avLst/>
          </a:prstGeom>
          <a:noFill/>
        </p:spPr>
        <p:txBody>
          <a:bodyPr wrap="square" lIns="0" tIns="0" rIns="0" bIns="0" rtlCol="0" anchor="ctr"/>
          <a:lstStyle/>
          <a:p>
            <a:pPr marL="0" indent="0">
              <a:buNone/>
            </a:pPr>
            <a:r>
              <a:rPr lang="en-US" sz="850" b="1" kern="0" spc="300" dirty="0">
                <a:solidFill>
                  <a:srgbClr val="6B6B70"/>
                </a:solidFill>
                <a:latin typeface="Consolas" pitchFamily="34" charset="0"/>
                <a:ea typeface="Consolas" pitchFamily="34" charset="-122"/>
                <a:cs typeface="Consolas" pitchFamily="34" charset="-120"/>
              </a:rPr>
              <a:t>Borrower all-in</a:t>
            </a:r>
            <a:endParaRPr lang="en-US" sz="850" dirty="0"/>
          </a:p>
        </p:txBody>
      </p:sp>
      <p:sp>
        <p:nvSpPr>
          <p:cNvPr id="30" name="Text 27"/>
          <p:cNvSpPr/>
          <p:nvPr/>
        </p:nvSpPr>
        <p:spPr>
          <a:xfrm>
            <a:off x="777240" y="6464808"/>
            <a:ext cx="2453564" cy="274320"/>
          </a:xfrm>
          <a:prstGeom prst="rect">
            <a:avLst/>
          </a:prstGeom>
          <a:noFill/>
        </p:spPr>
        <p:txBody>
          <a:bodyPr wrap="square" lIns="0" tIns="0" rIns="0" bIns="0" rtlCol="0" anchor="ctr"/>
          <a:lstStyle/>
          <a:p>
            <a:pPr marL="0" indent="0">
              <a:buNone/>
            </a:pPr>
            <a:r>
              <a:rPr lang="en-US" sz="1300" b="1" dirty="0">
                <a:solidFill>
                  <a:srgbClr val="1A1A1D"/>
                </a:solidFill>
                <a:latin typeface="Georgia" panose="02040502050405090303" pitchFamily="34" charset="0"/>
                <a:ea typeface="Georgia" panose="02040502050405090303" pitchFamily="34" charset="-122"/>
                <a:cs typeface="Georgia" panose="02040502050405090303" pitchFamily="34" charset="-120"/>
              </a:rPr>
              <a:t>24% APR</a:t>
            </a:r>
            <a:endParaRPr lang="en-US" sz="1300" dirty="0"/>
          </a:p>
        </p:txBody>
      </p:sp>
      <p:sp>
        <p:nvSpPr>
          <p:cNvPr id="31" name="Text 28"/>
          <p:cNvSpPr/>
          <p:nvPr/>
        </p:nvSpPr>
        <p:spPr>
          <a:xfrm>
            <a:off x="3505124" y="6263640"/>
            <a:ext cx="2453564" cy="201168"/>
          </a:xfrm>
          <a:prstGeom prst="rect">
            <a:avLst/>
          </a:prstGeom>
          <a:noFill/>
        </p:spPr>
        <p:txBody>
          <a:bodyPr wrap="square" lIns="0" tIns="0" rIns="0" bIns="0" rtlCol="0" anchor="ctr"/>
          <a:lstStyle/>
          <a:p>
            <a:pPr marL="0" indent="0">
              <a:buNone/>
            </a:pPr>
            <a:r>
              <a:rPr lang="en-US" sz="850" b="1" kern="0" spc="300" dirty="0">
                <a:solidFill>
                  <a:srgbClr val="6B6B70"/>
                </a:solidFill>
                <a:latin typeface="Consolas" pitchFamily="34" charset="0"/>
                <a:ea typeface="Consolas" pitchFamily="34" charset="-122"/>
                <a:cs typeface="Consolas" pitchFamily="34" charset="-120"/>
              </a:rPr>
              <a:t>Vaulx revenue / asset</a:t>
            </a:r>
            <a:endParaRPr lang="en-US" sz="850" dirty="0"/>
          </a:p>
        </p:txBody>
      </p:sp>
      <p:sp>
        <p:nvSpPr>
          <p:cNvPr id="32" name="Text 29"/>
          <p:cNvSpPr/>
          <p:nvPr/>
        </p:nvSpPr>
        <p:spPr>
          <a:xfrm>
            <a:off x="3505124" y="6464808"/>
            <a:ext cx="2453564" cy="274320"/>
          </a:xfrm>
          <a:prstGeom prst="rect">
            <a:avLst/>
          </a:prstGeom>
          <a:noFill/>
        </p:spPr>
        <p:txBody>
          <a:bodyPr wrap="square" lIns="0" tIns="0" rIns="0" bIns="0" rtlCol="0" anchor="ctr"/>
          <a:lstStyle/>
          <a:p>
            <a:pPr marL="0" indent="0">
              <a:buNone/>
            </a:pPr>
            <a:r>
              <a:rPr lang="en-US" sz="1300" b="1" dirty="0">
                <a:solidFill>
                  <a:srgbClr val="1A1A1D"/>
                </a:solidFill>
                <a:latin typeface="Georgia" panose="02040502050405090303" pitchFamily="34" charset="0"/>
                <a:ea typeface="Georgia" panose="02040502050405090303" pitchFamily="34" charset="-122"/>
                <a:cs typeface="Georgia" panose="02040502050405090303" pitchFamily="34" charset="-120"/>
              </a:rPr>
              <a:t>$300–600 / yr</a:t>
            </a:r>
            <a:endParaRPr lang="en-US" sz="1300" dirty="0"/>
          </a:p>
        </p:txBody>
      </p:sp>
      <p:sp>
        <p:nvSpPr>
          <p:cNvPr id="33" name="Text 30"/>
          <p:cNvSpPr/>
          <p:nvPr/>
        </p:nvSpPr>
        <p:spPr>
          <a:xfrm>
            <a:off x="6233008" y="6263640"/>
            <a:ext cx="2453564" cy="201168"/>
          </a:xfrm>
          <a:prstGeom prst="rect">
            <a:avLst/>
          </a:prstGeom>
          <a:noFill/>
        </p:spPr>
        <p:txBody>
          <a:bodyPr wrap="square" lIns="0" tIns="0" rIns="0" bIns="0" rtlCol="0" anchor="ctr"/>
          <a:lstStyle/>
          <a:p>
            <a:pPr marL="0" indent="0">
              <a:buNone/>
            </a:pPr>
            <a:r>
              <a:rPr lang="en-US" sz="850" b="1" kern="0" spc="300" dirty="0">
                <a:solidFill>
                  <a:srgbClr val="6B6B70"/>
                </a:solidFill>
                <a:latin typeface="Consolas" pitchFamily="34" charset="0"/>
                <a:ea typeface="Consolas" pitchFamily="34" charset="-122"/>
                <a:cs typeface="Consolas" pitchFamily="34" charset="-120"/>
              </a:rPr>
              <a:t>LP net (post EL)</a:t>
            </a:r>
            <a:endParaRPr lang="en-US" sz="850" dirty="0"/>
          </a:p>
        </p:txBody>
      </p:sp>
      <p:sp>
        <p:nvSpPr>
          <p:cNvPr id="34" name="Text 31"/>
          <p:cNvSpPr/>
          <p:nvPr/>
        </p:nvSpPr>
        <p:spPr>
          <a:xfrm>
            <a:off x="6233008" y="6464808"/>
            <a:ext cx="2453564" cy="274320"/>
          </a:xfrm>
          <a:prstGeom prst="rect">
            <a:avLst/>
          </a:prstGeom>
          <a:noFill/>
        </p:spPr>
        <p:txBody>
          <a:bodyPr wrap="square" lIns="0" tIns="0" rIns="0" bIns="0" rtlCol="0" anchor="ctr"/>
          <a:lstStyle/>
          <a:p>
            <a:pPr marL="0" indent="0">
              <a:buNone/>
            </a:pPr>
            <a:r>
              <a:rPr lang="en-US" sz="1300" b="1" dirty="0">
                <a:solidFill>
                  <a:srgbClr val="1A1A1D"/>
                </a:solidFill>
                <a:latin typeface="Georgia" panose="02040502050405090303" pitchFamily="34" charset="0"/>
                <a:ea typeface="Georgia" panose="02040502050405090303" pitchFamily="34" charset="-122"/>
                <a:cs typeface="Georgia" panose="02040502050405090303" pitchFamily="34" charset="-120"/>
              </a:rPr>
              <a:t>~5% APR</a:t>
            </a:r>
            <a:endParaRPr lang="en-US" sz="1300" dirty="0"/>
          </a:p>
        </p:txBody>
      </p:sp>
      <p:sp>
        <p:nvSpPr>
          <p:cNvPr id="35" name="Text 32"/>
          <p:cNvSpPr/>
          <p:nvPr/>
        </p:nvSpPr>
        <p:spPr>
          <a:xfrm>
            <a:off x="8960891" y="6263640"/>
            <a:ext cx="2453564" cy="201168"/>
          </a:xfrm>
          <a:prstGeom prst="rect">
            <a:avLst/>
          </a:prstGeom>
          <a:noFill/>
        </p:spPr>
        <p:txBody>
          <a:bodyPr wrap="square" lIns="0" tIns="0" rIns="0" bIns="0" rtlCol="0" anchor="ctr"/>
          <a:lstStyle/>
          <a:p>
            <a:pPr marL="0" indent="0">
              <a:buNone/>
            </a:pPr>
            <a:r>
              <a:rPr lang="en-US" sz="850" b="1" kern="0" spc="300" dirty="0">
                <a:solidFill>
                  <a:srgbClr val="6B6B70"/>
                </a:solidFill>
                <a:latin typeface="Consolas" pitchFamily="34" charset="0"/>
                <a:ea typeface="Consolas" pitchFamily="34" charset="-122"/>
                <a:cs typeface="Consolas" pitchFamily="34" charset="-120"/>
              </a:rPr>
              <a:t>Use case</a:t>
            </a:r>
            <a:endParaRPr lang="en-US" sz="850" dirty="0"/>
          </a:p>
        </p:txBody>
      </p:sp>
      <p:sp>
        <p:nvSpPr>
          <p:cNvPr id="36" name="Text 33"/>
          <p:cNvSpPr/>
          <p:nvPr/>
        </p:nvSpPr>
        <p:spPr>
          <a:xfrm>
            <a:off x="8960891" y="6464808"/>
            <a:ext cx="2453564" cy="274320"/>
          </a:xfrm>
          <a:prstGeom prst="rect">
            <a:avLst/>
          </a:prstGeom>
          <a:noFill/>
        </p:spPr>
        <p:txBody>
          <a:bodyPr wrap="square" lIns="0" tIns="0" rIns="0" bIns="0" rtlCol="0" anchor="ctr"/>
          <a:lstStyle/>
          <a:p>
            <a:pPr marL="0" indent="0">
              <a:buNone/>
            </a:pPr>
            <a:r>
              <a:rPr lang="en-US" sz="1300" b="1" dirty="0">
                <a:solidFill>
                  <a:srgbClr val="1A1A1D"/>
                </a:solidFill>
                <a:latin typeface="Georgia" panose="02040502050405090303" pitchFamily="34" charset="0"/>
                <a:ea typeface="Georgia" panose="02040502050405090303" pitchFamily="34" charset="-122"/>
                <a:cs typeface="Georgia" panose="02040502050405090303" pitchFamily="34" charset="-120"/>
              </a:rPr>
              <a:t>short-term liquidity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640080" y="530352"/>
            <a:ext cx="109728" cy="22860"/>
          </a:xfrm>
          <a:prstGeom prst="rect">
            <a:avLst/>
          </a:prstGeom>
          <a:solidFill>
            <a:srgbClr val="0E7C7B"/>
          </a:solidFill>
          <a:ln w="12700">
            <a:solidFill>
              <a:srgbClr val="0E7C7B"/>
            </a:solidFill>
            <a:prstDash val="solid"/>
          </a:ln>
        </p:spPr>
      </p:sp>
      <p:sp>
        <p:nvSpPr>
          <p:cNvPr id="3" name="Text 1"/>
          <p:cNvSpPr/>
          <p:nvPr/>
        </p:nvSpPr>
        <p:spPr>
          <a:xfrm>
            <a:off x="804672" y="457200"/>
            <a:ext cx="5321808" cy="228600"/>
          </a:xfrm>
          <a:prstGeom prst="rect">
            <a:avLst/>
          </a:prstGeom>
          <a:noFill/>
        </p:spPr>
        <p:txBody>
          <a:bodyPr wrap="square" lIns="0" tIns="0" rIns="0" bIns="0" rtlCol="0" anchor="ctr"/>
          <a:lstStyle/>
          <a:p>
            <a:pPr marL="0" indent="0">
              <a:buNone/>
            </a:pPr>
            <a:r>
              <a:rPr lang="en-US" sz="950" b="1" kern="0" spc="400" dirty="0">
                <a:solidFill>
                  <a:srgbClr val="0E7C7B"/>
                </a:solidFill>
                <a:latin typeface="Consolas" pitchFamily="34" charset="0"/>
                <a:ea typeface="Consolas" pitchFamily="34" charset="-122"/>
                <a:cs typeface="Consolas" pitchFamily="34" charset="-120"/>
              </a:rPr>
              <a:t>06  /  RISK · LIQUIDATION · LP TRANCHES</a:t>
            </a:r>
            <a:endParaRPr lang="en-US" sz="950" dirty="0"/>
          </a:p>
        </p:txBody>
      </p:sp>
      <p:sp>
        <p:nvSpPr>
          <p:cNvPr id="4" name="Text 2"/>
          <p:cNvSpPr/>
          <p:nvPr/>
        </p:nvSpPr>
        <p:spPr>
          <a:xfrm>
            <a:off x="10911535" y="274320"/>
            <a:ext cx="914400" cy="228600"/>
          </a:xfrm>
          <a:prstGeom prst="rect">
            <a:avLst/>
          </a:prstGeom>
          <a:noFill/>
        </p:spPr>
        <p:txBody>
          <a:bodyPr wrap="square" lIns="0" tIns="0" rIns="0" bIns="0" rtlCol="0" anchor="ctr"/>
          <a:lstStyle/>
          <a:p>
            <a:pPr marL="0" indent="0" algn="r">
              <a:buNone/>
            </a:pPr>
            <a:r>
              <a:rPr lang="en-US" sz="900" kern="0" spc="300" dirty="0">
                <a:solidFill>
                  <a:srgbClr val="6B6B70"/>
                </a:solidFill>
                <a:latin typeface="Consolas" pitchFamily="34" charset="0"/>
                <a:ea typeface="Consolas" pitchFamily="34" charset="-122"/>
                <a:cs typeface="Consolas" pitchFamily="34" charset="-120"/>
              </a:rPr>
              <a:t>05 / 09</a:t>
            </a:r>
            <a:endParaRPr lang="en-US" sz="900" dirty="0"/>
          </a:p>
        </p:txBody>
      </p:sp>
      <p:sp>
        <p:nvSpPr>
          <p:cNvPr id="5" name="Text 3"/>
          <p:cNvSpPr/>
          <p:nvPr/>
        </p:nvSpPr>
        <p:spPr>
          <a:xfrm>
            <a:off x="640080" y="777240"/>
            <a:ext cx="10911535" cy="777240"/>
          </a:xfrm>
          <a:prstGeom prst="rect">
            <a:avLst/>
          </a:prstGeom>
          <a:noFill/>
        </p:spPr>
        <p:txBody>
          <a:bodyPr wrap="square" lIns="0" tIns="0" rIns="0" bIns="0" rtlCol="0" anchor="ctr"/>
          <a:lstStyle/>
          <a:p>
            <a:pPr marL="0" indent="0">
              <a:buNone/>
            </a:pPr>
            <a:r>
              <a:rPr lang="en-US" sz="3200" b="1" dirty="0">
                <a:solidFill>
                  <a:srgbClr val="1A1A1D"/>
                </a:solidFill>
                <a:latin typeface="Georgia" panose="02040502050405090303" pitchFamily="34" charset="0"/>
                <a:ea typeface="Georgia" panose="02040502050405090303" pitchFamily="34" charset="-122"/>
                <a:cs typeface="Georgia" panose="02040502050405090303" pitchFamily="34" charset="-120"/>
              </a:rPr>
              <a:t>Risk is tiered.  </a:t>
            </a:r>
            <a:r>
              <a:rPr lang="en-US" sz="3200" b="1" i="1" dirty="0">
                <a:solidFill>
                  <a:srgbClr val="0E7C7B"/>
                </a:solidFill>
                <a:latin typeface="Georgia" panose="02040502050405090303" pitchFamily="34" charset="0"/>
                <a:ea typeface="Georgia" panose="02040502050405090303" pitchFamily="34" charset="-122"/>
                <a:cs typeface="Georgia" panose="02040502050405090303" pitchFamily="34" charset="-120"/>
              </a:rPr>
              <a:t>Default </a:t>
            </a:r>
            <a:r>
              <a:rPr lang="en-US" sz="3200" b="1" dirty="0">
                <a:solidFill>
                  <a:srgbClr val="1A1A1D"/>
                </a:solidFill>
                <a:latin typeface="Georgia" panose="02040502050405090303" pitchFamily="34" charset="0"/>
                <a:ea typeface="Georgia" panose="02040502050405090303" pitchFamily="34" charset="-122"/>
                <a:cs typeface="Georgia" panose="02040502050405090303" pitchFamily="34" charset="-120"/>
              </a:rPr>
              <a:t>is choreographed.</a:t>
            </a:r>
            <a:endParaRPr lang="en-US" sz="3200" dirty="0"/>
          </a:p>
        </p:txBody>
      </p:sp>
      <p:sp>
        <p:nvSpPr>
          <p:cNvPr id="6" name="Text 4"/>
          <p:cNvSpPr/>
          <p:nvPr/>
        </p:nvSpPr>
        <p:spPr>
          <a:xfrm>
            <a:off x="640080" y="1554480"/>
            <a:ext cx="10911535" cy="365760"/>
          </a:xfrm>
          <a:prstGeom prst="rect">
            <a:avLst/>
          </a:prstGeom>
          <a:noFill/>
        </p:spPr>
        <p:txBody>
          <a:bodyPr wrap="square" lIns="0" tIns="0" rIns="0" bIns="0" rtlCol="0" anchor="ctr"/>
          <a:lstStyle/>
          <a:p>
            <a:pPr marL="0" indent="0">
              <a:buNone/>
            </a:pPr>
            <a:r>
              <a:rPr lang="en-US" sz="1200" dirty="0">
                <a:solidFill>
                  <a:srgbClr val="6B6B70"/>
                </a:solidFill>
                <a:latin typeface="Calibri" pitchFamily="34" charset="0"/>
                <a:ea typeface="Calibri" pitchFamily="34" charset="-122"/>
                <a:cs typeface="Calibri" pitchFamily="34" charset="-120"/>
              </a:rPr>
              <a:t>Every loan is over-collateralized by process, then protected by tranches, liquidation discipline, and protocol-owned first loss.</a:t>
            </a:r>
            <a:endParaRPr lang="en-US" sz="1200" dirty="0"/>
          </a:p>
        </p:txBody>
      </p:sp>
      <p:sp>
        <p:nvSpPr>
          <p:cNvPr id="7" name="Shape 5"/>
          <p:cNvSpPr/>
          <p:nvPr/>
        </p:nvSpPr>
        <p:spPr>
          <a:xfrm>
            <a:off x="640080" y="1993392"/>
            <a:ext cx="914400" cy="0"/>
          </a:xfrm>
          <a:prstGeom prst="line">
            <a:avLst/>
          </a:prstGeom>
          <a:noFill/>
          <a:ln w="15240">
            <a:solidFill>
              <a:srgbClr val="C9A86A"/>
            </a:solidFill>
            <a:prstDash val="solid"/>
          </a:ln>
        </p:spPr>
      </p:sp>
      <p:sp>
        <p:nvSpPr>
          <p:cNvPr id="8" name="Shape 6"/>
          <p:cNvSpPr/>
          <p:nvPr/>
        </p:nvSpPr>
        <p:spPr>
          <a:xfrm>
            <a:off x="640080" y="2194560"/>
            <a:ext cx="3515258" cy="3200400"/>
          </a:xfrm>
          <a:prstGeom prst="rect">
            <a:avLst/>
          </a:prstGeom>
          <a:solidFill>
            <a:srgbClr val="FFFFFF"/>
          </a:solidFill>
          <a:ln w="9525">
            <a:solidFill>
              <a:srgbClr val="E5E2D8"/>
            </a:solidFill>
            <a:prstDash val="solid"/>
          </a:ln>
        </p:spPr>
      </p:sp>
      <p:sp>
        <p:nvSpPr>
          <p:cNvPr id="9" name="Text 7"/>
          <p:cNvSpPr/>
          <p:nvPr/>
        </p:nvSpPr>
        <p:spPr>
          <a:xfrm>
            <a:off x="868680" y="2359152"/>
            <a:ext cx="3058058" cy="274320"/>
          </a:xfrm>
          <a:prstGeom prst="rect">
            <a:avLst/>
          </a:prstGeom>
          <a:noFill/>
        </p:spPr>
        <p:txBody>
          <a:bodyPr wrap="square" lIns="0" tIns="0" rIns="0" bIns="0" rtlCol="0" anchor="ctr"/>
          <a:lstStyle/>
          <a:p>
            <a:pPr marL="0" indent="0">
              <a:buNone/>
            </a:pPr>
            <a:r>
              <a:rPr lang="en-US" sz="1000" b="1" kern="0" spc="300" dirty="0">
                <a:solidFill>
                  <a:srgbClr val="0E7C7B"/>
                </a:solidFill>
                <a:latin typeface="Consolas" pitchFamily="34" charset="0"/>
                <a:ea typeface="Consolas" pitchFamily="34" charset="-122"/>
                <a:cs typeface="Consolas" pitchFamily="34" charset="-120"/>
              </a:rPr>
              <a:t>LTV BY ASSET CLASS</a:t>
            </a:r>
            <a:endParaRPr lang="en-US" sz="1000" dirty="0"/>
          </a:p>
        </p:txBody>
      </p:sp>
      <p:sp>
        <p:nvSpPr>
          <p:cNvPr id="10" name="Shape 8"/>
          <p:cNvSpPr/>
          <p:nvPr/>
        </p:nvSpPr>
        <p:spPr>
          <a:xfrm>
            <a:off x="868680" y="2697480"/>
            <a:ext cx="3058058" cy="0"/>
          </a:xfrm>
          <a:prstGeom prst="line">
            <a:avLst/>
          </a:prstGeom>
          <a:noFill/>
          <a:ln w="6350">
            <a:solidFill>
              <a:srgbClr val="E5E2D8"/>
            </a:solidFill>
            <a:prstDash val="solid"/>
          </a:ln>
        </p:spPr>
      </p:sp>
      <p:sp>
        <p:nvSpPr>
          <p:cNvPr id="11" name="Text 9"/>
          <p:cNvSpPr/>
          <p:nvPr/>
        </p:nvSpPr>
        <p:spPr>
          <a:xfrm>
            <a:off x="2331720" y="2788920"/>
            <a:ext cx="822960" cy="256032"/>
          </a:xfrm>
          <a:prstGeom prst="rect">
            <a:avLst/>
          </a:prstGeom>
          <a:noFill/>
        </p:spPr>
        <p:txBody>
          <a:bodyPr wrap="square" lIns="0" tIns="0" rIns="0" bIns="0" rtlCol="0" anchor="ctr"/>
          <a:lstStyle/>
          <a:p>
            <a:pPr marL="0" indent="0">
              <a:buNone/>
            </a:pPr>
            <a:r>
              <a:rPr lang="en-US" sz="900" kern="0" spc="200" dirty="0">
                <a:solidFill>
                  <a:srgbClr val="6B6B70"/>
                </a:solidFill>
                <a:latin typeface="Consolas" pitchFamily="34" charset="0"/>
                <a:ea typeface="Consolas" pitchFamily="34" charset="-122"/>
                <a:cs typeface="Consolas" pitchFamily="34" charset="-120"/>
              </a:rPr>
              <a:t>Origin</a:t>
            </a:r>
            <a:endParaRPr lang="en-US" sz="900" dirty="0"/>
          </a:p>
        </p:txBody>
      </p:sp>
      <p:sp>
        <p:nvSpPr>
          <p:cNvPr id="12" name="Text 10"/>
          <p:cNvSpPr/>
          <p:nvPr/>
        </p:nvSpPr>
        <p:spPr>
          <a:xfrm>
            <a:off x="3337560" y="2788920"/>
            <a:ext cx="1097280" cy="256032"/>
          </a:xfrm>
          <a:prstGeom prst="rect">
            <a:avLst/>
          </a:prstGeom>
          <a:noFill/>
        </p:spPr>
        <p:txBody>
          <a:bodyPr wrap="square" lIns="0" tIns="0" rIns="0" bIns="0" rtlCol="0" anchor="ctr"/>
          <a:lstStyle/>
          <a:p>
            <a:pPr marL="0" indent="0">
              <a:buNone/>
            </a:pPr>
            <a:r>
              <a:rPr lang="en-US" sz="900" kern="0" spc="200" dirty="0">
                <a:solidFill>
                  <a:srgbClr val="6B6B70"/>
                </a:solidFill>
                <a:latin typeface="Consolas" pitchFamily="34" charset="0"/>
                <a:ea typeface="Consolas" pitchFamily="34" charset="-122"/>
                <a:cs typeface="Consolas" pitchFamily="34" charset="-120"/>
              </a:rPr>
              <a:t>Threshold</a:t>
            </a:r>
            <a:endParaRPr lang="en-US" sz="900" dirty="0"/>
          </a:p>
        </p:txBody>
      </p:sp>
      <p:sp>
        <p:nvSpPr>
          <p:cNvPr id="13" name="Text 11"/>
          <p:cNvSpPr/>
          <p:nvPr/>
        </p:nvSpPr>
        <p:spPr>
          <a:xfrm>
            <a:off x="868680" y="3108960"/>
            <a:ext cx="1371600" cy="274320"/>
          </a:xfrm>
          <a:prstGeom prst="rect">
            <a:avLst/>
          </a:prstGeom>
          <a:noFill/>
        </p:spPr>
        <p:txBody>
          <a:bodyPr wrap="square" lIns="0" tIns="0" rIns="0" bIns="0" rtlCol="0" anchor="ctr"/>
          <a:lstStyle/>
          <a:p>
            <a:pPr marL="0" indent="0">
              <a:buNone/>
            </a:pPr>
            <a:r>
              <a:rPr lang="en-US" sz="1100" dirty="0">
                <a:solidFill>
                  <a:srgbClr val="1A1A1D"/>
                </a:solidFill>
                <a:latin typeface="Georgia" panose="02040502050405090303" pitchFamily="34" charset="0"/>
                <a:ea typeface="Georgia" panose="02040502050405090303" pitchFamily="34" charset="-122"/>
                <a:cs typeface="Georgia" panose="02040502050405090303" pitchFamily="34" charset="-120"/>
              </a:rPr>
              <a:t>Steel sport watches</a:t>
            </a:r>
            <a:endParaRPr lang="en-US" sz="1100" dirty="0"/>
          </a:p>
        </p:txBody>
      </p:sp>
      <p:sp>
        <p:nvSpPr>
          <p:cNvPr id="14" name="Text 12"/>
          <p:cNvSpPr/>
          <p:nvPr/>
        </p:nvSpPr>
        <p:spPr>
          <a:xfrm>
            <a:off x="2331720" y="3108960"/>
            <a:ext cx="822960" cy="274320"/>
          </a:xfrm>
          <a:prstGeom prst="rect">
            <a:avLst/>
          </a:prstGeom>
          <a:noFill/>
        </p:spPr>
        <p:txBody>
          <a:bodyPr wrap="square" lIns="0" tIns="0" rIns="0" bIns="0" rtlCol="0" anchor="ctr"/>
          <a:lstStyle/>
          <a:p>
            <a:pPr marL="0" indent="0">
              <a:buNone/>
            </a:pPr>
            <a:r>
              <a:rPr lang="en-US" sz="1200" b="1" dirty="0">
                <a:solidFill>
                  <a:srgbClr val="0E7C7B"/>
                </a:solidFill>
                <a:latin typeface="Consolas" pitchFamily="34" charset="0"/>
                <a:ea typeface="Consolas" pitchFamily="34" charset="-122"/>
                <a:cs typeface="Consolas" pitchFamily="34" charset="-120"/>
              </a:rPr>
              <a:t>50%</a:t>
            </a:r>
            <a:endParaRPr lang="en-US" sz="1200" dirty="0"/>
          </a:p>
        </p:txBody>
      </p:sp>
      <p:sp>
        <p:nvSpPr>
          <p:cNvPr id="15" name="Text 13"/>
          <p:cNvSpPr/>
          <p:nvPr/>
        </p:nvSpPr>
        <p:spPr>
          <a:xfrm>
            <a:off x="3337560" y="3108960"/>
            <a:ext cx="822960" cy="274320"/>
          </a:xfrm>
          <a:prstGeom prst="rect">
            <a:avLst/>
          </a:prstGeom>
          <a:noFill/>
        </p:spPr>
        <p:txBody>
          <a:bodyPr wrap="square" lIns="0" tIns="0" rIns="0" bIns="0" rtlCol="0" anchor="ctr"/>
          <a:lstStyle/>
          <a:p>
            <a:pPr marL="0" indent="0">
              <a:buNone/>
            </a:pPr>
            <a:r>
              <a:rPr lang="en-US" sz="1200" dirty="0">
                <a:solidFill>
                  <a:srgbClr val="6B6B70"/>
                </a:solidFill>
                <a:latin typeface="Consolas" pitchFamily="34" charset="0"/>
                <a:ea typeface="Consolas" pitchFamily="34" charset="-122"/>
                <a:cs typeface="Consolas" pitchFamily="34" charset="-120"/>
              </a:rPr>
              <a:t>70%</a:t>
            </a:r>
            <a:endParaRPr lang="en-US" sz="1200" dirty="0"/>
          </a:p>
        </p:txBody>
      </p:sp>
      <p:sp>
        <p:nvSpPr>
          <p:cNvPr id="16" name="Text 14"/>
          <p:cNvSpPr/>
          <p:nvPr/>
        </p:nvSpPr>
        <p:spPr>
          <a:xfrm>
            <a:off x="868680" y="3566160"/>
            <a:ext cx="1371600" cy="274320"/>
          </a:xfrm>
          <a:prstGeom prst="rect">
            <a:avLst/>
          </a:prstGeom>
          <a:noFill/>
        </p:spPr>
        <p:txBody>
          <a:bodyPr wrap="square" lIns="0" tIns="0" rIns="0" bIns="0" rtlCol="0" anchor="ctr"/>
          <a:lstStyle/>
          <a:p>
            <a:pPr marL="0" indent="0">
              <a:buNone/>
            </a:pPr>
            <a:r>
              <a:rPr lang="en-US" sz="1100" dirty="0">
                <a:solidFill>
                  <a:srgbClr val="1A1A1D"/>
                </a:solidFill>
                <a:latin typeface="Georgia" panose="02040502050405090303" pitchFamily="34" charset="0"/>
                <a:ea typeface="Georgia" panose="02040502050405090303" pitchFamily="34" charset="-122"/>
                <a:cs typeface="Georgia" panose="02040502050405090303" pitchFamily="34" charset="-120"/>
              </a:rPr>
              <a:t>Gold / precious</a:t>
            </a:r>
            <a:endParaRPr lang="en-US" sz="1100" dirty="0"/>
          </a:p>
        </p:txBody>
      </p:sp>
      <p:sp>
        <p:nvSpPr>
          <p:cNvPr id="17" name="Text 15"/>
          <p:cNvSpPr/>
          <p:nvPr/>
        </p:nvSpPr>
        <p:spPr>
          <a:xfrm>
            <a:off x="2331720" y="3566160"/>
            <a:ext cx="822960" cy="274320"/>
          </a:xfrm>
          <a:prstGeom prst="rect">
            <a:avLst/>
          </a:prstGeom>
          <a:noFill/>
        </p:spPr>
        <p:txBody>
          <a:bodyPr wrap="square" lIns="0" tIns="0" rIns="0" bIns="0" rtlCol="0" anchor="ctr"/>
          <a:lstStyle/>
          <a:p>
            <a:pPr marL="0" indent="0">
              <a:buNone/>
            </a:pPr>
            <a:r>
              <a:rPr lang="en-US" sz="1200" b="1" dirty="0">
                <a:solidFill>
                  <a:srgbClr val="0E7C7B"/>
                </a:solidFill>
                <a:latin typeface="Consolas" pitchFamily="34" charset="0"/>
                <a:ea typeface="Consolas" pitchFamily="34" charset="-122"/>
                <a:cs typeface="Consolas" pitchFamily="34" charset="-120"/>
              </a:rPr>
              <a:t>40%</a:t>
            </a:r>
            <a:endParaRPr lang="en-US" sz="1200" dirty="0"/>
          </a:p>
        </p:txBody>
      </p:sp>
      <p:sp>
        <p:nvSpPr>
          <p:cNvPr id="18" name="Text 16"/>
          <p:cNvSpPr/>
          <p:nvPr/>
        </p:nvSpPr>
        <p:spPr>
          <a:xfrm>
            <a:off x="3337560" y="3566160"/>
            <a:ext cx="822960" cy="274320"/>
          </a:xfrm>
          <a:prstGeom prst="rect">
            <a:avLst/>
          </a:prstGeom>
          <a:noFill/>
        </p:spPr>
        <p:txBody>
          <a:bodyPr wrap="square" lIns="0" tIns="0" rIns="0" bIns="0" rtlCol="0" anchor="ctr"/>
          <a:lstStyle/>
          <a:p>
            <a:pPr marL="0" indent="0">
              <a:buNone/>
            </a:pPr>
            <a:r>
              <a:rPr lang="en-US" sz="1200" dirty="0">
                <a:solidFill>
                  <a:srgbClr val="6B6B70"/>
                </a:solidFill>
                <a:latin typeface="Consolas" pitchFamily="34" charset="0"/>
                <a:ea typeface="Consolas" pitchFamily="34" charset="-122"/>
                <a:cs typeface="Consolas" pitchFamily="34" charset="-120"/>
              </a:rPr>
              <a:t>60%</a:t>
            </a:r>
            <a:endParaRPr lang="en-US" sz="1200" dirty="0"/>
          </a:p>
        </p:txBody>
      </p:sp>
      <p:sp>
        <p:nvSpPr>
          <p:cNvPr id="19" name="Text 17"/>
          <p:cNvSpPr/>
          <p:nvPr/>
        </p:nvSpPr>
        <p:spPr>
          <a:xfrm>
            <a:off x="868680" y="4023360"/>
            <a:ext cx="1371600" cy="274320"/>
          </a:xfrm>
          <a:prstGeom prst="rect">
            <a:avLst/>
          </a:prstGeom>
          <a:noFill/>
        </p:spPr>
        <p:txBody>
          <a:bodyPr wrap="square" lIns="0" tIns="0" rIns="0" bIns="0" rtlCol="0" anchor="ctr"/>
          <a:lstStyle/>
          <a:p>
            <a:pPr marL="0" indent="0">
              <a:buNone/>
            </a:pPr>
            <a:r>
              <a:rPr lang="en-US" sz="1100" dirty="0">
                <a:solidFill>
                  <a:srgbClr val="1A1A1D"/>
                </a:solidFill>
                <a:latin typeface="Georgia" panose="02040502050405090303" pitchFamily="34" charset="0"/>
                <a:ea typeface="Georgia" panose="02040502050405090303" pitchFamily="34" charset="-122"/>
                <a:cs typeface="Georgia" panose="02040502050405090303" pitchFamily="34" charset="-120"/>
              </a:rPr>
              <a:t>Handbags</a:t>
            </a:r>
            <a:endParaRPr lang="en-US" sz="1100" dirty="0"/>
          </a:p>
        </p:txBody>
      </p:sp>
      <p:sp>
        <p:nvSpPr>
          <p:cNvPr id="20" name="Text 18"/>
          <p:cNvSpPr/>
          <p:nvPr/>
        </p:nvSpPr>
        <p:spPr>
          <a:xfrm>
            <a:off x="2331720" y="4023360"/>
            <a:ext cx="822960" cy="274320"/>
          </a:xfrm>
          <a:prstGeom prst="rect">
            <a:avLst/>
          </a:prstGeom>
          <a:noFill/>
        </p:spPr>
        <p:txBody>
          <a:bodyPr wrap="square" lIns="0" tIns="0" rIns="0" bIns="0" rtlCol="0" anchor="ctr"/>
          <a:lstStyle/>
          <a:p>
            <a:pPr marL="0" indent="0">
              <a:buNone/>
            </a:pPr>
            <a:r>
              <a:rPr lang="en-US" sz="1200" b="1" dirty="0">
                <a:solidFill>
                  <a:srgbClr val="0E7C7B"/>
                </a:solidFill>
                <a:latin typeface="Consolas" pitchFamily="34" charset="0"/>
                <a:ea typeface="Consolas" pitchFamily="34" charset="-122"/>
                <a:cs typeface="Consolas" pitchFamily="34" charset="-120"/>
              </a:rPr>
              <a:t>35%</a:t>
            </a:r>
            <a:endParaRPr lang="en-US" sz="1200" dirty="0"/>
          </a:p>
        </p:txBody>
      </p:sp>
      <p:sp>
        <p:nvSpPr>
          <p:cNvPr id="21" name="Text 19"/>
          <p:cNvSpPr/>
          <p:nvPr/>
        </p:nvSpPr>
        <p:spPr>
          <a:xfrm>
            <a:off x="3337560" y="4023360"/>
            <a:ext cx="822960" cy="274320"/>
          </a:xfrm>
          <a:prstGeom prst="rect">
            <a:avLst/>
          </a:prstGeom>
          <a:noFill/>
        </p:spPr>
        <p:txBody>
          <a:bodyPr wrap="square" lIns="0" tIns="0" rIns="0" bIns="0" rtlCol="0" anchor="ctr"/>
          <a:lstStyle/>
          <a:p>
            <a:pPr marL="0" indent="0">
              <a:buNone/>
            </a:pPr>
            <a:r>
              <a:rPr lang="en-US" sz="1200" dirty="0">
                <a:solidFill>
                  <a:srgbClr val="6B6B70"/>
                </a:solidFill>
                <a:latin typeface="Consolas" pitchFamily="34" charset="0"/>
                <a:ea typeface="Consolas" pitchFamily="34" charset="-122"/>
                <a:cs typeface="Consolas" pitchFamily="34" charset="-120"/>
              </a:rPr>
              <a:t>55%</a:t>
            </a:r>
            <a:endParaRPr lang="en-US" sz="1200" dirty="0"/>
          </a:p>
        </p:txBody>
      </p:sp>
      <p:sp>
        <p:nvSpPr>
          <p:cNvPr id="22" name="Text 20"/>
          <p:cNvSpPr/>
          <p:nvPr/>
        </p:nvSpPr>
        <p:spPr>
          <a:xfrm>
            <a:off x="868680" y="4480560"/>
            <a:ext cx="1371600" cy="274320"/>
          </a:xfrm>
          <a:prstGeom prst="rect">
            <a:avLst/>
          </a:prstGeom>
          <a:noFill/>
        </p:spPr>
        <p:txBody>
          <a:bodyPr wrap="square" lIns="0" tIns="0" rIns="0" bIns="0" rtlCol="0" anchor="ctr"/>
          <a:lstStyle/>
          <a:p>
            <a:pPr marL="0" indent="0">
              <a:buNone/>
            </a:pPr>
            <a:r>
              <a:rPr lang="en-US" sz="1100" dirty="0">
                <a:solidFill>
                  <a:srgbClr val="1A1A1D"/>
                </a:solidFill>
                <a:latin typeface="Georgia" panose="02040502050405090303" pitchFamily="34" charset="0"/>
                <a:ea typeface="Georgia" panose="02040502050405090303" pitchFamily="34" charset="-122"/>
                <a:cs typeface="Georgia" panose="02040502050405090303" pitchFamily="34" charset="-120"/>
              </a:rPr>
              <a:t>Art / one-offs</a:t>
            </a:r>
            <a:endParaRPr lang="en-US" sz="1100" dirty="0"/>
          </a:p>
        </p:txBody>
      </p:sp>
      <p:sp>
        <p:nvSpPr>
          <p:cNvPr id="23" name="Text 21"/>
          <p:cNvSpPr/>
          <p:nvPr/>
        </p:nvSpPr>
        <p:spPr>
          <a:xfrm>
            <a:off x="2331720" y="4480560"/>
            <a:ext cx="822960" cy="274320"/>
          </a:xfrm>
          <a:prstGeom prst="rect">
            <a:avLst/>
          </a:prstGeom>
          <a:noFill/>
        </p:spPr>
        <p:txBody>
          <a:bodyPr wrap="square" lIns="0" tIns="0" rIns="0" bIns="0" rtlCol="0" anchor="ctr"/>
          <a:lstStyle/>
          <a:p>
            <a:pPr marL="0" indent="0">
              <a:buNone/>
            </a:pPr>
            <a:r>
              <a:rPr lang="en-US" sz="1200" b="1" dirty="0">
                <a:solidFill>
                  <a:srgbClr val="0E7C7B"/>
                </a:solidFill>
                <a:latin typeface="Consolas" pitchFamily="34" charset="0"/>
                <a:ea typeface="Consolas" pitchFamily="34" charset="-122"/>
                <a:cs typeface="Consolas" pitchFamily="34" charset="-120"/>
              </a:rPr>
              <a:t>25%</a:t>
            </a:r>
            <a:endParaRPr lang="en-US" sz="1200" dirty="0"/>
          </a:p>
        </p:txBody>
      </p:sp>
      <p:sp>
        <p:nvSpPr>
          <p:cNvPr id="24" name="Text 22"/>
          <p:cNvSpPr/>
          <p:nvPr/>
        </p:nvSpPr>
        <p:spPr>
          <a:xfrm>
            <a:off x="3337560" y="4480560"/>
            <a:ext cx="822960" cy="274320"/>
          </a:xfrm>
          <a:prstGeom prst="rect">
            <a:avLst/>
          </a:prstGeom>
          <a:noFill/>
        </p:spPr>
        <p:txBody>
          <a:bodyPr wrap="square" lIns="0" tIns="0" rIns="0" bIns="0" rtlCol="0" anchor="ctr"/>
          <a:lstStyle/>
          <a:p>
            <a:pPr marL="0" indent="0">
              <a:buNone/>
            </a:pPr>
            <a:r>
              <a:rPr lang="en-US" sz="1200" dirty="0">
                <a:solidFill>
                  <a:srgbClr val="6B6B70"/>
                </a:solidFill>
                <a:latin typeface="Consolas" pitchFamily="34" charset="0"/>
                <a:ea typeface="Consolas" pitchFamily="34" charset="-122"/>
                <a:cs typeface="Consolas" pitchFamily="34" charset="-120"/>
              </a:rPr>
              <a:t>45%</a:t>
            </a:r>
            <a:endParaRPr lang="en-US" sz="1200" dirty="0"/>
          </a:p>
        </p:txBody>
      </p:sp>
      <p:sp>
        <p:nvSpPr>
          <p:cNvPr id="25" name="Shape 23"/>
          <p:cNvSpPr/>
          <p:nvPr/>
        </p:nvSpPr>
        <p:spPr>
          <a:xfrm>
            <a:off x="4338218" y="2194560"/>
            <a:ext cx="3515258" cy="3200400"/>
          </a:xfrm>
          <a:prstGeom prst="rect">
            <a:avLst/>
          </a:prstGeom>
          <a:solidFill>
            <a:srgbClr val="FFFFFF"/>
          </a:solidFill>
          <a:ln w="9525">
            <a:solidFill>
              <a:srgbClr val="E5E2D8"/>
            </a:solidFill>
            <a:prstDash val="solid"/>
          </a:ln>
        </p:spPr>
      </p:sp>
      <p:sp>
        <p:nvSpPr>
          <p:cNvPr id="26" name="Text 24"/>
          <p:cNvSpPr/>
          <p:nvPr/>
        </p:nvSpPr>
        <p:spPr>
          <a:xfrm>
            <a:off x="4566818" y="2359152"/>
            <a:ext cx="3058058" cy="274320"/>
          </a:xfrm>
          <a:prstGeom prst="rect">
            <a:avLst/>
          </a:prstGeom>
          <a:noFill/>
        </p:spPr>
        <p:txBody>
          <a:bodyPr wrap="square" lIns="0" tIns="0" rIns="0" bIns="0" rtlCol="0" anchor="ctr"/>
          <a:lstStyle/>
          <a:p>
            <a:pPr marL="0" indent="0">
              <a:buNone/>
            </a:pPr>
            <a:r>
              <a:rPr lang="en-US" sz="1000" b="1" kern="0" spc="300" dirty="0">
                <a:solidFill>
                  <a:srgbClr val="0E7C7B"/>
                </a:solidFill>
                <a:latin typeface="Consolas" pitchFamily="34" charset="0"/>
                <a:ea typeface="Consolas" pitchFamily="34" charset="-122"/>
                <a:cs typeface="Consolas" pitchFamily="34" charset="-120"/>
              </a:rPr>
              <a:t>14-DAY DEFAULT PATH</a:t>
            </a:r>
            <a:endParaRPr lang="en-US" sz="1000" dirty="0"/>
          </a:p>
        </p:txBody>
      </p:sp>
      <p:sp>
        <p:nvSpPr>
          <p:cNvPr id="27" name="Shape 25"/>
          <p:cNvSpPr/>
          <p:nvPr/>
        </p:nvSpPr>
        <p:spPr>
          <a:xfrm>
            <a:off x="4566818" y="2697480"/>
            <a:ext cx="3058058" cy="0"/>
          </a:xfrm>
          <a:prstGeom prst="line">
            <a:avLst/>
          </a:prstGeom>
          <a:noFill/>
          <a:ln w="6350">
            <a:solidFill>
              <a:srgbClr val="E5E2D8"/>
            </a:solidFill>
            <a:prstDash val="solid"/>
          </a:ln>
        </p:spPr>
      </p:sp>
      <p:sp>
        <p:nvSpPr>
          <p:cNvPr id="28" name="Shape 26"/>
          <p:cNvSpPr/>
          <p:nvPr/>
        </p:nvSpPr>
        <p:spPr>
          <a:xfrm>
            <a:off x="4612538" y="2999232"/>
            <a:ext cx="118872" cy="118872"/>
          </a:xfrm>
          <a:prstGeom prst="ellipse">
            <a:avLst/>
          </a:prstGeom>
          <a:solidFill>
            <a:srgbClr val="0E7C7B"/>
          </a:solidFill>
          <a:ln w="12700">
            <a:solidFill>
              <a:srgbClr val="0E7C7B"/>
            </a:solidFill>
            <a:prstDash val="solid"/>
          </a:ln>
        </p:spPr>
      </p:sp>
      <p:sp>
        <p:nvSpPr>
          <p:cNvPr id="29" name="Shape 27"/>
          <p:cNvSpPr/>
          <p:nvPr/>
        </p:nvSpPr>
        <p:spPr>
          <a:xfrm>
            <a:off x="4671974" y="3118104"/>
            <a:ext cx="0" cy="310896"/>
          </a:xfrm>
          <a:prstGeom prst="line">
            <a:avLst/>
          </a:prstGeom>
          <a:noFill/>
          <a:ln w="12700">
            <a:solidFill>
              <a:srgbClr val="E5E2D8"/>
            </a:solidFill>
            <a:prstDash val="solid"/>
          </a:ln>
        </p:spPr>
      </p:sp>
      <p:sp>
        <p:nvSpPr>
          <p:cNvPr id="30" name="Text 28"/>
          <p:cNvSpPr/>
          <p:nvPr/>
        </p:nvSpPr>
        <p:spPr>
          <a:xfrm>
            <a:off x="4841138" y="2880360"/>
            <a:ext cx="640080" cy="256032"/>
          </a:xfrm>
          <a:prstGeom prst="rect">
            <a:avLst/>
          </a:prstGeom>
          <a:noFill/>
        </p:spPr>
        <p:txBody>
          <a:bodyPr wrap="square" lIns="0" tIns="0" rIns="0" bIns="0" rtlCol="0" anchor="ctr"/>
          <a:lstStyle/>
          <a:p>
            <a:pPr marL="0" indent="0">
              <a:buNone/>
            </a:pPr>
            <a:r>
              <a:rPr lang="en-US" sz="1100" b="1" dirty="0">
                <a:solidFill>
                  <a:srgbClr val="0E7C7B"/>
                </a:solidFill>
                <a:latin typeface="Consolas" pitchFamily="34" charset="0"/>
                <a:ea typeface="Consolas" pitchFamily="34" charset="-122"/>
                <a:cs typeface="Consolas" pitchFamily="34" charset="-120"/>
              </a:rPr>
              <a:t>T+0</a:t>
            </a:r>
            <a:endParaRPr lang="en-US" sz="1100" dirty="0"/>
          </a:p>
        </p:txBody>
      </p:sp>
      <p:sp>
        <p:nvSpPr>
          <p:cNvPr id="31" name="Text 29"/>
          <p:cNvSpPr/>
          <p:nvPr/>
        </p:nvSpPr>
        <p:spPr>
          <a:xfrm>
            <a:off x="5481218" y="2880360"/>
            <a:ext cx="2189378" cy="256032"/>
          </a:xfrm>
          <a:prstGeom prst="rect">
            <a:avLst/>
          </a:prstGeom>
          <a:noFill/>
        </p:spPr>
        <p:txBody>
          <a:bodyPr wrap="square" lIns="0" tIns="0" rIns="0" bIns="0" rtlCol="0" anchor="ctr"/>
          <a:lstStyle/>
          <a:p>
            <a:pPr marL="0" indent="0">
              <a:buNone/>
            </a:pPr>
            <a:r>
              <a:rPr lang="en-US" sz="1200" b="1" dirty="0">
                <a:solidFill>
                  <a:srgbClr val="1A1A1D"/>
                </a:solidFill>
                <a:latin typeface="Georgia" panose="02040502050405090303" pitchFamily="34" charset="0"/>
                <a:ea typeface="Georgia" panose="02040502050405090303" pitchFamily="34" charset="-122"/>
                <a:cs typeface="Georgia" panose="02040502050405090303" pitchFamily="34" charset="-120"/>
              </a:rPr>
              <a:t>Margin call</a:t>
            </a:r>
            <a:endParaRPr lang="en-US" sz="1200" dirty="0"/>
          </a:p>
        </p:txBody>
      </p:sp>
      <p:sp>
        <p:nvSpPr>
          <p:cNvPr id="32" name="Text 30"/>
          <p:cNvSpPr/>
          <p:nvPr/>
        </p:nvSpPr>
        <p:spPr>
          <a:xfrm>
            <a:off x="5481218" y="3099816"/>
            <a:ext cx="2189378" cy="219456"/>
          </a:xfrm>
          <a:prstGeom prst="rect">
            <a:avLst/>
          </a:prstGeom>
          <a:noFill/>
        </p:spPr>
        <p:txBody>
          <a:bodyPr wrap="square" lIns="0" tIns="0" rIns="0" bIns="0" rtlCol="0" anchor="ctr"/>
          <a:lstStyle/>
          <a:p>
            <a:pPr marL="0" indent="0">
              <a:buNone/>
            </a:pPr>
            <a:r>
              <a:rPr lang="en-US" sz="950" i="1" dirty="0">
                <a:solidFill>
                  <a:srgbClr val="6B6B70"/>
                </a:solidFill>
                <a:latin typeface="Calibri" pitchFamily="34" charset="0"/>
                <a:ea typeface="Calibri" pitchFamily="34" charset="-122"/>
                <a:cs typeface="Calibri" pitchFamily="34" charset="-120"/>
              </a:rPr>
              <a:t>24h to top up</a:t>
            </a:r>
            <a:endParaRPr lang="en-US" sz="950" dirty="0"/>
          </a:p>
        </p:txBody>
      </p:sp>
      <p:sp>
        <p:nvSpPr>
          <p:cNvPr id="33" name="Shape 31"/>
          <p:cNvSpPr/>
          <p:nvPr/>
        </p:nvSpPr>
        <p:spPr>
          <a:xfrm>
            <a:off x="4612538" y="3456432"/>
            <a:ext cx="118872" cy="118872"/>
          </a:xfrm>
          <a:prstGeom prst="ellipse">
            <a:avLst/>
          </a:prstGeom>
          <a:solidFill>
            <a:srgbClr val="0E7C7B"/>
          </a:solidFill>
          <a:ln w="12700">
            <a:solidFill>
              <a:srgbClr val="0E7C7B"/>
            </a:solidFill>
            <a:prstDash val="solid"/>
          </a:ln>
        </p:spPr>
      </p:sp>
      <p:sp>
        <p:nvSpPr>
          <p:cNvPr id="34" name="Shape 32"/>
          <p:cNvSpPr/>
          <p:nvPr/>
        </p:nvSpPr>
        <p:spPr>
          <a:xfrm>
            <a:off x="4671974" y="3575304"/>
            <a:ext cx="0" cy="310896"/>
          </a:xfrm>
          <a:prstGeom prst="line">
            <a:avLst/>
          </a:prstGeom>
          <a:noFill/>
          <a:ln w="12700">
            <a:solidFill>
              <a:srgbClr val="E5E2D8"/>
            </a:solidFill>
            <a:prstDash val="solid"/>
          </a:ln>
        </p:spPr>
      </p:sp>
      <p:sp>
        <p:nvSpPr>
          <p:cNvPr id="35" name="Text 33"/>
          <p:cNvSpPr/>
          <p:nvPr/>
        </p:nvSpPr>
        <p:spPr>
          <a:xfrm>
            <a:off x="4841138" y="3337560"/>
            <a:ext cx="640080" cy="256032"/>
          </a:xfrm>
          <a:prstGeom prst="rect">
            <a:avLst/>
          </a:prstGeom>
          <a:noFill/>
        </p:spPr>
        <p:txBody>
          <a:bodyPr wrap="square" lIns="0" tIns="0" rIns="0" bIns="0" rtlCol="0" anchor="ctr"/>
          <a:lstStyle/>
          <a:p>
            <a:pPr marL="0" indent="0">
              <a:buNone/>
            </a:pPr>
            <a:r>
              <a:rPr lang="en-US" sz="1100" b="1" dirty="0">
                <a:solidFill>
                  <a:srgbClr val="0E7C7B"/>
                </a:solidFill>
                <a:latin typeface="Consolas" pitchFamily="34" charset="0"/>
                <a:ea typeface="Consolas" pitchFamily="34" charset="-122"/>
                <a:cs typeface="Consolas" pitchFamily="34" charset="-120"/>
              </a:rPr>
              <a:t>T+1</a:t>
            </a:r>
            <a:endParaRPr lang="en-US" sz="1100" dirty="0"/>
          </a:p>
        </p:txBody>
      </p:sp>
      <p:sp>
        <p:nvSpPr>
          <p:cNvPr id="36" name="Text 34"/>
          <p:cNvSpPr/>
          <p:nvPr/>
        </p:nvSpPr>
        <p:spPr>
          <a:xfrm>
            <a:off x="5481218" y="3337560"/>
            <a:ext cx="2189378" cy="256032"/>
          </a:xfrm>
          <a:prstGeom prst="rect">
            <a:avLst/>
          </a:prstGeom>
          <a:noFill/>
        </p:spPr>
        <p:txBody>
          <a:bodyPr wrap="square" lIns="0" tIns="0" rIns="0" bIns="0" rtlCol="0" anchor="ctr"/>
          <a:lstStyle/>
          <a:p>
            <a:pPr marL="0" indent="0">
              <a:buNone/>
            </a:pPr>
            <a:r>
              <a:rPr lang="en-US" sz="1200" b="1" dirty="0">
                <a:solidFill>
                  <a:srgbClr val="1A1A1D"/>
                </a:solidFill>
                <a:latin typeface="Georgia" panose="02040502050405090303" pitchFamily="34" charset="0"/>
                <a:ea typeface="Georgia" panose="02040502050405090303" pitchFamily="34" charset="-122"/>
                <a:cs typeface="Georgia" panose="02040502050405090303" pitchFamily="34" charset="-120"/>
              </a:rPr>
              <a:t>Pool LPs</a:t>
            </a:r>
            <a:endParaRPr lang="en-US" sz="1200" dirty="0"/>
          </a:p>
        </p:txBody>
      </p:sp>
      <p:sp>
        <p:nvSpPr>
          <p:cNvPr id="37" name="Text 35"/>
          <p:cNvSpPr/>
          <p:nvPr/>
        </p:nvSpPr>
        <p:spPr>
          <a:xfrm>
            <a:off x="5481218" y="3557016"/>
            <a:ext cx="2189378" cy="219456"/>
          </a:xfrm>
          <a:prstGeom prst="rect">
            <a:avLst/>
          </a:prstGeom>
          <a:noFill/>
        </p:spPr>
        <p:txBody>
          <a:bodyPr wrap="square" lIns="0" tIns="0" rIns="0" bIns="0" rtlCol="0" anchor="ctr"/>
          <a:lstStyle/>
          <a:p>
            <a:pPr marL="0" indent="0">
              <a:buNone/>
            </a:pPr>
            <a:r>
              <a:rPr lang="en-US" sz="950" i="1" dirty="0">
                <a:solidFill>
                  <a:srgbClr val="6B6B70"/>
                </a:solidFill>
                <a:latin typeface="Calibri" pitchFamily="34" charset="0"/>
                <a:ea typeface="Calibri" pitchFamily="34" charset="-122"/>
                <a:cs typeface="Calibri" pitchFamily="34" charset="-120"/>
              </a:rPr>
              <a:t>last appraisal floor</a:t>
            </a:r>
            <a:endParaRPr lang="en-US" sz="950" dirty="0"/>
          </a:p>
        </p:txBody>
      </p:sp>
      <p:sp>
        <p:nvSpPr>
          <p:cNvPr id="38" name="Shape 36"/>
          <p:cNvSpPr/>
          <p:nvPr/>
        </p:nvSpPr>
        <p:spPr>
          <a:xfrm>
            <a:off x="4612538" y="3913632"/>
            <a:ext cx="118872" cy="118872"/>
          </a:xfrm>
          <a:prstGeom prst="ellipse">
            <a:avLst/>
          </a:prstGeom>
          <a:solidFill>
            <a:srgbClr val="0E7C7B"/>
          </a:solidFill>
          <a:ln w="12700">
            <a:solidFill>
              <a:srgbClr val="0E7C7B"/>
            </a:solidFill>
            <a:prstDash val="solid"/>
          </a:ln>
        </p:spPr>
      </p:sp>
      <p:sp>
        <p:nvSpPr>
          <p:cNvPr id="39" name="Shape 37"/>
          <p:cNvSpPr/>
          <p:nvPr/>
        </p:nvSpPr>
        <p:spPr>
          <a:xfrm>
            <a:off x="4671974" y="4032504"/>
            <a:ext cx="0" cy="310896"/>
          </a:xfrm>
          <a:prstGeom prst="line">
            <a:avLst/>
          </a:prstGeom>
          <a:noFill/>
          <a:ln w="12700">
            <a:solidFill>
              <a:srgbClr val="E5E2D8"/>
            </a:solidFill>
            <a:prstDash val="solid"/>
          </a:ln>
        </p:spPr>
      </p:sp>
      <p:sp>
        <p:nvSpPr>
          <p:cNvPr id="40" name="Text 38"/>
          <p:cNvSpPr/>
          <p:nvPr/>
        </p:nvSpPr>
        <p:spPr>
          <a:xfrm>
            <a:off x="4841138" y="3794760"/>
            <a:ext cx="640080" cy="256032"/>
          </a:xfrm>
          <a:prstGeom prst="rect">
            <a:avLst/>
          </a:prstGeom>
          <a:noFill/>
        </p:spPr>
        <p:txBody>
          <a:bodyPr wrap="square" lIns="0" tIns="0" rIns="0" bIns="0" rtlCol="0" anchor="ctr"/>
          <a:lstStyle/>
          <a:p>
            <a:pPr marL="0" indent="0">
              <a:buNone/>
            </a:pPr>
            <a:r>
              <a:rPr lang="en-US" sz="1100" b="1" dirty="0">
                <a:solidFill>
                  <a:srgbClr val="0E7C7B"/>
                </a:solidFill>
                <a:latin typeface="Consolas" pitchFamily="34" charset="0"/>
                <a:ea typeface="Consolas" pitchFamily="34" charset="-122"/>
                <a:cs typeface="Consolas" pitchFamily="34" charset="-120"/>
              </a:rPr>
              <a:t>T+3</a:t>
            </a:r>
            <a:endParaRPr lang="en-US" sz="1100" dirty="0"/>
          </a:p>
        </p:txBody>
      </p:sp>
      <p:sp>
        <p:nvSpPr>
          <p:cNvPr id="41" name="Text 39"/>
          <p:cNvSpPr/>
          <p:nvPr/>
        </p:nvSpPr>
        <p:spPr>
          <a:xfrm>
            <a:off x="5481218" y="3794760"/>
            <a:ext cx="2189378" cy="256032"/>
          </a:xfrm>
          <a:prstGeom prst="rect">
            <a:avLst/>
          </a:prstGeom>
          <a:noFill/>
        </p:spPr>
        <p:txBody>
          <a:bodyPr wrap="square" lIns="0" tIns="0" rIns="0" bIns="0" rtlCol="0" anchor="ctr"/>
          <a:lstStyle/>
          <a:p>
            <a:pPr marL="0" indent="0">
              <a:buNone/>
            </a:pPr>
            <a:r>
              <a:rPr lang="en-US" sz="1200" b="1" dirty="0">
                <a:solidFill>
                  <a:srgbClr val="1A1A1D"/>
                </a:solidFill>
                <a:latin typeface="Georgia" panose="02040502050405090303" pitchFamily="34" charset="0"/>
                <a:ea typeface="Georgia" panose="02040502050405090303" pitchFamily="34" charset="-122"/>
                <a:cs typeface="Georgia" panose="02040502050405090303" pitchFamily="34" charset="-120"/>
              </a:rPr>
              <a:t>Resellers</a:t>
            </a:r>
            <a:endParaRPr lang="en-US" sz="1200" dirty="0"/>
          </a:p>
        </p:txBody>
      </p:sp>
      <p:sp>
        <p:nvSpPr>
          <p:cNvPr id="42" name="Text 40"/>
          <p:cNvSpPr/>
          <p:nvPr/>
        </p:nvSpPr>
        <p:spPr>
          <a:xfrm>
            <a:off x="5481218" y="4014216"/>
            <a:ext cx="2189378" cy="219456"/>
          </a:xfrm>
          <a:prstGeom prst="rect">
            <a:avLst/>
          </a:prstGeom>
          <a:noFill/>
        </p:spPr>
        <p:txBody>
          <a:bodyPr wrap="square" lIns="0" tIns="0" rIns="0" bIns="0" rtlCol="0" anchor="ctr"/>
          <a:lstStyle/>
          <a:p>
            <a:pPr marL="0" indent="0">
              <a:buNone/>
            </a:pPr>
            <a:r>
              <a:rPr lang="en-US" sz="950" i="1" dirty="0">
                <a:solidFill>
                  <a:srgbClr val="6B6B70"/>
                </a:solidFill>
                <a:latin typeface="Calibri" pitchFamily="34" charset="0"/>
                <a:ea typeface="Calibri" pitchFamily="34" charset="-122"/>
                <a:cs typeface="Calibri" pitchFamily="34" charset="-120"/>
              </a:rPr>
              <a:t>authorized network</a:t>
            </a:r>
            <a:endParaRPr lang="en-US" sz="950" dirty="0"/>
          </a:p>
        </p:txBody>
      </p:sp>
      <p:sp>
        <p:nvSpPr>
          <p:cNvPr id="43" name="Shape 41"/>
          <p:cNvSpPr/>
          <p:nvPr/>
        </p:nvSpPr>
        <p:spPr>
          <a:xfrm>
            <a:off x="4612538" y="4370832"/>
            <a:ext cx="118872" cy="118872"/>
          </a:xfrm>
          <a:prstGeom prst="ellipse">
            <a:avLst/>
          </a:prstGeom>
          <a:solidFill>
            <a:srgbClr val="0E7C7B"/>
          </a:solidFill>
          <a:ln w="12700">
            <a:solidFill>
              <a:srgbClr val="0E7C7B"/>
            </a:solidFill>
            <a:prstDash val="solid"/>
          </a:ln>
        </p:spPr>
      </p:sp>
      <p:sp>
        <p:nvSpPr>
          <p:cNvPr id="44" name="Shape 42"/>
          <p:cNvSpPr/>
          <p:nvPr/>
        </p:nvSpPr>
        <p:spPr>
          <a:xfrm>
            <a:off x="4671974" y="4489704"/>
            <a:ext cx="0" cy="310896"/>
          </a:xfrm>
          <a:prstGeom prst="line">
            <a:avLst/>
          </a:prstGeom>
          <a:noFill/>
          <a:ln w="12700">
            <a:solidFill>
              <a:srgbClr val="E5E2D8"/>
            </a:solidFill>
            <a:prstDash val="solid"/>
          </a:ln>
        </p:spPr>
      </p:sp>
      <p:sp>
        <p:nvSpPr>
          <p:cNvPr id="45" name="Text 43"/>
          <p:cNvSpPr/>
          <p:nvPr/>
        </p:nvSpPr>
        <p:spPr>
          <a:xfrm>
            <a:off x="4841138" y="4251960"/>
            <a:ext cx="640080" cy="256032"/>
          </a:xfrm>
          <a:prstGeom prst="rect">
            <a:avLst/>
          </a:prstGeom>
          <a:noFill/>
        </p:spPr>
        <p:txBody>
          <a:bodyPr wrap="square" lIns="0" tIns="0" rIns="0" bIns="0" rtlCol="0" anchor="ctr"/>
          <a:lstStyle/>
          <a:p>
            <a:pPr marL="0" indent="0">
              <a:buNone/>
            </a:pPr>
            <a:r>
              <a:rPr lang="en-US" sz="1100" b="1" dirty="0">
                <a:solidFill>
                  <a:srgbClr val="0E7C7B"/>
                </a:solidFill>
                <a:latin typeface="Consolas" pitchFamily="34" charset="0"/>
                <a:ea typeface="Consolas" pitchFamily="34" charset="-122"/>
                <a:cs typeface="Consolas" pitchFamily="34" charset="-120"/>
              </a:rPr>
              <a:t>T+7</a:t>
            </a:r>
            <a:endParaRPr lang="en-US" sz="1100" dirty="0"/>
          </a:p>
        </p:txBody>
      </p:sp>
      <p:sp>
        <p:nvSpPr>
          <p:cNvPr id="46" name="Text 44"/>
          <p:cNvSpPr/>
          <p:nvPr/>
        </p:nvSpPr>
        <p:spPr>
          <a:xfrm>
            <a:off x="5481218" y="4251960"/>
            <a:ext cx="2189378" cy="256032"/>
          </a:xfrm>
          <a:prstGeom prst="rect">
            <a:avLst/>
          </a:prstGeom>
          <a:noFill/>
        </p:spPr>
        <p:txBody>
          <a:bodyPr wrap="square" lIns="0" tIns="0" rIns="0" bIns="0" rtlCol="0" anchor="ctr"/>
          <a:lstStyle/>
          <a:p>
            <a:pPr marL="0" indent="0">
              <a:buNone/>
            </a:pPr>
            <a:r>
              <a:rPr lang="en-US" sz="1200" b="1" dirty="0">
                <a:solidFill>
                  <a:srgbClr val="1A1A1D"/>
                </a:solidFill>
                <a:latin typeface="Georgia" panose="02040502050405090303" pitchFamily="34" charset="0"/>
                <a:ea typeface="Georgia" panose="02040502050405090303" pitchFamily="34" charset="-122"/>
                <a:cs typeface="Georgia" panose="02040502050405090303" pitchFamily="34" charset="-120"/>
              </a:rPr>
              <a:t>Open Dutch auction</a:t>
            </a:r>
            <a:endParaRPr lang="en-US" sz="1200" dirty="0"/>
          </a:p>
        </p:txBody>
      </p:sp>
      <p:sp>
        <p:nvSpPr>
          <p:cNvPr id="47" name="Text 45"/>
          <p:cNvSpPr/>
          <p:nvPr/>
        </p:nvSpPr>
        <p:spPr>
          <a:xfrm>
            <a:off x="5481218" y="4471416"/>
            <a:ext cx="2189378" cy="219456"/>
          </a:xfrm>
          <a:prstGeom prst="rect">
            <a:avLst/>
          </a:prstGeom>
          <a:noFill/>
        </p:spPr>
        <p:txBody>
          <a:bodyPr wrap="square" lIns="0" tIns="0" rIns="0" bIns="0" rtlCol="0" anchor="ctr"/>
          <a:lstStyle/>
          <a:p>
            <a:pPr marL="0" indent="0">
              <a:buNone/>
            </a:pPr>
            <a:r>
              <a:rPr lang="en-US" sz="950" i="1" dirty="0">
                <a:solidFill>
                  <a:srgbClr val="6B6B70"/>
                </a:solidFill>
                <a:latin typeface="Calibri" pitchFamily="34" charset="0"/>
                <a:ea typeface="Calibri" pitchFamily="34" charset="-122"/>
                <a:cs typeface="Calibri" pitchFamily="34" charset="-120"/>
              </a:rPr>
              <a:t>onchain decay</a:t>
            </a:r>
            <a:endParaRPr lang="en-US" sz="950" dirty="0"/>
          </a:p>
        </p:txBody>
      </p:sp>
      <p:sp>
        <p:nvSpPr>
          <p:cNvPr id="48" name="Shape 46"/>
          <p:cNvSpPr/>
          <p:nvPr/>
        </p:nvSpPr>
        <p:spPr>
          <a:xfrm>
            <a:off x="4612538" y="4828032"/>
            <a:ext cx="118872" cy="118872"/>
          </a:xfrm>
          <a:prstGeom prst="ellipse">
            <a:avLst/>
          </a:prstGeom>
          <a:solidFill>
            <a:srgbClr val="0E7C7B"/>
          </a:solidFill>
          <a:ln w="12700">
            <a:solidFill>
              <a:srgbClr val="0E7C7B"/>
            </a:solidFill>
            <a:prstDash val="solid"/>
          </a:ln>
        </p:spPr>
      </p:sp>
      <p:sp>
        <p:nvSpPr>
          <p:cNvPr id="49" name="Text 47"/>
          <p:cNvSpPr/>
          <p:nvPr/>
        </p:nvSpPr>
        <p:spPr>
          <a:xfrm>
            <a:off x="4841138" y="4709160"/>
            <a:ext cx="640080" cy="256032"/>
          </a:xfrm>
          <a:prstGeom prst="rect">
            <a:avLst/>
          </a:prstGeom>
          <a:noFill/>
        </p:spPr>
        <p:txBody>
          <a:bodyPr wrap="square" lIns="0" tIns="0" rIns="0" bIns="0" rtlCol="0" anchor="ctr"/>
          <a:lstStyle/>
          <a:p>
            <a:pPr marL="0" indent="0">
              <a:buNone/>
            </a:pPr>
            <a:r>
              <a:rPr lang="en-US" sz="1100" b="1" dirty="0">
                <a:solidFill>
                  <a:srgbClr val="0E7C7B"/>
                </a:solidFill>
                <a:latin typeface="Consolas" pitchFamily="34" charset="0"/>
                <a:ea typeface="Consolas" pitchFamily="34" charset="-122"/>
                <a:cs typeface="Consolas" pitchFamily="34" charset="-120"/>
              </a:rPr>
              <a:t>T+14</a:t>
            </a:r>
            <a:endParaRPr lang="en-US" sz="1100" dirty="0"/>
          </a:p>
        </p:txBody>
      </p:sp>
      <p:sp>
        <p:nvSpPr>
          <p:cNvPr id="50" name="Text 48"/>
          <p:cNvSpPr/>
          <p:nvPr/>
        </p:nvSpPr>
        <p:spPr>
          <a:xfrm>
            <a:off x="5481218" y="4709160"/>
            <a:ext cx="2189378" cy="256032"/>
          </a:xfrm>
          <a:prstGeom prst="rect">
            <a:avLst/>
          </a:prstGeom>
          <a:noFill/>
        </p:spPr>
        <p:txBody>
          <a:bodyPr wrap="square" lIns="0" tIns="0" rIns="0" bIns="0" rtlCol="0" anchor="ctr"/>
          <a:lstStyle/>
          <a:p>
            <a:pPr marL="0" indent="0">
              <a:buNone/>
            </a:pPr>
            <a:r>
              <a:rPr lang="en-US" sz="1200" b="1" dirty="0">
                <a:solidFill>
                  <a:srgbClr val="1A1A1D"/>
                </a:solidFill>
                <a:latin typeface="Georgia" panose="02040502050405090303" pitchFamily="34" charset="0"/>
                <a:ea typeface="Georgia" panose="02040502050405090303" pitchFamily="34" charset="-122"/>
                <a:cs typeface="Georgia" panose="02040502050405090303" pitchFamily="34" charset="-120"/>
              </a:rPr>
              <a:t>Offline backstop</a:t>
            </a:r>
            <a:endParaRPr lang="en-US" sz="1200" dirty="0"/>
          </a:p>
        </p:txBody>
      </p:sp>
      <p:sp>
        <p:nvSpPr>
          <p:cNvPr id="51" name="Text 49"/>
          <p:cNvSpPr/>
          <p:nvPr/>
        </p:nvSpPr>
        <p:spPr>
          <a:xfrm>
            <a:off x="5481218" y="4928616"/>
            <a:ext cx="2189378" cy="219456"/>
          </a:xfrm>
          <a:prstGeom prst="rect">
            <a:avLst/>
          </a:prstGeom>
          <a:noFill/>
        </p:spPr>
        <p:txBody>
          <a:bodyPr wrap="square" lIns="0" tIns="0" rIns="0" bIns="0" rtlCol="0" anchor="ctr"/>
          <a:lstStyle/>
          <a:p>
            <a:pPr marL="0" indent="0">
              <a:buNone/>
            </a:pPr>
            <a:r>
              <a:rPr lang="en-US" sz="950" i="1" dirty="0">
                <a:solidFill>
                  <a:srgbClr val="6B6B70"/>
                </a:solidFill>
                <a:latin typeface="Calibri" pitchFamily="34" charset="0"/>
                <a:ea typeface="Calibri" pitchFamily="34" charset="-122"/>
                <a:cs typeface="Calibri" pitchFamily="34" charset="-120"/>
              </a:rPr>
              <a:t>70% reserve</a:t>
            </a:r>
            <a:endParaRPr lang="en-US" sz="950" dirty="0"/>
          </a:p>
        </p:txBody>
      </p:sp>
      <p:sp>
        <p:nvSpPr>
          <p:cNvPr id="52" name="Shape 50"/>
          <p:cNvSpPr/>
          <p:nvPr/>
        </p:nvSpPr>
        <p:spPr>
          <a:xfrm>
            <a:off x="8036357" y="2194560"/>
            <a:ext cx="3515258" cy="3200400"/>
          </a:xfrm>
          <a:prstGeom prst="rect">
            <a:avLst/>
          </a:prstGeom>
          <a:solidFill>
            <a:srgbClr val="FFFFFF"/>
          </a:solidFill>
          <a:ln w="9525">
            <a:solidFill>
              <a:srgbClr val="E5E2D8"/>
            </a:solidFill>
            <a:prstDash val="solid"/>
          </a:ln>
        </p:spPr>
      </p:sp>
      <p:sp>
        <p:nvSpPr>
          <p:cNvPr id="53" name="Text 51"/>
          <p:cNvSpPr/>
          <p:nvPr/>
        </p:nvSpPr>
        <p:spPr>
          <a:xfrm>
            <a:off x="8264957" y="2359152"/>
            <a:ext cx="3058058" cy="274320"/>
          </a:xfrm>
          <a:prstGeom prst="rect">
            <a:avLst/>
          </a:prstGeom>
          <a:noFill/>
        </p:spPr>
        <p:txBody>
          <a:bodyPr wrap="square" lIns="0" tIns="0" rIns="0" bIns="0" rtlCol="0" anchor="ctr"/>
          <a:lstStyle/>
          <a:p>
            <a:pPr marL="0" indent="0">
              <a:buNone/>
            </a:pPr>
            <a:r>
              <a:rPr lang="en-US" sz="1000" b="1" kern="0" spc="300" dirty="0">
                <a:solidFill>
                  <a:srgbClr val="0E7C7B"/>
                </a:solidFill>
                <a:latin typeface="Consolas" pitchFamily="34" charset="0"/>
                <a:ea typeface="Consolas" pitchFamily="34" charset="-122"/>
                <a:cs typeface="Consolas" pitchFamily="34" charset="-120"/>
              </a:rPr>
              <a:t>LP TRANCHES</a:t>
            </a:r>
            <a:endParaRPr lang="en-US" sz="1000" dirty="0"/>
          </a:p>
        </p:txBody>
      </p:sp>
      <p:sp>
        <p:nvSpPr>
          <p:cNvPr id="54" name="Shape 52"/>
          <p:cNvSpPr/>
          <p:nvPr/>
        </p:nvSpPr>
        <p:spPr>
          <a:xfrm>
            <a:off x="8264957" y="2697480"/>
            <a:ext cx="3058058" cy="0"/>
          </a:xfrm>
          <a:prstGeom prst="line">
            <a:avLst/>
          </a:prstGeom>
          <a:noFill/>
          <a:ln w="6350">
            <a:solidFill>
              <a:srgbClr val="E5E2D8"/>
            </a:solidFill>
            <a:prstDash val="solid"/>
          </a:ln>
        </p:spPr>
      </p:sp>
      <p:sp>
        <p:nvSpPr>
          <p:cNvPr id="55" name="Text 53"/>
          <p:cNvSpPr/>
          <p:nvPr/>
        </p:nvSpPr>
        <p:spPr>
          <a:xfrm>
            <a:off x="9407957" y="2788920"/>
            <a:ext cx="640080" cy="256032"/>
          </a:xfrm>
          <a:prstGeom prst="rect">
            <a:avLst/>
          </a:prstGeom>
          <a:noFill/>
        </p:spPr>
        <p:txBody>
          <a:bodyPr wrap="square" lIns="0" tIns="0" rIns="0" bIns="0" rtlCol="0" anchor="ctr"/>
          <a:lstStyle/>
          <a:p>
            <a:pPr marL="0" indent="0">
              <a:buNone/>
            </a:pPr>
            <a:r>
              <a:rPr lang="en-US" sz="900" kern="0" spc="200" dirty="0">
                <a:solidFill>
                  <a:srgbClr val="6B6B70"/>
                </a:solidFill>
                <a:latin typeface="Consolas" pitchFamily="34" charset="0"/>
                <a:ea typeface="Consolas" pitchFamily="34" charset="-122"/>
                <a:cs typeface="Consolas" pitchFamily="34" charset="-120"/>
              </a:rPr>
              <a:t>APY</a:t>
            </a:r>
            <a:endParaRPr lang="en-US" sz="900" dirty="0"/>
          </a:p>
        </p:txBody>
      </p:sp>
      <p:sp>
        <p:nvSpPr>
          <p:cNvPr id="56" name="Text 54"/>
          <p:cNvSpPr/>
          <p:nvPr/>
        </p:nvSpPr>
        <p:spPr>
          <a:xfrm>
            <a:off x="10048037" y="2788920"/>
            <a:ext cx="731520" cy="256032"/>
          </a:xfrm>
          <a:prstGeom prst="rect">
            <a:avLst/>
          </a:prstGeom>
          <a:noFill/>
        </p:spPr>
        <p:txBody>
          <a:bodyPr wrap="square" lIns="0" tIns="0" rIns="0" bIns="0" rtlCol="0" anchor="ctr"/>
          <a:lstStyle/>
          <a:p>
            <a:pPr marL="0" indent="0">
              <a:buNone/>
            </a:pPr>
            <a:r>
              <a:rPr lang="en-US" sz="900" kern="0" spc="200" dirty="0">
                <a:solidFill>
                  <a:srgbClr val="6B6B70"/>
                </a:solidFill>
                <a:latin typeface="Consolas" pitchFamily="34" charset="0"/>
                <a:ea typeface="Consolas" pitchFamily="34" charset="-122"/>
                <a:cs typeface="Consolas" pitchFamily="34" charset="-120"/>
              </a:rPr>
              <a:t>Share</a:t>
            </a:r>
            <a:endParaRPr lang="en-US" sz="900" dirty="0"/>
          </a:p>
        </p:txBody>
      </p:sp>
      <p:sp>
        <p:nvSpPr>
          <p:cNvPr id="57" name="Text 55"/>
          <p:cNvSpPr/>
          <p:nvPr/>
        </p:nvSpPr>
        <p:spPr>
          <a:xfrm>
            <a:off x="8264957" y="3154680"/>
            <a:ext cx="1188720" cy="274320"/>
          </a:xfrm>
          <a:prstGeom prst="rect">
            <a:avLst/>
          </a:prstGeom>
          <a:noFill/>
        </p:spPr>
        <p:txBody>
          <a:bodyPr wrap="square" lIns="0" tIns="0" rIns="0" bIns="0" rtlCol="0" anchor="ctr"/>
          <a:lstStyle/>
          <a:p>
            <a:pPr marL="0" indent="0">
              <a:buNone/>
            </a:pPr>
            <a:r>
              <a:rPr lang="en-US" sz="1300" b="1" dirty="0">
                <a:solidFill>
                  <a:srgbClr val="0E7C7B"/>
                </a:solidFill>
                <a:latin typeface="Georgia" panose="02040502050405090303" pitchFamily="34" charset="0"/>
                <a:ea typeface="Georgia" panose="02040502050405090303" pitchFamily="34" charset="-122"/>
                <a:cs typeface="Georgia" panose="02040502050405090303" pitchFamily="34" charset="-120"/>
              </a:rPr>
              <a:t>Senior</a:t>
            </a:r>
            <a:endParaRPr lang="en-US" sz="1300" dirty="0"/>
          </a:p>
        </p:txBody>
      </p:sp>
      <p:sp>
        <p:nvSpPr>
          <p:cNvPr id="58" name="Text 56"/>
          <p:cNvSpPr/>
          <p:nvPr/>
        </p:nvSpPr>
        <p:spPr>
          <a:xfrm>
            <a:off x="9407957" y="3154680"/>
            <a:ext cx="731520" cy="274320"/>
          </a:xfrm>
          <a:prstGeom prst="rect">
            <a:avLst/>
          </a:prstGeom>
          <a:noFill/>
        </p:spPr>
        <p:txBody>
          <a:bodyPr wrap="square" lIns="0" tIns="0" rIns="0" bIns="0" rtlCol="0" anchor="ctr"/>
          <a:lstStyle/>
          <a:p>
            <a:pPr marL="0" indent="0">
              <a:buNone/>
            </a:pPr>
            <a:r>
              <a:rPr lang="en-US" sz="1300" b="1" dirty="0">
                <a:solidFill>
                  <a:srgbClr val="0E7C7B"/>
                </a:solidFill>
                <a:latin typeface="Consolas" pitchFamily="34" charset="0"/>
                <a:ea typeface="Consolas" pitchFamily="34" charset="-122"/>
                <a:cs typeface="Consolas" pitchFamily="34" charset="-120"/>
              </a:rPr>
              <a:t>8%</a:t>
            </a:r>
            <a:endParaRPr lang="en-US" sz="1300" dirty="0"/>
          </a:p>
        </p:txBody>
      </p:sp>
      <p:sp>
        <p:nvSpPr>
          <p:cNvPr id="59" name="Text 57"/>
          <p:cNvSpPr/>
          <p:nvPr/>
        </p:nvSpPr>
        <p:spPr>
          <a:xfrm>
            <a:off x="10048037" y="3154680"/>
            <a:ext cx="731520" cy="274320"/>
          </a:xfrm>
          <a:prstGeom prst="rect">
            <a:avLst/>
          </a:prstGeom>
          <a:noFill/>
        </p:spPr>
        <p:txBody>
          <a:bodyPr wrap="square" lIns="0" tIns="0" rIns="0" bIns="0" rtlCol="0" anchor="ctr"/>
          <a:lstStyle/>
          <a:p>
            <a:pPr marL="0" indent="0">
              <a:buNone/>
            </a:pPr>
            <a:r>
              <a:rPr lang="en-US" sz="1200" dirty="0">
                <a:solidFill>
                  <a:srgbClr val="6B6B70"/>
                </a:solidFill>
                <a:latin typeface="Consolas" pitchFamily="34" charset="0"/>
                <a:ea typeface="Consolas" pitchFamily="34" charset="-122"/>
                <a:cs typeface="Consolas" pitchFamily="34" charset="-120"/>
              </a:rPr>
              <a:t>~75%</a:t>
            </a:r>
            <a:endParaRPr lang="en-US" sz="1200" dirty="0"/>
          </a:p>
        </p:txBody>
      </p:sp>
      <p:sp>
        <p:nvSpPr>
          <p:cNvPr id="60" name="Text 58"/>
          <p:cNvSpPr/>
          <p:nvPr/>
        </p:nvSpPr>
        <p:spPr>
          <a:xfrm>
            <a:off x="8264957" y="3429000"/>
            <a:ext cx="3058058" cy="256032"/>
          </a:xfrm>
          <a:prstGeom prst="rect">
            <a:avLst/>
          </a:prstGeom>
          <a:noFill/>
        </p:spPr>
        <p:txBody>
          <a:bodyPr wrap="square" lIns="0" tIns="0" rIns="0" bIns="0" rtlCol="0" anchor="ctr"/>
          <a:lstStyle/>
          <a:p>
            <a:pPr marL="0" indent="0">
              <a:buNone/>
            </a:pPr>
            <a:r>
              <a:rPr lang="en-US" sz="1000" i="1" dirty="0">
                <a:solidFill>
                  <a:srgbClr val="6B6B70"/>
                </a:solidFill>
                <a:latin typeface="Calibri" pitchFamily="34" charset="0"/>
                <a:ea typeface="Calibri" pitchFamily="34" charset="-122"/>
                <a:cs typeface="Calibri" pitchFamily="34" charset="-120"/>
              </a:rPr>
              <a:t>last to take losses</a:t>
            </a:r>
            <a:endParaRPr lang="en-US" sz="1000" dirty="0"/>
          </a:p>
        </p:txBody>
      </p:sp>
      <p:sp>
        <p:nvSpPr>
          <p:cNvPr id="61" name="Text 59"/>
          <p:cNvSpPr/>
          <p:nvPr/>
        </p:nvSpPr>
        <p:spPr>
          <a:xfrm>
            <a:off x="8264957" y="3794760"/>
            <a:ext cx="1188720" cy="274320"/>
          </a:xfrm>
          <a:prstGeom prst="rect">
            <a:avLst/>
          </a:prstGeom>
          <a:noFill/>
        </p:spPr>
        <p:txBody>
          <a:bodyPr wrap="square" lIns="0" tIns="0" rIns="0" bIns="0" rtlCol="0" anchor="ctr"/>
          <a:lstStyle/>
          <a:p>
            <a:pPr marL="0" indent="0">
              <a:buNone/>
            </a:pPr>
            <a:r>
              <a:rPr lang="en-US" sz="1300" b="1" dirty="0">
                <a:solidFill>
                  <a:srgbClr val="1A1A1D"/>
                </a:solidFill>
                <a:latin typeface="Georgia" panose="02040502050405090303" pitchFamily="34" charset="0"/>
                <a:ea typeface="Georgia" panose="02040502050405090303" pitchFamily="34" charset="-122"/>
                <a:cs typeface="Georgia" panose="02040502050405090303" pitchFamily="34" charset="-120"/>
              </a:rPr>
              <a:t>Junior</a:t>
            </a:r>
            <a:endParaRPr lang="en-US" sz="1300" dirty="0"/>
          </a:p>
        </p:txBody>
      </p:sp>
      <p:sp>
        <p:nvSpPr>
          <p:cNvPr id="62" name="Text 60"/>
          <p:cNvSpPr/>
          <p:nvPr/>
        </p:nvSpPr>
        <p:spPr>
          <a:xfrm>
            <a:off x="9407957" y="3794760"/>
            <a:ext cx="731520" cy="274320"/>
          </a:xfrm>
          <a:prstGeom prst="rect">
            <a:avLst/>
          </a:prstGeom>
          <a:noFill/>
        </p:spPr>
        <p:txBody>
          <a:bodyPr wrap="square" lIns="0" tIns="0" rIns="0" bIns="0" rtlCol="0" anchor="ctr"/>
          <a:lstStyle/>
          <a:p>
            <a:pPr marL="0" indent="0">
              <a:buNone/>
            </a:pPr>
            <a:r>
              <a:rPr lang="en-US" sz="1300" b="1" dirty="0">
                <a:solidFill>
                  <a:srgbClr val="1A1A1D"/>
                </a:solidFill>
                <a:latin typeface="Consolas" pitchFamily="34" charset="0"/>
                <a:ea typeface="Consolas" pitchFamily="34" charset="-122"/>
                <a:cs typeface="Consolas" pitchFamily="34" charset="-120"/>
              </a:rPr>
              <a:t>12%</a:t>
            </a:r>
            <a:endParaRPr lang="en-US" sz="1300" dirty="0"/>
          </a:p>
        </p:txBody>
      </p:sp>
      <p:sp>
        <p:nvSpPr>
          <p:cNvPr id="63" name="Text 61"/>
          <p:cNvSpPr/>
          <p:nvPr/>
        </p:nvSpPr>
        <p:spPr>
          <a:xfrm>
            <a:off x="10048037" y="3794760"/>
            <a:ext cx="731520" cy="274320"/>
          </a:xfrm>
          <a:prstGeom prst="rect">
            <a:avLst/>
          </a:prstGeom>
          <a:noFill/>
        </p:spPr>
        <p:txBody>
          <a:bodyPr wrap="square" lIns="0" tIns="0" rIns="0" bIns="0" rtlCol="0" anchor="ctr"/>
          <a:lstStyle/>
          <a:p>
            <a:pPr marL="0" indent="0">
              <a:buNone/>
            </a:pPr>
            <a:r>
              <a:rPr lang="en-US" sz="1200" dirty="0">
                <a:solidFill>
                  <a:srgbClr val="6B6B70"/>
                </a:solidFill>
                <a:latin typeface="Consolas" pitchFamily="34" charset="0"/>
                <a:ea typeface="Consolas" pitchFamily="34" charset="-122"/>
                <a:cs typeface="Consolas" pitchFamily="34" charset="-120"/>
              </a:rPr>
              <a:t>~25%</a:t>
            </a:r>
            <a:endParaRPr lang="en-US" sz="1200" dirty="0"/>
          </a:p>
        </p:txBody>
      </p:sp>
      <p:sp>
        <p:nvSpPr>
          <p:cNvPr id="64" name="Text 62"/>
          <p:cNvSpPr/>
          <p:nvPr/>
        </p:nvSpPr>
        <p:spPr>
          <a:xfrm>
            <a:off x="8264957" y="4069080"/>
            <a:ext cx="3058058" cy="256032"/>
          </a:xfrm>
          <a:prstGeom prst="rect">
            <a:avLst/>
          </a:prstGeom>
          <a:noFill/>
        </p:spPr>
        <p:txBody>
          <a:bodyPr wrap="square" lIns="0" tIns="0" rIns="0" bIns="0" rtlCol="0" anchor="ctr"/>
          <a:lstStyle/>
          <a:p>
            <a:pPr marL="0" indent="0">
              <a:buNone/>
            </a:pPr>
            <a:r>
              <a:rPr lang="en-US" sz="1000" i="1" dirty="0">
                <a:solidFill>
                  <a:srgbClr val="6B6B70"/>
                </a:solidFill>
                <a:latin typeface="Calibri" pitchFamily="34" charset="0"/>
                <a:ea typeface="Calibri" pitchFamily="34" charset="-122"/>
                <a:cs typeface="Calibri" pitchFamily="34" charset="-120"/>
              </a:rPr>
              <a:t>first above POL</a:t>
            </a:r>
            <a:endParaRPr lang="en-US" sz="1000" dirty="0"/>
          </a:p>
        </p:txBody>
      </p:sp>
      <p:sp>
        <p:nvSpPr>
          <p:cNvPr id="65" name="Text 63"/>
          <p:cNvSpPr/>
          <p:nvPr/>
        </p:nvSpPr>
        <p:spPr>
          <a:xfrm>
            <a:off x="8264957" y="4434840"/>
            <a:ext cx="1188720" cy="274320"/>
          </a:xfrm>
          <a:prstGeom prst="rect">
            <a:avLst/>
          </a:prstGeom>
          <a:noFill/>
        </p:spPr>
        <p:txBody>
          <a:bodyPr wrap="square" lIns="0" tIns="0" rIns="0" bIns="0" rtlCol="0" anchor="ctr"/>
          <a:lstStyle/>
          <a:p>
            <a:pPr marL="0" indent="0">
              <a:buNone/>
            </a:pPr>
            <a:r>
              <a:rPr lang="en-US" sz="1300" b="1" dirty="0">
                <a:solidFill>
                  <a:srgbClr val="0E7C7B"/>
                </a:solidFill>
                <a:latin typeface="Georgia" panose="02040502050405090303" pitchFamily="34" charset="0"/>
                <a:ea typeface="Georgia" panose="02040502050405090303" pitchFamily="34" charset="-122"/>
                <a:cs typeface="Georgia" panose="02040502050405090303" pitchFamily="34" charset="-120"/>
              </a:rPr>
              <a:t>Vaulx POL</a:t>
            </a:r>
            <a:endParaRPr lang="en-US" sz="1300" dirty="0"/>
          </a:p>
        </p:txBody>
      </p:sp>
      <p:sp>
        <p:nvSpPr>
          <p:cNvPr id="66" name="Text 64"/>
          <p:cNvSpPr/>
          <p:nvPr/>
        </p:nvSpPr>
        <p:spPr>
          <a:xfrm>
            <a:off x="9407957" y="4434840"/>
            <a:ext cx="731520" cy="274320"/>
          </a:xfrm>
          <a:prstGeom prst="rect">
            <a:avLst/>
          </a:prstGeom>
          <a:noFill/>
        </p:spPr>
        <p:txBody>
          <a:bodyPr wrap="square" lIns="0" tIns="0" rIns="0" bIns="0" rtlCol="0" anchor="ctr"/>
          <a:lstStyle/>
          <a:p>
            <a:pPr marL="0" indent="0">
              <a:buNone/>
            </a:pPr>
            <a:r>
              <a:rPr lang="en-US" sz="1300" b="1" dirty="0">
                <a:solidFill>
                  <a:srgbClr val="0E7C7B"/>
                </a:solidFill>
                <a:latin typeface="Consolas" pitchFamily="34" charset="0"/>
                <a:ea typeface="Consolas" pitchFamily="34" charset="-122"/>
                <a:cs typeface="Consolas" pitchFamily="34" charset="-120"/>
              </a:rPr>
              <a:t>—</a:t>
            </a:r>
            <a:endParaRPr lang="en-US" sz="1300" dirty="0"/>
          </a:p>
        </p:txBody>
      </p:sp>
      <p:sp>
        <p:nvSpPr>
          <p:cNvPr id="67" name="Text 65"/>
          <p:cNvSpPr/>
          <p:nvPr/>
        </p:nvSpPr>
        <p:spPr>
          <a:xfrm>
            <a:off x="10048037" y="4434840"/>
            <a:ext cx="731520" cy="274320"/>
          </a:xfrm>
          <a:prstGeom prst="rect">
            <a:avLst/>
          </a:prstGeom>
          <a:noFill/>
        </p:spPr>
        <p:txBody>
          <a:bodyPr wrap="square" lIns="0" tIns="0" rIns="0" bIns="0" rtlCol="0" anchor="ctr"/>
          <a:lstStyle/>
          <a:p>
            <a:pPr marL="0" indent="0">
              <a:buNone/>
            </a:pPr>
            <a:r>
              <a:rPr lang="en-US" sz="1200" dirty="0">
                <a:solidFill>
                  <a:srgbClr val="6B6B70"/>
                </a:solidFill>
                <a:latin typeface="Consolas" pitchFamily="34" charset="0"/>
                <a:ea typeface="Consolas" pitchFamily="34" charset="-122"/>
                <a:cs typeface="Consolas" pitchFamily="34" charset="-120"/>
              </a:rPr>
              <a:t>5%</a:t>
            </a:r>
            <a:endParaRPr lang="en-US" sz="1200" dirty="0"/>
          </a:p>
        </p:txBody>
      </p:sp>
      <p:sp>
        <p:nvSpPr>
          <p:cNvPr id="68" name="Text 66"/>
          <p:cNvSpPr/>
          <p:nvPr/>
        </p:nvSpPr>
        <p:spPr>
          <a:xfrm>
            <a:off x="8264957" y="4709160"/>
            <a:ext cx="3058058" cy="256032"/>
          </a:xfrm>
          <a:prstGeom prst="rect">
            <a:avLst/>
          </a:prstGeom>
          <a:noFill/>
        </p:spPr>
        <p:txBody>
          <a:bodyPr wrap="square" lIns="0" tIns="0" rIns="0" bIns="0" rtlCol="0" anchor="ctr"/>
          <a:lstStyle/>
          <a:p>
            <a:pPr marL="0" indent="0">
              <a:buNone/>
            </a:pPr>
            <a:r>
              <a:rPr lang="en-US" sz="1000" i="1" dirty="0">
                <a:solidFill>
                  <a:srgbClr val="6B6B70"/>
                </a:solidFill>
                <a:latin typeface="Calibri" pitchFamily="34" charset="0"/>
                <a:ea typeface="Calibri" pitchFamily="34" charset="-122"/>
                <a:cs typeface="Calibri" pitchFamily="34" charset="-120"/>
              </a:rPr>
              <a:t>absorbs first 5%</a:t>
            </a:r>
            <a:endParaRPr lang="en-US" sz="1000" dirty="0"/>
          </a:p>
        </p:txBody>
      </p:sp>
      <p:sp>
        <p:nvSpPr>
          <p:cNvPr id="69" name="Shape 67"/>
          <p:cNvSpPr/>
          <p:nvPr/>
        </p:nvSpPr>
        <p:spPr>
          <a:xfrm>
            <a:off x="640080" y="5577840"/>
            <a:ext cx="10911535" cy="502920"/>
          </a:xfrm>
          <a:prstGeom prst="rect">
            <a:avLst/>
          </a:prstGeom>
          <a:solidFill>
            <a:srgbClr val="FFFFFF"/>
          </a:solidFill>
          <a:ln w="12700">
            <a:solidFill>
              <a:srgbClr val="0E7C7B"/>
            </a:solidFill>
            <a:prstDash val="solid"/>
          </a:ln>
        </p:spPr>
      </p:sp>
      <p:sp>
        <p:nvSpPr>
          <p:cNvPr id="70" name="Text 68"/>
          <p:cNvSpPr/>
          <p:nvPr/>
        </p:nvSpPr>
        <p:spPr>
          <a:xfrm>
            <a:off x="640080" y="5577840"/>
            <a:ext cx="10911535" cy="502920"/>
          </a:xfrm>
          <a:prstGeom prst="rect">
            <a:avLst/>
          </a:prstGeom>
          <a:noFill/>
        </p:spPr>
        <p:txBody>
          <a:bodyPr wrap="square" lIns="0" tIns="0" rIns="0" bIns="0" rtlCol="0" anchor="ctr"/>
          <a:lstStyle/>
          <a:p>
            <a:pPr marL="0" indent="0" algn="ctr">
              <a:buNone/>
            </a:pPr>
            <a:r>
              <a:rPr lang="en-US" sz="1300" b="1" i="1" kern="0" spc="300" dirty="0">
                <a:solidFill>
                  <a:srgbClr val="0E7C7B"/>
                </a:solidFill>
                <a:latin typeface="Georgia" panose="02040502050405090303" pitchFamily="34" charset="0"/>
                <a:ea typeface="Georgia" panose="02040502050405090303" pitchFamily="34" charset="-122"/>
                <a:cs typeface="Georgia" panose="02040502050405090303" pitchFamily="34" charset="-120"/>
              </a:rPr>
              <a:t>LOSS WATERFALL  ·  </a:t>
            </a:r>
            <a:r>
              <a:rPr lang="en-US" sz="1300" b="1" dirty="0">
                <a:solidFill>
                  <a:srgbClr val="1A1A1D"/>
                </a:solidFill>
                <a:latin typeface="Georgia" panose="02040502050405090303" pitchFamily="34" charset="0"/>
                <a:ea typeface="Georgia" panose="02040502050405090303" pitchFamily="34" charset="-122"/>
                <a:cs typeface="Georgia" panose="02040502050405090303" pitchFamily="34" charset="-120"/>
              </a:rPr>
              <a:t>Borrower equity</a:t>
            </a:r>
            <a:r>
              <a:rPr lang="en-US" sz="1300" dirty="0">
                <a:solidFill>
                  <a:srgbClr val="0E7C7B"/>
                </a:solidFill>
                <a:latin typeface="Georgia" panose="02040502050405090303" pitchFamily="34" charset="0"/>
                <a:ea typeface="Georgia" panose="02040502050405090303" pitchFamily="34" charset="-122"/>
                <a:cs typeface="Georgia" panose="02040502050405090303" pitchFamily="34" charset="-120"/>
              </a:rPr>
              <a:t>  →  </a:t>
            </a:r>
            <a:r>
              <a:rPr lang="en-US" sz="1300" b="1" dirty="0">
                <a:solidFill>
                  <a:srgbClr val="0E7C7B"/>
                </a:solidFill>
                <a:latin typeface="Georgia" panose="02040502050405090303" pitchFamily="34" charset="0"/>
                <a:ea typeface="Georgia" panose="02040502050405090303" pitchFamily="34" charset="-122"/>
                <a:cs typeface="Georgia" panose="02040502050405090303" pitchFamily="34" charset="-120"/>
              </a:rPr>
              <a:t>POL first-loss</a:t>
            </a:r>
            <a:r>
              <a:rPr lang="en-US" sz="1300" dirty="0">
                <a:solidFill>
                  <a:srgbClr val="0E7C7B"/>
                </a:solidFill>
                <a:latin typeface="Georgia" panose="02040502050405090303" pitchFamily="34" charset="0"/>
                <a:ea typeface="Georgia" panose="02040502050405090303" pitchFamily="34" charset="-122"/>
                <a:cs typeface="Georgia" panose="02040502050405090303" pitchFamily="34" charset="-120"/>
              </a:rPr>
              <a:t>  →  </a:t>
            </a:r>
            <a:r>
              <a:rPr lang="en-US" sz="1300" b="1" dirty="0">
                <a:solidFill>
                  <a:srgbClr val="1A1A1D"/>
                </a:solidFill>
                <a:latin typeface="Georgia" panose="02040502050405090303" pitchFamily="34" charset="0"/>
                <a:ea typeface="Georgia" panose="02040502050405090303" pitchFamily="34" charset="-122"/>
                <a:cs typeface="Georgia" panose="02040502050405090303" pitchFamily="34" charset="-120"/>
              </a:rPr>
              <a:t>Junior tranche</a:t>
            </a:r>
            <a:r>
              <a:rPr lang="en-US" sz="1300" dirty="0">
                <a:solidFill>
                  <a:srgbClr val="0E7C7B"/>
                </a:solidFill>
                <a:latin typeface="Georgia" panose="02040502050405090303" pitchFamily="34" charset="0"/>
                <a:ea typeface="Georgia" panose="02040502050405090303" pitchFamily="34" charset="-122"/>
                <a:cs typeface="Georgia" panose="02040502050405090303" pitchFamily="34" charset="-120"/>
              </a:rPr>
              <a:t>  →  </a:t>
            </a:r>
            <a:r>
              <a:rPr lang="en-US" sz="1300" b="1" dirty="0">
                <a:solidFill>
                  <a:srgbClr val="0E7C7B"/>
                </a:solidFill>
                <a:latin typeface="Georgia" panose="02040502050405090303" pitchFamily="34" charset="0"/>
                <a:ea typeface="Georgia" panose="02040502050405090303" pitchFamily="34" charset="-122"/>
                <a:cs typeface="Georgia" panose="02040502050405090303" pitchFamily="34" charset="-120"/>
              </a:rPr>
              <a:t>Senior tranche</a:t>
            </a:r>
            <a:endParaRPr lang="en-US" sz="1300" dirty="0"/>
          </a:p>
        </p:txBody>
      </p:sp>
      <p:sp>
        <p:nvSpPr>
          <p:cNvPr id="71" name="Text 69"/>
          <p:cNvSpPr/>
          <p:nvPr/>
        </p:nvSpPr>
        <p:spPr>
          <a:xfrm>
            <a:off x="640080" y="6217920"/>
            <a:ext cx="10911535" cy="320040"/>
          </a:xfrm>
          <a:prstGeom prst="rect">
            <a:avLst/>
          </a:prstGeom>
          <a:noFill/>
        </p:spPr>
        <p:txBody>
          <a:bodyPr wrap="square" lIns="0" tIns="0" rIns="0" bIns="0" rtlCol="0" anchor="ctr"/>
          <a:lstStyle/>
          <a:p>
            <a:pPr marL="0" indent="0">
              <a:buNone/>
            </a:pPr>
            <a:r>
              <a:rPr lang="en-US" sz="1200" dirty="0">
                <a:solidFill>
                  <a:srgbClr val="0E7C7B"/>
                </a:solidFill>
                <a:latin typeface="Calibri" pitchFamily="34" charset="0"/>
                <a:ea typeface="Calibri" pitchFamily="34" charset="-122"/>
                <a:cs typeface="Calibri" pitchFamily="34" charset="-120"/>
              </a:rPr>
              <a:t>→  </a:t>
            </a:r>
            <a:r>
              <a:rPr lang="en-US" sz="1200" i="1" dirty="0">
                <a:solidFill>
                  <a:srgbClr val="1A1A1D"/>
                </a:solidFill>
                <a:latin typeface="Calibri" pitchFamily="34" charset="0"/>
                <a:ea typeface="Calibri" pitchFamily="34" charset="-122"/>
                <a:cs typeface="Calibri" pitchFamily="34" charset="-120"/>
              </a:rPr>
              <a:t>Senior beats Maple syrupUSDC (~7%) by 100 bps. Insurance covers theft &amp; damage to trustee — never default risk.</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640080" y="530352"/>
            <a:ext cx="109728" cy="22860"/>
          </a:xfrm>
          <a:prstGeom prst="rect">
            <a:avLst/>
          </a:prstGeom>
          <a:solidFill>
            <a:srgbClr val="0E7C7B"/>
          </a:solidFill>
          <a:ln w="12700">
            <a:solidFill>
              <a:srgbClr val="0E7C7B"/>
            </a:solidFill>
            <a:prstDash val="solid"/>
          </a:ln>
        </p:spPr>
      </p:sp>
      <p:sp>
        <p:nvSpPr>
          <p:cNvPr id="3" name="Text 1"/>
          <p:cNvSpPr/>
          <p:nvPr/>
        </p:nvSpPr>
        <p:spPr>
          <a:xfrm>
            <a:off x="804672" y="457200"/>
            <a:ext cx="5321808" cy="228600"/>
          </a:xfrm>
          <a:prstGeom prst="rect">
            <a:avLst/>
          </a:prstGeom>
          <a:noFill/>
        </p:spPr>
        <p:txBody>
          <a:bodyPr wrap="square" lIns="0" tIns="0" rIns="0" bIns="0" rtlCol="0" anchor="ctr"/>
          <a:lstStyle/>
          <a:p>
            <a:pPr marL="0" indent="0">
              <a:buNone/>
            </a:pPr>
            <a:r>
              <a:rPr lang="en-US" sz="950" b="1" kern="0" spc="400" dirty="0">
                <a:solidFill>
                  <a:srgbClr val="0E7C7B"/>
                </a:solidFill>
                <a:latin typeface="Consolas" pitchFamily="34" charset="0"/>
                <a:ea typeface="Consolas" pitchFamily="34" charset="-122"/>
                <a:cs typeface="Consolas" pitchFamily="34" charset="-120"/>
              </a:rPr>
              <a:t>06  /  SCALE  ·  TAM  ·  DISTRIBUTION</a:t>
            </a:r>
            <a:endParaRPr lang="en-US" sz="950" dirty="0"/>
          </a:p>
        </p:txBody>
      </p:sp>
      <p:sp>
        <p:nvSpPr>
          <p:cNvPr id="4" name="Text 2"/>
          <p:cNvSpPr/>
          <p:nvPr/>
        </p:nvSpPr>
        <p:spPr>
          <a:xfrm>
            <a:off x="10911535" y="274320"/>
            <a:ext cx="914400" cy="228600"/>
          </a:xfrm>
          <a:prstGeom prst="rect">
            <a:avLst/>
          </a:prstGeom>
          <a:noFill/>
        </p:spPr>
        <p:txBody>
          <a:bodyPr wrap="square" lIns="0" tIns="0" rIns="0" bIns="0" rtlCol="0" anchor="ctr"/>
          <a:lstStyle/>
          <a:p>
            <a:pPr marL="0" indent="0" algn="r">
              <a:buNone/>
            </a:pPr>
            <a:r>
              <a:rPr lang="en-US" sz="900" kern="0" spc="300" dirty="0">
                <a:solidFill>
                  <a:srgbClr val="6B6B70"/>
                </a:solidFill>
                <a:latin typeface="Consolas" pitchFamily="34" charset="0"/>
                <a:ea typeface="Consolas" pitchFamily="34" charset="-122"/>
                <a:cs typeface="Consolas" pitchFamily="34" charset="-120"/>
              </a:rPr>
              <a:t>06 / 09</a:t>
            </a:r>
            <a:endParaRPr lang="en-US" sz="900" dirty="0"/>
          </a:p>
        </p:txBody>
      </p:sp>
      <p:sp>
        <p:nvSpPr>
          <p:cNvPr id="5" name="Text 3"/>
          <p:cNvSpPr/>
          <p:nvPr/>
        </p:nvSpPr>
        <p:spPr>
          <a:xfrm>
            <a:off x="640080" y="777240"/>
            <a:ext cx="10911535" cy="777240"/>
          </a:xfrm>
          <a:prstGeom prst="rect">
            <a:avLst/>
          </a:prstGeom>
          <a:noFill/>
        </p:spPr>
        <p:txBody>
          <a:bodyPr wrap="square" lIns="0" tIns="0" rIns="0" bIns="0" rtlCol="0" anchor="ctr"/>
          <a:lstStyle/>
          <a:p>
            <a:pPr marL="0" indent="0">
              <a:buNone/>
            </a:pPr>
            <a:r>
              <a:rPr lang="en-US" sz="3600" b="1" dirty="0">
                <a:solidFill>
                  <a:srgbClr val="1A1A1D"/>
                </a:solidFill>
                <a:latin typeface="Georgia" panose="02040502050405090303" pitchFamily="34" charset="0"/>
                <a:ea typeface="Georgia" panose="02040502050405090303" pitchFamily="34" charset="-122"/>
                <a:cs typeface="Georgia" panose="02040502050405090303" pitchFamily="34" charset="-120"/>
              </a:rPr>
              <a:t>Built to </a:t>
            </a:r>
            <a:r>
              <a:rPr lang="en-US" sz="3600" b="1" i="1" dirty="0">
                <a:solidFill>
                  <a:srgbClr val="0E7C7B"/>
                </a:solidFill>
                <a:latin typeface="Georgia" panose="02040502050405090303" pitchFamily="34" charset="0"/>
                <a:ea typeface="Georgia" panose="02040502050405090303" pitchFamily="34" charset="-122"/>
                <a:cs typeface="Georgia" panose="02040502050405090303" pitchFamily="34" charset="-120"/>
              </a:rPr>
              <a:t>scale</a:t>
            </a:r>
            <a:r>
              <a:rPr lang="en-US" sz="3600" b="1" dirty="0">
                <a:solidFill>
                  <a:srgbClr val="1A1A1D"/>
                </a:solidFill>
                <a:latin typeface="Georgia" panose="02040502050405090303" pitchFamily="34" charset="0"/>
                <a:ea typeface="Georgia" panose="02040502050405090303" pitchFamily="34" charset="-122"/>
                <a:cs typeface="Georgia" panose="02040502050405090303" pitchFamily="34" charset="-120"/>
              </a:rPr>
              <a:t>.</a:t>
            </a:r>
            <a:endParaRPr lang="en-US" sz="3600" dirty="0"/>
          </a:p>
        </p:txBody>
      </p:sp>
      <p:sp>
        <p:nvSpPr>
          <p:cNvPr id="6" name="Text 4"/>
          <p:cNvSpPr/>
          <p:nvPr/>
        </p:nvSpPr>
        <p:spPr>
          <a:xfrm>
            <a:off x="640080" y="1600200"/>
            <a:ext cx="10911535" cy="365760"/>
          </a:xfrm>
          <a:prstGeom prst="rect">
            <a:avLst/>
          </a:prstGeom>
          <a:noFill/>
        </p:spPr>
        <p:txBody>
          <a:bodyPr wrap="square" lIns="0" tIns="0" rIns="0" bIns="0" rtlCol="0" anchor="ctr"/>
          <a:lstStyle/>
          <a:p>
            <a:pPr marL="0" indent="0">
              <a:buNone/>
            </a:pPr>
            <a:r>
              <a:rPr lang="en-US" sz="1300" dirty="0">
                <a:solidFill>
                  <a:srgbClr val="6B6B70"/>
                </a:solidFill>
                <a:latin typeface="Calibri" pitchFamily="34" charset="0"/>
                <a:ea typeface="Calibri" pitchFamily="34" charset="-122"/>
                <a:cs typeface="Calibri" pitchFamily="34" charset="-120"/>
              </a:rPr>
              <a:t>Modular architecture × built-in distribution = near-zero CAC at launch.</a:t>
            </a:r>
            <a:endParaRPr lang="en-US" sz="1300" dirty="0"/>
          </a:p>
        </p:txBody>
      </p:sp>
      <p:sp>
        <p:nvSpPr>
          <p:cNvPr id="7" name="Shape 5"/>
          <p:cNvSpPr/>
          <p:nvPr/>
        </p:nvSpPr>
        <p:spPr>
          <a:xfrm>
            <a:off x="640080" y="2029968"/>
            <a:ext cx="914400" cy="0"/>
          </a:xfrm>
          <a:prstGeom prst="line">
            <a:avLst/>
          </a:prstGeom>
          <a:noFill/>
          <a:ln w="15240">
            <a:solidFill>
              <a:srgbClr val="0E7C7B"/>
            </a:solidFill>
            <a:prstDash val="solid"/>
          </a:ln>
        </p:spPr>
      </p:sp>
      <p:sp>
        <p:nvSpPr>
          <p:cNvPr id="8" name="Shape 6"/>
          <p:cNvSpPr/>
          <p:nvPr/>
        </p:nvSpPr>
        <p:spPr>
          <a:xfrm>
            <a:off x="640080" y="2286000"/>
            <a:ext cx="3484778" cy="3200400"/>
          </a:xfrm>
          <a:prstGeom prst="rect">
            <a:avLst/>
          </a:prstGeom>
          <a:solidFill>
            <a:srgbClr val="FFFFFF"/>
          </a:solidFill>
          <a:ln w="9525">
            <a:solidFill>
              <a:srgbClr val="E5E2D8"/>
            </a:solidFill>
            <a:prstDash val="solid"/>
          </a:ln>
        </p:spPr>
      </p:sp>
      <p:sp>
        <p:nvSpPr>
          <p:cNvPr id="9" name="Text 7"/>
          <p:cNvSpPr/>
          <p:nvPr/>
        </p:nvSpPr>
        <p:spPr>
          <a:xfrm>
            <a:off x="868680" y="2450592"/>
            <a:ext cx="3027578" cy="274320"/>
          </a:xfrm>
          <a:prstGeom prst="rect">
            <a:avLst/>
          </a:prstGeom>
          <a:noFill/>
        </p:spPr>
        <p:txBody>
          <a:bodyPr wrap="square" lIns="0" tIns="0" rIns="0" bIns="0" rtlCol="0" anchor="ctr"/>
          <a:lstStyle/>
          <a:p>
            <a:pPr marL="0" indent="0">
              <a:buNone/>
            </a:pPr>
            <a:r>
              <a:rPr lang="en-US" sz="1000" b="1" kern="0" spc="400" dirty="0">
                <a:solidFill>
                  <a:srgbClr val="0E7C7B"/>
                </a:solidFill>
                <a:latin typeface="Consolas" pitchFamily="34" charset="0"/>
                <a:ea typeface="Consolas" pitchFamily="34" charset="-122"/>
                <a:cs typeface="Consolas" pitchFamily="34" charset="-120"/>
              </a:rPr>
              <a:t>MODULAR ROLLOUT</a:t>
            </a:r>
            <a:endParaRPr lang="en-US" sz="1000" dirty="0"/>
          </a:p>
        </p:txBody>
      </p:sp>
      <p:sp>
        <p:nvSpPr>
          <p:cNvPr id="10" name="Shape 8"/>
          <p:cNvSpPr/>
          <p:nvPr/>
        </p:nvSpPr>
        <p:spPr>
          <a:xfrm>
            <a:off x="868680" y="2788920"/>
            <a:ext cx="3027578" cy="0"/>
          </a:xfrm>
          <a:prstGeom prst="line">
            <a:avLst/>
          </a:prstGeom>
          <a:noFill/>
          <a:ln w="6350">
            <a:solidFill>
              <a:srgbClr val="E5E2D8"/>
            </a:solidFill>
            <a:prstDash val="solid"/>
          </a:ln>
        </p:spPr>
      </p:sp>
      <p:sp>
        <p:nvSpPr>
          <p:cNvPr id="11" name="Text 9"/>
          <p:cNvSpPr/>
          <p:nvPr/>
        </p:nvSpPr>
        <p:spPr>
          <a:xfrm>
            <a:off x="868680" y="3063240"/>
            <a:ext cx="1280160" cy="201168"/>
          </a:xfrm>
          <a:prstGeom prst="rect">
            <a:avLst/>
          </a:prstGeom>
          <a:noFill/>
        </p:spPr>
        <p:txBody>
          <a:bodyPr wrap="square" lIns="0" tIns="0" rIns="0" bIns="0" rtlCol="0" anchor="ctr"/>
          <a:lstStyle/>
          <a:p>
            <a:pPr marL="0" indent="0">
              <a:buNone/>
            </a:pPr>
            <a:r>
              <a:rPr lang="en-US" sz="950" b="1" kern="0" spc="300" dirty="0">
                <a:solidFill>
                  <a:srgbClr val="0E7C7B"/>
                </a:solidFill>
                <a:latin typeface="Consolas" pitchFamily="34" charset="0"/>
                <a:ea typeface="Consolas" pitchFamily="34" charset="-122"/>
                <a:cs typeface="Consolas" pitchFamily="34" charset="-120"/>
              </a:rPr>
              <a:t>PHASE 1</a:t>
            </a:r>
            <a:endParaRPr lang="en-US" sz="950" dirty="0"/>
          </a:p>
        </p:txBody>
      </p:sp>
      <p:sp>
        <p:nvSpPr>
          <p:cNvPr id="12" name="Text 10"/>
          <p:cNvSpPr/>
          <p:nvPr/>
        </p:nvSpPr>
        <p:spPr>
          <a:xfrm>
            <a:off x="868680" y="3264408"/>
            <a:ext cx="3027578" cy="292608"/>
          </a:xfrm>
          <a:prstGeom prst="rect">
            <a:avLst/>
          </a:prstGeom>
          <a:noFill/>
        </p:spPr>
        <p:txBody>
          <a:bodyPr wrap="square" lIns="0" tIns="0" rIns="0" bIns="0" rtlCol="0" anchor="ctr"/>
          <a:lstStyle/>
          <a:p>
            <a:pPr marL="0" indent="0">
              <a:buNone/>
            </a:pPr>
            <a:r>
              <a:rPr lang="en-US" sz="1800" b="1" dirty="0">
                <a:solidFill>
                  <a:srgbClr val="1A1A1D"/>
                </a:solidFill>
                <a:latin typeface="Georgia" panose="02040502050405090303" pitchFamily="34" charset="0"/>
                <a:ea typeface="Georgia" panose="02040502050405090303" pitchFamily="34" charset="-122"/>
                <a:cs typeface="Georgia" panose="02040502050405090303" pitchFamily="34" charset="-120"/>
              </a:rPr>
              <a:t>Brazil</a:t>
            </a:r>
            <a:endParaRPr lang="en-US" sz="1800" dirty="0"/>
          </a:p>
        </p:txBody>
      </p:sp>
      <p:sp>
        <p:nvSpPr>
          <p:cNvPr id="13" name="Text 11"/>
          <p:cNvSpPr/>
          <p:nvPr/>
        </p:nvSpPr>
        <p:spPr>
          <a:xfrm>
            <a:off x="868680" y="3538728"/>
            <a:ext cx="3027578" cy="201168"/>
          </a:xfrm>
          <a:prstGeom prst="rect">
            <a:avLst/>
          </a:prstGeom>
          <a:noFill/>
        </p:spPr>
        <p:txBody>
          <a:bodyPr wrap="square" lIns="0" tIns="0" rIns="0" bIns="0" rtlCol="0" anchor="ctr"/>
          <a:lstStyle/>
          <a:p>
            <a:pPr marL="0" indent="0">
              <a:buNone/>
            </a:pPr>
            <a:r>
              <a:rPr lang="en-US" sz="1050" i="1" dirty="0">
                <a:solidFill>
                  <a:srgbClr val="6B6B70"/>
                </a:solidFill>
                <a:latin typeface="Calibri" pitchFamily="34" charset="0"/>
                <a:ea typeface="Calibri" pitchFamily="34" charset="-122"/>
                <a:cs typeface="Calibri" pitchFamily="34" charset="-120"/>
              </a:rPr>
              <a:t>São Paulo luxury wedge</a:t>
            </a:r>
            <a:endParaRPr lang="en-US" sz="1050" dirty="0"/>
          </a:p>
        </p:txBody>
      </p:sp>
      <p:sp>
        <p:nvSpPr>
          <p:cNvPr id="14" name="Text 12"/>
          <p:cNvSpPr/>
          <p:nvPr/>
        </p:nvSpPr>
        <p:spPr>
          <a:xfrm>
            <a:off x="868680" y="3776472"/>
            <a:ext cx="1280160" cy="201168"/>
          </a:xfrm>
          <a:prstGeom prst="rect">
            <a:avLst/>
          </a:prstGeom>
          <a:noFill/>
        </p:spPr>
        <p:txBody>
          <a:bodyPr wrap="square" lIns="0" tIns="0" rIns="0" bIns="0" rtlCol="0" anchor="ctr"/>
          <a:lstStyle/>
          <a:p>
            <a:pPr marL="0" indent="0">
              <a:buNone/>
            </a:pPr>
            <a:r>
              <a:rPr lang="en-US" sz="950" b="1" kern="0" spc="300" dirty="0">
                <a:solidFill>
                  <a:srgbClr val="0E7C7B"/>
                </a:solidFill>
                <a:latin typeface="Consolas" pitchFamily="34" charset="0"/>
                <a:ea typeface="Consolas" pitchFamily="34" charset="-122"/>
                <a:cs typeface="Consolas" pitchFamily="34" charset="-120"/>
              </a:rPr>
              <a:t>PHASE 2</a:t>
            </a:r>
            <a:endParaRPr lang="en-US" sz="950" dirty="0"/>
          </a:p>
        </p:txBody>
      </p:sp>
      <p:sp>
        <p:nvSpPr>
          <p:cNvPr id="15" name="Text 13"/>
          <p:cNvSpPr/>
          <p:nvPr/>
        </p:nvSpPr>
        <p:spPr>
          <a:xfrm>
            <a:off x="868680" y="3977640"/>
            <a:ext cx="3027578" cy="292608"/>
          </a:xfrm>
          <a:prstGeom prst="rect">
            <a:avLst/>
          </a:prstGeom>
          <a:noFill/>
        </p:spPr>
        <p:txBody>
          <a:bodyPr wrap="square" lIns="0" tIns="0" rIns="0" bIns="0" rtlCol="0" anchor="ctr"/>
          <a:lstStyle/>
          <a:p>
            <a:pPr marL="0" indent="0">
              <a:buNone/>
            </a:pPr>
            <a:r>
              <a:rPr lang="en-US" sz="1800" b="1" dirty="0">
                <a:solidFill>
                  <a:srgbClr val="1A1A1D"/>
                </a:solidFill>
                <a:latin typeface="Georgia" panose="02040502050405090303" pitchFamily="34" charset="0"/>
                <a:ea typeface="Georgia" panose="02040502050405090303" pitchFamily="34" charset="-122"/>
                <a:cs typeface="Georgia" panose="02040502050405090303" pitchFamily="34" charset="-120"/>
              </a:rPr>
              <a:t>LATAM</a:t>
            </a:r>
            <a:endParaRPr lang="en-US" sz="1800" dirty="0"/>
          </a:p>
        </p:txBody>
      </p:sp>
      <p:sp>
        <p:nvSpPr>
          <p:cNvPr id="16" name="Text 14"/>
          <p:cNvSpPr/>
          <p:nvPr/>
        </p:nvSpPr>
        <p:spPr>
          <a:xfrm>
            <a:off x="868680" y="4251960"/>
            <a:ext cx="3027578" cy="201168"/>
          </a:xfrm>
          <a:prstGeom prst="rect">
            <a:avLst/>
          </a:prstGeom>
          <a:noFill/>
        </p:spPr>
        <p:txBody>
          <a:bodyPr wrap="square" lIns="0" tIns="0" rIns="0" bIns="0" rtlCol="0" anchor="ctr"/>
          <a:lstStyle/>
          <a:p>
            <a:pPr marL="0" indent="0">
              <a:buNone/>
            </a:pPr>
            <a:r>
              <a:rPr lang="en-US" sz="1050" i="1" dirty="0">
                <a:solidFill>
                  <a:srgbClr val="6B6B70"/>
                </a:solidFill>
                <a:latin typeface="Calibri" pitchFamily="34" charset="0"/>
                <a:ea typeface="Calibri" pitchFamily="34" charset="-122"/>
                <a:cs typeface="Calibri" pitchFamily="34" charset="-120"/>
              </a:rPr>
              <a:t>Mexico · Argentina · 2026</a:t>
            </a:r>
            <a:endParaRPr lang="en-US" sz="1050" dirty="0"/>
          </a:p>
        </p:txBody>
      </p:sp>
      <p:sp>
        <p:nvSpPr>
          <p:cNvPr id="17" name="Text 15"/>
          <p:cNvSpPr/>
          <p:nvPr/>
        </p:nvSpPr>
        <p:spPr>
          <a:xfrm>
            <a:off x="868680" y="4489704"/>
            <a:ext cx="1280160" cy="201168"/>
          </a:xfrm>
          <a:prstGeom prst="rect">
            <a:avLst/>
          </a:prstGeom>
          <a:noFill/>
        </p:spPr>
        <p:txBody>
          <a:bodyPr wrap="square" lIns="0" tIns="0" rIns="0" bIns="0" rtlCol="0" anchor="ctr"/>
          <a:lstStyle/>
          <a:p>
            <a:pPr marL="0" indent="0">
              <a:buNone/>
            </a:pPr>
            <a:r>
              <a:rPr lang="en-US" sz="950" b="1" kern="0" spc="300" dirty="0">
                <a:solidFill>
                  <a:srgbClr val="0E7C7B"/>
                </a:solidFill>
                <a:latin typeface="Consolas" pitchFamily="34" charset="0"/>
                <a:ea typeface="Consolas" pitchFamily="34" charset="-122"/>
                <a:cs typeface="Consolas" pitchFamily="34" charset="-120"/>
              </a:rPr>
              <a:t>PHASE 3</a:t>
            </a:r>
            <a:endParaRPr lang="en-US" sz="950" dirty="0"/>
          </a:p>
        </p:txBody>
      </p:sp>
      <p:sp>
        <p:nvSpPr>
          <p:cNvPr id="18" name="Text 16"/>
          <p:cNvSpPr/>
          <p:nvPr/>
        </p:nvSpPr>
        <p:spPr>
          <a:xfrm>
            <a:off x="868680" y="4690872"/>
            <a:ext cx="3027578" cy="292608"/>
          </a:xfrm>
          <a:prstGeom prst="rect">
            <a:avLst/>
          </a:prstGeom>
          <a:noFill/>
        </p:spPr>
        <p:txBody>
          <a:bodyPr wrap="square" lIns="0" tIns="0" rIns="0" bIns="0" rtlCol="0" anchor="ctr"/>
          <a:lstStyle/>
          <a:p>
            <a:pPr marL="0" indent="0">
              <a:buNone/>
            </a:pPr>
            <a:r>
              <a:rPr lang="en-US" sz="1800" b="1" dirty="0">
                <a:solidFill>
                  <a:srgbClr val="1A1A1D"/>
                </a:solidFill>
                <a:latin typeface="Georgia" panose="02040502050405090303" pitchFamily="34" charset="0"/>
                <a:ea typeface="Georgia" panose="02040502050405090303" pitchFamily="34" charset="-122"/>
                <a:cs typeface="Georgia" panose="02040502050405090303" pitchFamily="34" charset="-120"/>
              </a:rPr>
              <a:t>Global</a:t>
            </a:r>
            <a:endParaRPr lang="en-US" sz="1800" dirty="0"/>
          </a:p>
        </p:txBody>
      </p:sp>
      <p:sp>
        <p:nvSpPr>
          <p:cNvPr id="19" name="Text 17"/>
          <p:cNvSpPr/>
          <p:nvPr/>
        </p:nvSpPr>
        <p:spPr>
          <a:xfrm>
            <a:off x="868680" y="4965192"/>
            <a:ext cx="3027578" cy="201168"/>
          </a:xfrm>
          <a:prstGeom prst="rect">
            <a:avLst/>
          </a:prstGeom>
          <a:noFill/>
        </p:spPr>
        <p:txBody>
          <a:bodyPr wrap="square" lIns="0" tIns="0" rIns="0" bIns="0" rtlCol="0" anchor="ctr"/>
          <a:lstStyle/>
          <a:p>
            <a:pPr marL="0" indent="0">
              <a:buNone/>
            </a:pPr>
            <a:r>
              <a:rPr lang="en-US" sz="1050" i="1" dirty="0">
                <a:solidFill>
                  <a:srgbClr val="6B6B70"/>
                </a:solidFill>
                <a:latin typeface="Calibri" pitchFamily="34" charset="0"/>
                <a:ea typeface="Calibri" pitchFamily="34" charset="-122"/>
                <a:cs typeface="Calibri" pitchFamily="34" charset="-120"/>
              </a:rPr>
              <a:t>EM credit corridors · 2027+</a:t>
            </a:r>
            <a:endParaRPr lang="en-US" sz="1050" dirty="0"/>
          </a:p>
        </p:txBody>
      </p:sp>
      <p:sp>
        <p:nvSpPr>
          <p:cNvPr id="20" name="Shape 18"/>
          <p:cNvSpPr/>
          <p:nvPr/>
        </p:nvSpPr>
        <p:spPr>
          <a:xfrm>
            <a:off x="4353458" y="2286000"/>
            <a:ext cx="3484778" cy="3200400"/>
          </a:xfrm>
          <a:prstGeom prst="rect">
            <a:avLst/>
          </a:prstGeom>
          <a:solidFill>
            <a:srgbClr val="FFFFFF"/>
          </a:solidFill>
          <a:ln w="9525">
            <a:solidFill>
              <a:srgbClr val="E5E2D8"/>
            </a:solidFill>
            <a:prstDash val="solid"/>
          </a:ln>
        </p:spPr>
      </p:sp>
      <p:sp>
        <p:nvSpPr>
          <p:cNvPr id="21" name="Text 19"/>
          <p:cNvSpPr/>
          <p:nvPr/>
        </p:nvSpPr>
        <p:spPr>
          <a:xfrm>
            <a:off x="4582058" y="2450592"/>
            <a:ext cx="3027578" cy="274320"/>
          </a:xfrm>
          <a:prstGeom prst="rect">
            <a:avLst/>
          </a:prstGeom>
          <a:noFill/>
        </p:spPr>
        <p:txBody>
          <a:bodyPr wrap="square" lIns="0" tIns="0" rIns="0" bIns="0" rtlCol="0" anchor="ctr"/>
          <a:lstStyle/>
          <a:p>
            <a:pPr marL="0" indent="0">
              <a:buNone/>
            </a:pPr>
            <a:r>
              <a:rPr lang="en-US" sz="1000" b="1" kern="0" spc="400" dirty="0">
                <a:solidFill>
                  <a:srgbClr val="0E7C7B"/>
                </a:solidFill>
                <a:latin typeface="Consolas" pitchFamily="34" charset="0"/>
                <a:ea typeface="Consolas" pitchFamily="34" charset="-122"/>
                <a:cs typeface="Consolas" pitchFamily="34" charset="-120"/>
              </a:rPr>
              <a:t>ADDRESSABLE MARKET</a:t>
            </a:r>
            <a:endParaRPr lang="en-US" sz="1000" dirty="0"/>
          </a:p>
        </p:txBody>
      </p:sp>
      <p:sp>
        <p:nvSpPr>
          <p:cNvPr id="22" name="Shape 20"/>
          <p:cNvSpPr/>
          <p:nvPr/>
        </p:nvSpPr>
        <p:spPr>
          <a:xfrm>
            <a:off x="4582058" y="2788920"/>
            <a:ext cx="3027578" cy="0"/>
          </a:xfrm>
          <a:prstGeom prst="line">
            <a:avLst/>
          </a:prstGeom>
          <a:noFill/>
          <a:ln w="6350">
            <a:solidFill>
              <a:srgbClr val="E5E2D8"/>
            </a:solidFill>
            <a:prstDash val="solid"/>
          </a:ln>
        </p:spPr>
      </p:sp>
      <p:sp>
        <p:nvSpPr>
          <p:cNvPr id="23" name="Text 21"/>
          <p:cNvSpPr/>
          <p:nvPr/>
        </p:nvSpPr>
        <p:spPr>
          <a:xfrm>
            <a:off x="4582058" y="3063240"/>
            <a:ext cx="3027578" cy="365760"/>
          </a:xfrm>
          <a:prstGeom prst="rect">
            <a:avLst/>
          </a:prstGeom>
          <a:noFill/>
        </p:spPr>
        <p:txBody>
          <a:bodyPr wrap="square" lIns="0" tIns="0" rIns="0" bIns="0" rtlCol="0" anchor="ctr"/>
          <a:lstStyle/>
          <a:p>
            <a:pPr marL="0" indent="0">
              <a:buNone/>
            </a:pPr>
            <a:r>
              <a:rPr lang="en-US" sz="2400" b="1" dirty="0">
                <a:solidFill>
                  <a:srgbClr val="1A1A1D"/>
                </a:solidFill>
                <a:latin typeface="Georgia" panose="02040502050405090303" pitchFamily="34" charset="0"/>
                <a:ea typeface="Georgia" panose="02040502050405090303" pitchFamily="34" charset="-122"/>
                <a:cs typeface="Georgia" panose="02040502050405090303" pitchFamily="34" charset="-120"/>
              </a:rPr>
              <a:t>$90B</a:t>
            </a:r>
            <a:endParaRPr lang="en-US" sz="2400" dirty="0"/>
          </a:p>
        </p:txBody>
      </p:sp>
      <p:sp>
        <p:nvSpPr>
          <p:cNvPr id="24" name="Text 22"/>
          <p:cNvSpPr/>
          <p:nvPr/>
        </p:nvSpPr>
        <p:spPr>
          <a:xfrm>
            <a:off x="4582058" y="3392424"/>
            <a:ext cx="3027578" cy="201168"/>
          </a:xfrm>
          <a:prstGeom prst="rect">
            <a:avLst/>
          </a:prstGeom>
          <a:noFill/>
        </p:spPr>
        <p:txBody>
          <a:bodyPr wrap="square" lIns="0" tIns="0" rIns="0" bIns="0" rtlCol="0" anchor="ctr"/>
          <a:lstStyle/>
          <a:p>
            <a:pPr marL="0" indent="0">
              <a:buNone/>
            </a:pPr>
            <a:r>
              <a:rPr lang="en-US" sz="950" b="1" kern="0" spc="200" dirty="0">
                <a:solidFill>
                  <a:srgbClr val="0E7C7B"/>
                </a:solidFill>
                <a:latin typeface="Consolas" pitchFamily="34" charset="0"/>
                <a:ea typeface="Consolas" pitchFamily="34" charset="-122"/>
                <a:cs typeface="Consolas" pitchFamily="34" charset="-120"/>
              </a:rPr>
              <a:t>watches in private hands</a:t>
            </a:r>
            <a:endParaRPr lang="en-US" sz="950" dirty="0"/>
          </a:p>
        </p:txBody>
      </p:sp>
      <p:sp>
        <p:nvSpPr>
          <p:cNvPr id="25" name="Text 23"/>
          <p:cNvSpPr/>
          <p:nvPr/>
        </p:nvSpPr>
        <p:spPr>
          <a:xfrm>
            <a:off x="4582058" y="3566160"/>
            <a:ext cx="3027578" cy="182880"/>
          </a:xfrm>
          <a:prstGeom prst="rect">
            <a:avLst/>
          </a:prstGeom>
          <a:noFill/>
        </p:spPr>
        <p:txBody>
          <a:bodyPr wrap="square" lIns="0" tIns="0" rIns="0" bIns="0" rtlCol="0" anchor="ctr"/>
          <a:lstStyle/>
          <a:p>
            <a:pPr marL="0" indent="0">
              <a:buNone/>
            </a:pPr>
            <a:r>
              <a:rPr lang="en-US" sz="1000" i="1" dirty="0">
                <a:solidFill>
                  <a:srgbClr val="6B6B70"/>
                </a:solidFill>
                <a:latin typeface="Calibri" pitchFamily="34" charset="0"/>
                <a:ea typeface="Calibri" pitchFamily="34" charset="-122"/>
                <a:cs typeface="Calibri" pitchFamily="34" charset="-120"/>
              </a:rPr>
              <a:t>high-credit-cost markets</a:t>
            </a:r>
            <a:endParaRPr lang="en-US" sz="1000" dirty="0"/>
          </a:p>
        </p:txBody>
      </p:sp>
      <p:sp>
        <p:nvSpPr>
          <p:cNvPr id="26" name="Text 24"/>
          <p:cNvSpPr/>
          <p:nvPr/>
        </p:nvSpPr>
        <p:spPr>
          <a:xfrm>
            <a:off x="4582058" y="3776472"/>
            <a:ext cx="3027578" cy="365760"/>
          </a:xfrm>
          <a:prstGeom prst="rect">
            <a:avLst/>
          </a:prstGeom>
          <a:noFill/>
        </p:spPr>
        <p:txBody>
          <a:bodyPr wrap="square" lIns="0" tIns="0" rIns="0" bIns="0" rtlCol="0" anchor="ctr"/>
          <a:lstStyle/>
          <a:p>
            <a:pPr marL="0" indent="0">
              <a:buNone/>
            </a:pPr>
            <a:r>
              <a:rPr lang="en-US" sz="2400" b="1" dirty="0">
                <a:solidFill>
                  <a:srgbClr val="1A1A1D"/>
                </a:solidFill>
                <a:latin typeface="Georgia" panose="02040502050405090303" pitchFamily="34" charset="0"/>
                <a:ea typeface="Georgia" panose="02040502050405090303" pitchFamily="34" charset="-122"/>
                <a:cs typeface="Georgia" panose="02040502050405090303" pitchFamily="34" charset="-120"/>
              </a:rPr>
              <a:t>$20B</a:t>
            </a:r>
            <a:endParaRPr lang="en-US" sz="2400" dirty="0"/>
          </a:p>
        </p:txBody>
      </p:sp>
      <p:sp>
        <p:nvSpPr>
          <p:cNvPr id="27" name="Text 25"/>
          <p:cNvSpPr/>
          <p:nvPr/>
        </p:nvSpPr>
        <p:spPr>
          <a:xfrm>
            <a:off x="4582058" y="4105656"/>
            <a:ext cx="3027578" cy="201168"/>
          </a:xfrm>
          <a:prstGeom prst="rect">
            <a:avLst/>
          </a:prstGeom>
          <a:noFill/>
        </p:spPr>
        <p:txBody>
          <a:bodyPr wrap="square" lIns="0" tIns="0" rIns="0" bIns="0" rtlCol="0" anchor="ctr"/>
          <a:lstStyle/>
          <a:p>
            <a:pPr marL="0" indent="0">
              <a:buNone/>
            </a:pPr>
            <a:r>
              <a:rPr lang="en-US" sz="950" b="1" kern="0" spc="200" dirty="0">
                <a:solidFill>
                  <a:srgbClr val="0E7C7B"/>
                </a:solidFill>
                <a:latin typeface="Consolas" pitchFamily="34" charset="0"/>
                <a:ea typeface="Consolas" pitchFamily="34" charset="-122"/>
                <a:cs typeface="Consolas" pitchFamily="34" charset="-120"/>
              </a:rPr>
              <a:t>realistically addressable</a:t>
            </a:r>
            <a:endParaRPr lang="en-US" sz="950" dirty="0"/>
          </a:p>
        </p:txBody>
      </p:sp>
      <p:sp>
        <p:nvSpPr>
          <p:cNvPr id="28" name="Text 26"/>
          <p:cNvSpPr/>
          <p:nvPr/>
        </p:nvSpPr>
        <p:spPr>
          <a:xfrm>
            <a:off x="4582058" y="4279392"/>
            <a:ext cx="3027578" cy="182880"/>
          </a:xfrm>
          <a:prstGeom prst="rect">
            <a:avLst/>
          </a:prstGeom>
          <a:noFill/>
        </p:spPr>
        <p:txBody>
          <a:bodyPr wrap="square" lIns="0" tIns="0" rIns="0" bIns="0" rtlCol="0" anchor="ctr"/>
          <a:lstStyle/>
          <a:p>
            <a:pPr marL="0" indent="0">
              <a:buNone/>
            </a:pPr>
            <a:r>
              <a:rPr lang="en-US" sz="1000" i="1" dirty="0">
                <a:solidFill>
                  <a:srgbClr val="6B6B70"/>
                </a:solidFill>
                <a:latin typeface="Calibri" pitchFamily="34" charset="0"/>
                <a:ea typeface="Calibri" pitchFamily="34" charset="-122"/>
                <a:cs typeface="Calibri" pitchFamily="34" charset="-120"/>
              </a:rPr>
              <a:t>5-yr horizon</a:t>
            </a:r>
            <a:endParaRPr lang="en-US" sz="1000" dirty="0"/>
          </a:p>
        </p:txBody>
      </p:sp>
      <p:sp>
        <p:nvSpPr>
          <p:cNvPr id="29" name="Text 27"/>
          <p:cNvSpPr/>
          <p:nvPr/>
        </p:nvSpPr>
        <p:spPr>
          <a:xfrm>
            <a:off x="4582058" y="4489704"/>
            <a:ext cx="3027578" cy="365760"/>
          </a:xfrm>
          <a:prstGeom prst="rect">
            <a:avLst/>
          </a:prstGeom>
          <a:noFill/>
        </p:spPr>
        <p:txBody>
          <a:bodyPr wrap="square" lIns="0" tIns="0" rIns="0" bIns="0" rtlCol="0" anchor="ctr"/>
          <a:lstStyle/>
          <a:p>
            <a:pPr marL="0" indent="0">
              <a:buNone/>
            </a:pPr>
            <a:r>
              <a:rPr lang="en-US" sz="2400" b="1" dirty="0">
                <a:solidFill>
                  <a:srgbClr val="1A1A1D"/>
                </a:solidFill>
                <a:latin typeface="Georgia" panose="02040502050405090303" pitchFamily="34" charset="0"/>
                <a:ea typeface="Georgia" panose="02040502050405090303" pitchFamily="34" charset="-122"/>
                <a:cs typeface="Georgia" panose="02040502050405090303" pitchFamily="34" charset="-120"/>
              </a:rPr>
              <a:t>$1–3B</a:t>
            </a:r>
            <a:endParaRPr lang="en-US" sz="2400" dirty="0"/>
          </a:p>
        </p:txBody>
      </p:sp>
      <p:sp>
        <p:nvSpPr>
          <p:cNvPr id="30" name="Text 28"/>
          <p:cNvSpPr/>
          <p:nvPr/>
        </p:nvSpPr>
        <p:spPr>
          <a:xfrm>
            <a:off x="4582058" y="4818888"/>
            <a:ext cx="3027578" cy="201168"/>
          </a:xfrm>
          <a:prstGeom prst="rect">
            <a:avLst/>
          </a:prstGeom>
          <a:noFill/>
        </p:spPr>
        <p:txBody>
          <a:bodyPr wrap="square" lIns="0" tIns="0" rIns="0" bIns="0" rtlCol="0" anchor="ctr"/>
          <a:lstStyle/>
          <a:p>
            <a:pPr marL="0" indent="0">
              <a:buNone/>
            </a:pPr>
            <a:r>
              <a:rPr lang="en-US" sz="950" b="1" kern="0" spc="200" dirty="0">
                <a:solidFill>
                  <a:srgbClr val="0E7C7B"/>
                </a:solidFill>
                <a:latin typeface="Consolas" pitchFamily="34" charset="0"/>
                <a:ea typeface="Consolas" pitchFamily="34" charset="-122"/>
                <a:cs typeface="Consolas" pitchFamily="34" charset="-120"/>
              </a:rPr>
              <a:t>year-5 origination target</a:t>
            </a:r>
            <a:endParaRPr lang="en-US" sz="950" dirty="0"/>
          </a:p>
        </p:txBody>
      </p:sp>
      <p:sp>
        <p:nvSpPr>
          <p:cNvPr id="31" name="Text 29"/>
          <p:cNvSpPr/>
          <p:nvPr/>
        </p:nvSpPr>
        <p:spPr>
          <a:xfrm>
            <a:off x="4582058" y="4992624"/>
            <a:ext cx="3027578" cy="182880"/>
          </a:xfrm>
          <a:prstGeom prst="rect">
            <a:avLst/>
          </a:prstGeom>
          <a:noFill/>
        </p:spPr>
        <p:txBody>
          <a:bodyPr wrap="square" lIns="0" tIns="0" rIns="0" bIns="0" rtlCol="0" anchor="ctr"/>
          <a:lstStyle/>
          <a:p>
            <a:pPr marL="0" indent="0">
              <a:buNone/>
            </a:pPr>
            <a:r>
              <a:rPr lang="en-US" sz="1000" i="1" dirty="0">
                <a:solidFill>
                  <a:srgbClr val="6B6B70"/>
                </a:solidFill>
                <a:latin typeface="Calibri" pitchFamily="34" charset="0"/>
                <a:ea typeface="Calibri" pitchFamily="34" charset="-122"/>
                <a:cs typeface="Calibri" pitchFamily="34" charset="-120"/>
              </a:rPr>
              <a:t>1–5% capture of pool</a:t>
            </a:r>
            <a:endParaRPr lang="en-US" sz="1000" dirty="0"/>
          </a:p>
        </p:txBody>
      </p:sp>
      <p:sp>
        <p:nvSpPr>
          <p:cNvPr id="32" name="Shape 30"/>
          <p:cNvSpPr/>
          <p:nvPr/>
        </p:nvSpPr>
        <p:spPr>
          <a:xfrm>
            <a:off x="8066837" y="2286000"/>
            <a:ext cx="3484778" cy="3200400"/>
          </a:xfrm>
          <a:prstGeom prst="rect">
            <a:avLst/>
          </a:prstGeom>
          <a:solidFill>
            <a:srgbClr val="FFFFFF"/>
          </a:solidFill>
          <a:ln w="15240">
            <a:solidFill>
              <a:srgbClr val="0E7C7B"/>
            </a:solidFill>
            <a:prstDash val="solid"/>
          </a:ln>
        </p:spPr>
      </p:sp>
      <p:sp>
        <p:nvSpPr>
          <p:cNvPr id="33" name="Text 31"/>
          <p:cNvSpPr/>
          <p:nvPr/>
        </p:nvSpPr>
        <p:spPr>
          <a:xfrm>
            <a:off x="8295437" y="2450592"/>
            <a:ext cx="3027578" cy="274320"/>
          </a:xfrm>
          <a:prstGeom prst="rect">
            <a:avLst/>
          </a:prstGeom>
          <a:noFill/>
        </p:spPr>
        <p:txBody>
          <a:bodyPr wrap="square" lIns="0" tIns="0" rIns="0" bIns="0" rtlCol="0" anchor="ctr"/>
          <a:lstStyle/>
          <a:p>
            <a:pPr marL="0" indent="0">
              <a:buNone/>
            </a:pPr>
            <a:r>
              <a:rPr lang="en-US" sz="1000" b="1" kern="0" spc="400" dirty="0">
                <a:solidFill>
                  <a:srgbClr val="0E7C7B"/>
                </a:solidFill>
                <a:latin typeface="Consolas" pitchFamily="34" charset="0"/>
                <a:ea typeface="Consolas" pitchFamily="34" charset="-122"/>
                <a:cs typeface="Consolas" pitchFamily="34" charset="-120"/>
              </a:rPr>
              <a:t>PROPRIETARY DISTRIBUTION</a:t>
            </a:r>
            <a:endParaRPr lang="en-US" sz="1000" dirty="0"/>
          </a:p>
        </p:txBody>
      </p:sp>
      <p:sp>
        <p:nvSpPr>
          <p:cNvPr id="34" name="Shape 32"/>
          <p:cNvSpPr/>
          <p:nvPr/>
        </p:nvSpPr>
        <p:spPr>
          <a:xfrm>
            <a:off x="8295437" y="2788920"/>
            <a:ext cx="3027578" cy="0"/>
          </a:xfrm>
          <a:prstGeom prst="line">
            <a:avLst/>
          </a:prstGeom>
          <a:noFill/>
          <a:ln w="6350">
            <a:solidFill>
              <a:srgbClr val="E5E2D8"/>
            </a:solidFill>
            <a:prstDash val="solid"/>
          </a:ln>
        </p:spPr>
      </p:sp>
      <p:sp>
        <p:nvSpPr>
          <p:cNvPr id="35" name="Text 33"/>
          <p:cNvSpPr/>
          <p:nvPr/>
        </p:nvSpPr>
        <p:spPr>
          <a:xfrm>
            <a:off x="8295437" y="3063240"/>
            <a:ext cx="3027578" cy="292608"/>
          </a:xfrm>
          <a:prstGeom prst="rect">
            <a:avLst/>
          </a:prstGeom>
          <a:noFill/>
        </p:spPr>
        <p:txBody>
          <a:bodyPr wrap="square" lIns="0" tIns="0" rIns="0" bIns="0" rtlCol="0" anchor="ctr"/>
          <a:lstStyle/>
          <a:p>
            <a:pPr marL="0" indent="0">
              <a:buNone/>
            </a:pPr>
            <a:r>
              <a:rPr lang="en-US" sz="1600" b="1" dirty="0">
                <a:solidFill>
                  <a:srgbClr val="1A1A1D"/>
                </a:solidFill>
                <a:latin typeface="Georgia" panose="02040502050405090303" pitchFamily="34" charset="0"/>
                <a:ea typeface="Georgia" panose="02040502050405090303" pitchFamily="34" charset="-122"/>
                <a:cs typeface="Georgia" panose="02040502050405090303" pitchFamily="34" charset="-120"/>
              </a:rPr>
              <a:t>4p.finance</a:t>
            </a:r>
            <a:endParaRPr lang="en-US" sz="1600" dirty="0"/>
          </a:p>
        </p:txBody>
      </p:sp>
      <p:sp>
        <p:nvSpPr>
          <p:cNvPr id="36" name="Text 34"/>
          <p:cNvSpPr/>
          <p:nvPr/>
        </p:nvSpPr>
        <p:spPr>
          <a:xfrm>
            <a:off x="8295437" y="3355848"/>
            <a:ext cx="3027578" cy="384048"/>
          </a:xfrm>
          <a:prstGeom prst="rect">
            <a:avLst/>
          </a:prstGeom>
          <a:noFill/>
        </p:spPr>
        <p:txBody>
          <a:bodyPr wrap="square" lIns="0" tIns="0" rIns="0" bIns="0" rtlCol="0" anchor="ctr"/>
          <a:lstStyle/>
          <a:p>
            <a:pPr marL="0" indent="0">
              <a:lnSpc>
                <a:spcPts val="1300"/>
              </a:lnSpc>
              <a:buNone/>
            </a:pPr>
            <a:r>
              <a:rPr lang="en-US" sz="950" dirty="0">
                <a:solidFill>
                  <a:srgbClr val="6B6B70"/>
                </a:solidFill>
                <a:latin typeface="Calibri" pitchFamily="34" charset="0"/>
                <a:ea typeface="Calibri" pitchFamily="34" charset="-122"/>
                <a:cs typeface="Calibri" pitchFamily="34" charset="-120"/>
              </a:rPr>
              <a:t>São Paulo luxury watch flow on crypto rails today (Felipe)</a:t>
            </a:r>
            <a:endParaRPr lang="en-US" sz="950" dirty="0"/>
          </a:p>
        </p:txBody>
      </p:sp>
      <p:sp>
        <p:nvSpPr>
          <p:cNvPr id="37" name="Text 35"/>
          <p:cNvSpPr/>
          <p:nvPr/>
        </p:nvSpPr>
        <p:spPr>
          <a:xfrm>
            <a:off x="8295437" y="3776472"/>
            <a:ext cx="3027578" cy="292608"/>
          </a:xfrm>
          <a:prstGeom prst="rect">
            <a:avLst/>
          </a:prstGeom>
          <a:noFill/>
        </p:spPr>
        <p:txBody>
          <a:bodyPr wrap="square" lIns="0" tIns="0" rIns="0" bIns="0" rtlCol="0" anchor="ctr"/>
          <a:lstStyle/>
          <a:p>
            <a:pPr marL="0" indent="0">
              <a:buNone/>
            </a:pPr>
            <a:r>
              <a:rPr lang="en-US" sz="1600" b="1" dirty="0">
                <a:solidFill>
                  <a:srgbClr val="1A1A1D"/>
                </a:solidFill>
                <a:latin typeface="Georgia" panose="02040502050405090303" pitchFamily="34" charset="0"/>
                <a:ea typeface="Georgia" panose="02040502050405090303" pitchFamily="34" charset="-122"/>
                <a:cs typeface="Georgia" panose="02040502050405090303" pitchFamily="34" charset="-120"/>
              </a:rPr>
              <a:t>Gitel</a:t>
            </a:r>
            <a:endParaRPr lang="en-US" sz="1600" dirty="0"/>
          </a:p>
        </p:txBody>
      </p:sp>
      <p:sp>
        <p:nvSpPr>
          <p:cNvPr id="38" name="Text 36"/>
          <p:cNvSpPr/>
          <p:nvPr/>
        </p:nvSpPr>
        <p:spPr>
          <a:xfrm>
            <a:off x="8295437" y="4069080"/>
            <a:ext cx="3027578" cy="384048"/>
          </a:xfrm>
          <a:prstGeom prst="rect">
            <a:avLst/>
          </a:prstGeom>
          <a:noFill/>
        </p:spPr>
        <p:txBody>
          <a:bodyPr wrap="square" lIns="0" tIns="0" rIns="0" bIns="0" rtlCol="0" anchor="ctr"/>
          <a:lstStyle/>
          <a:p>
            <a:pPr marL="0" indent="0">
              <a:lnSpc>
                <a:spcPts val="1300"/>
              </a:lnSpc>
              <a:buNone/>
            </a:pPr>
            <a:r>
              <a:rPr lang="en-US" sz="950" dirty="0">
                <a:solidFill>
                  <a:srgbClr val="6B6B70"/>
                </a:solidFill>
                <a:latin typeface="Calibri" pitchFamily="34" charset="0"/>
                <a:ea typeface="Calibri" pitchFamily="34" charset="-122"/>
                <a:cs typeface="Calibri" pitchFamily="34" charset="-120"/>
              </a:rPr>
              <a:t>38-yr Brazilian corporate network · electronic-security clients (Marcelo)</a:t>
            </a:r>
            <a:endParaRPr lang="en-US" sz="950" dirty="0"/>
          </a:p>
        </p:txBody>
      </p:sp>
      <p:sp>
        <p:nvSpPr>
          <p:cNvPr id="39" name="Text 37"/>
          <p:cNvSpPr/>
          <p:nvPr/>
        </p:nvSpPr>
        <p:spPr>
          <a:xfrm>
            <a:off x="8295437" y="4489704"/>
            <a:ext cx="3027578" cy="292608"/>
          </a:xfrm>
          <a:prstGeom prst="rect">
            <a:avLst/>
          </a:prstGeom>
          <a:noFill/>
        </p:spPr>
        <p:txBody>
          <a:bodyPr wrap="square" lIns="0" tIns="0" rIns="0" bIns="0" rtlCol="0" anchor="ctr"/>
          <a:lstStyle/>
          <a:p>
            <a:pPr marL="0" indent="0">
              <a:buNone/>
            </a:pPr>
            <a:r>
              <a:rPr lang="en-US" sz="1600" b="1" dirty="0">
                <a:solidFill>
                  <a:srgbClr val="1A1A1D"/>
                </a:solidFill>
                <a:latin typeface="Georgia" panose="02040502050405090303" pitchFamily="34" charset="0"/>
                <a:ea typeface="Georgia" panose="02040502050405090303" pitchFamily="34" charset="-122"/>
                <a:cs typeface="Georgia" panose="02040502050405090303" pitchFamily="34" charset="-120"/>
              </a:rPr>
              <a:t>Mercado Bitcoin</a:t>
            </a:r>
            <a:endParaRPr lang="en-US" sz="1600" dirty="0"/>
          </a:p>
        </p:txBody>
      </p:sp>
      <p:sp>
        <p:nvSpPr>
          <p:cNvPr id="40" name="Text 38"/>
          <p:cNvSpPr/>
          <p:nvPr/>
        </p:nvSpPr>
        <p:spPr>
          <a:xfrm>
            <a:off x="8295437" y="4782312"/>
            <a:ext cx="3027578" cy="384048"/>
          </a:xfrm>
          <a:prstGeom prst="rect">
            <a:avLst/>
          </a:prstGeom>
          <a:noFill/>
        </p:spPr>
        <p:txBody>
          <a:bodyPr wrap="square" lIns="0" tIns="0" rIns="0" bIns="0" rtlCol="0" anchor="ctr"/>
          <a:lstStyle/>
          <a:p>
            <a:pPr marL="0" indent="0">
              <a:lnSpc>
                <a:spcPts val="1300"/>
              </a:lnSpc>
              <a:buNone/>
            </a:pPr>
            <a:r>
              <a:rPr lang="en-US" sz="950" dirty="0">
                <a:solidFill>
                  <a:srgbClr val="6B6B70"/>
                </a:solidFill>
                <a:latin typeface="Calibri" pitchFamily="34" charset="0"/>
                <a:ea typeface="Calibri" pitchFamily="34" charset="-122"/>
                <a:cs typeface="Calibri" pitchFamily="34" charset="-120"/>
              </a:rPr>
              <a:t>~4M users · regulated BR issuer · in active discussion</a:t>
            </a:r>
            <a:endParaRPr lang="en-US" sz="950" dirty="0"/>
          </a:p>
        </p:txBody>
      </p:sp>
      <p:sp>
        <p:nvSpPr>
          <p:cNvPr id="41" name="Text 39"/>
          <p:cNvSpPr/>
          <p:nvPr/>
        </p:nvSpPr>
        <p:spPr>
          <a:xfrm>
            <a:off x="640080" y="5760720"/>
            <a:ext cx="10911535" cy="365760"/>
          </a:xfrm>
          <a:prstGeom prst="rect">
            <a:avLst/>
          </a:prstGeom>
          <a:noFill/>
        </p:spPr>
        <p:txBody>
          <a:bodyPr wrap="square" lIns="0" tIns="0" rIns="0" bIns="0" rtlCol="0" anchor="ctr"/>
          <a:lstStyle/>
          <a:p>
            <a:pPr marL="0" indent="0">
              <a:buNone/>
            </a:pPr>
            <a:r>
              <a:rPr lang="en-US" sz="1400" b="1" dirty="0">
                <a:solidFill>
                  <a:srgbClr val="0E7C7B"/>
                </a:solidFill>
              </a:rPr>
              <a:t>→  </a:t>
            </a:r>
            <a:r>
              <a:rPr lang="en-US" sz="1400" b="1" dirty="0">
                <a:solidFill>
                  <a:srgbClr val="1A1A1D"/>
                </a:solidFill>
                <a:latin typeface="Georgia" panose="02040502050405090303" pitchFamily="34" charset="0"/>
                <a:ea typeface="Georgia" panose="02040502050405090303" pitchFamily="34" charset="-122"/>
                <a:cs typeface="Georgia" panose="02040502050405090303" pitchFamily="34" charset="-120"/>
              </a:rPr>
              <a:t>Low CAC at launch.  </a:t>
            </a:r>
            <a:r>
              <a:rPr lang="en-US" sz="1400" i="1" dirty="0">
                <a:solidFill>
                  <a:srgbClr val="6B6B70"/>
                </a:solidFill>
                <a:latin typeface="Georgia" panose="02040502050405090303" pitchFamily="34" charset="0"/>
                <a:ea typeface="Georgia" panose="02040502050405090303" pitchFamily="34" charset="-122"/>
                <a:cs typeface="Georgia" panose="02040502050405090303" pitchFamily="34" charset="-120"/>
              </a:rPr>
              <a:t>Growth driven by partner-network multiplication, not paid acquisition.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640080" y="530352"/>
            <a:ext cx="109728" cy="22860"/>
          </a:xfrm>
          <a:prstGeom prst="rect">
            <a:avLst/>
          </a:prstGeom>
          <a:solidFill>
            <a:srgbClr val="0E7C7B"/>
          </a:solidFill>
          <a:ln w="12700">
            <a:solidFill>
              <a:srgbClr val="0E7C7B"/>
            </a:solidFill>
            <a:prstDash val="solid"/>
          </a:ln>
        </p:spPr>
      </p:sp>
      <p:sp>
        <p:nvSpPr>
          <p:cNvPr id="3" name="Text 1"/>
          <p:cNvSpPr/>
          <p:nvPr/>
        </p:nvSpPr>
        <p:spPr>
          <a:xfrm>
            <a:off x="804672" y="457200"/>
            <a:ext cx="5321808" cy="228600"/>
          </a:xfrm>
          <a:prstGeom prst="rect">
            <a:avLst/>
          </a:prstGeom>
          <a:noFill/>
        </p:spPr>
        <p:txBody>
          <a:bodyPr wrap="square" lIns="0" tIns="0" rIns="0" bIns="0" rtlCol="0" anchor="ctr"/>
          <a:lstStyle/>
          <a:p>
            <a:pPr marL="0" indent="0">
              <a:buNone/>
            </a:pPr>
            <a:r>
              <a:rPr lang="en-US" sz="950" b="1" kern="0" spc="400" dirty="0">
                <a:solidFill>
                  <a:srgbClr val="0E7C7B"/>
                </a:solidFill>
                <a:latin typeface="Consolas" pitchFamily="34" charset="0"/>
                <a:ea typeface="Consolas" pitchFamily="34" charset="-122"/>
                <a:cs typeface="Consolas" pitchFamily="34" charset="-120"/>
              </a:rPr>
              <a:t>07  /  WHY NOW  ·  WHY US</a:t>
            </a:r>
            <a:endParaRPr lang="en-US" sz="950" dirty="0"/>
          </a:p>
        </p:txBody>
      </p:sp>
      <p:sp>
        <p:nvSpPr>
          <p:cNvPr id="4" name="Text 2"/>
          <p:cNvSpPr/>
          <p:nvPr/>
        </p:nvSpPr>
        <p:spPr>
          <a:xfrm>
            <a:off x="640080" y="777240"/>
            <a:ext cx="10911535" cy="640080"/>
          </a:xfrm>
          <a:prstGeom prst="rect">
            <a:avLst/>
          </a:prstGeom>
          <a:noFill/>
        </p:spPr>
        <p:txBody>
          <a:bodyPr wrap="square" lIns="0" tIns="0" rIns="0" bIns="0" rtlCol="0" anchor="ctr"/>
          <a:lstStyle/>
          <a:p>
            <a:pPr marL="0" indent="0">
              <a:buNone/>
            </a:pPr>
            <a:r>
              <a:rPr lang="en-US" sz="3000" b="1" dirty="0">
                <a:solidFill>
                  <a:srgbClr val="1A1A1D"/>
                </a:solidFill>
                <a:latin typeface="Georgia" panose="02040502050405090303" pitchFamily="34" charset="0"/>
                <a:ea typeface="Georgia" panose="02040502050405090303" pitchFamily="34" charset="-122"/>
                <a:cs typeface="Georgia" panose="02040502050405090303" pitchFamily="34" charset="-120"/>
              </a:rPr>
              <a:t>Why </a:t>
            </a:r>
            <a:r>
              <a:rPr lang="en-US" sz="3000" b="1" i="1" dirty="0">
                <a:solidFill>
                  <a:srgbClr val="0E7C7B"/>
                </a:solidFill>
                <a:latin typeface="Georgia" panose="02040502050405090303" pitchFamily="34" charset="0"/>
                <a:ea typeface="Georgia" panose="02040502050405090303" pitchFamily="34" charset="-122"/>
                <a:cs typeface="Georgia" panose="02040502050405090303" pitchFamily="34" charset="-120"/>
              </a:rPr>
              <a:t>now</a:t>
            </a:r>
            <a:r>
              <a:rPr lang="en-US" sz="3000" b="1" dirty="0">
                <a:solidFill>
                  <a:srgbClr val="1A1A1D"/>
                </a:solidFill>
                <a:latin typeface="Georgia" panose="02040502050405090303" pitchFamily="34" charset="0"/>
                <a:ea typeface="Georgia" panose="02040502050405090303" pitchFamily="34" charset="-122"/>
                <a:cs typeface="Georgia" panose="02040502050405090303" pitchFamily="34" charset="-120"/>
              </a:rPr>
              <a:t>.  Why </a:t>
            </a:r>
            <a:r>
              <a:rPr lang="en-US" sz="3000" b="1" i="1" dirty="0">
                <a:solidFill>
                  <a:srgbClr val="0E7C7B"/>
                </a:solidFill>
                <a:latin typeface="Georgia" panose="02040502050405090303" pitchFamily="34" charset="0"/>
                <a:ea typeface="Georgia" panose="02040502050405090303" pitchFamily="34" charset="-122"/>
                <a:cs typeface="Georgia" panose="02040502050405090303" pitchFamily="34" charset="-120"/>
              </a:rPr>
              <a:t>us</a:t>
            </a:r>
            <a:r>
              <a:rPr lang="en-US" sz="3000" b="1" dirty="0">
                <a:solidFill>
                  <a:srgbClr val="1A1A1D"/>
                </a:solidFill>
                <a:latin typeface="Georgia" panose="02040502050405090303" pitchFamily="34" charset="0"/>
                <a:ea typeface="Georgia" panose="02040502050405090303" pitchFamily="34" charset="-122"/>
                <a:cs typeface="Georgia" panose="02040502050405090303" pitchFamily="34" charset="-120"/>
              </a:rPr>
              <a:t>.</a:t>
            </a:r>
            <a:endParaRPr lang="en-US" sz="3000" dirty="0"/>
          </a:p>
        </p:txBody>
      </p:sp>
      <p:sp>
        <p:nvSpPr>
          <p:cNvPr id="5" name="Text 3"/>
          <p:cNvSpPr/>
          <p:nvPr/>
        </p:nvSpPr>
        <p:spPr>
          <a:xfrm>
            <a:off x="640080" y="1417320"/>
            <a:ext cx="10911535" cy="320040"/>
          </a:xfrm>
          <a:prstGeom prst="rect">
            <a:avLst/>
          </a:prstGeom>
          <a:noFill/>
        </p:spPr>
        <p:txBody>
          <a:bodyPr wrap="square" lIns="0" tIns="0" rIns="0" bIns="0" rtlCol="0" anchor="ctr"/>
          <a:lstStyle/>
          <a:p>
            <a:pPr marL="0" indent="0">
              <a:buNone/>
            </a:pPr>
            <a:r>
              <a:rPr lang="en-US" sz="1200" dirty="0">
                <a:solidFill>
                  <a:srgbClr val="6B6B70"/>
                </a:solidFill>
                <a:latin typeface="Calibri" pitchFamily="34" charset="0"/>
                <a:ea typeface="Calibri" pitchFamily="34" charset="-122"/>
                <a:cs typeface="Calibri" pitchFamily="34" charset="-120"/>
              </a:rPr>
              <a:t>Solana RWA crossed institutional inflection. Competitors stuck on Ethereum. Nobody owns the LATAM-first wedge.</a:t>
            </a:r>
            <a:endParaRPr lang="en-US" sz="1200" dirty="0"/>
          </a:p>
        </p:txBody>
      </p:sp>
      <p:sp>
        <p:nvSpPr>
          <p:cNvPr id="6" name="Shape 4"/>
          <p:cNvSpPr/>
          <p:nvPr/>
        </p:nvSpPr>
        <p:spPr>
          <a:xfrm>
            <a:off x="640080" y="1783080"/>
            <a:ext cx="914400" cy="0"/>
          </a:xfrm>
          <a:prstGeom prst="line">
            <a:avLst/>
          </a:prstGeom>
          <a:noFill/>
          <a:ln w="15240">
            <a:solidFill>
              <a:srgbClr val="0E7C7B"/>
            </a:solidFill>
            <a:prstDash val="solid"/>
          </a:ln>
        </p:spPr>
      </p:sp>
      <p:sp>
        <p:nvSpPr>
          <p:cNvPr id="7" name="Text 5"/>
          <p:cNvSpPr/>
          <p:nvPr/>
        </p:nvSpPr>
        <p:spPr>
          <a:xfrm>
            <a:off x="777240" y="1965960"/>
            <a:ext cx="2453564" cy="201168"/>
          </a:xfrm>
          <a:prstGeom prst="rect">
            <a:avLst/>
          </a:prstGeom>
          <a:noFill/>
        </p:spPr>
        <p:txBody>
          <a:bodyPr wrap="square" lIns="0" tIns="0" rIns="0" bIns="0" rtlCol="0" anchor="ctr"/>
          <a:lstStyle/>
          <a:p>
            <a:pPr marL="0" indent="0">
              <a:buNone/>
            </a:pPr>
            <a:r>
              <a:rPr lang="en-US" sz="850" b="1" kern="0" spc="300" dirty="0">
                <a:solidFill>
                  <a:srgbClr val="0E7C7B"/>
                </a:solidFill>
                <a:latin typeface="Consolas" pitchFamily="34" charset="0"/>
                <a:ea typeface="Consolas" pitchFamily="34" charset="-122"/>
                <a:cs typeface="Consolas" pitchFamily="34" charset="-120"/>
              </a:rPr>
              <a:t>RWA TVL ON SOLANA</a:t>
            </a:r>
            <a:endParaRPr lang="en-US" sz="850" dirty="0"/>
          </a:p>
        </p:txBody>
      </p:sp>
      <p:sp>
        <p:nvSpPr>
          <p:cNvPr id="8" name="Text 6"/>
          <p:cNvSpPr/>
          <p:nvPr/>
        </p:nvSpPr>
        <p:spPr>
          <a:xfrm>
            <a:off x="777240" y="2167128"/>
            <a:ext cx="2453564" cy="365760"/>
          </a:xfrm>
          <a:prstGeom prst="rect">
            <a:avLst/>
          </a:prstGeom>
          <a:noFill/>
        </p:spPr>
        <p:txBody>
          <a:bodyPr wrap="square" lIns="0" tIns="0" rIns="0" bIns="0" rtlCol="0" anchor="ctr"/>
          <a:lstStyle/>
          <a:p>
            <a:pPr marL="0" indent="0">
              <a:buNone/>
            </a:pPr>
            <a:r>
              <a:rPr lang="en-US" sz="1600" b="1" dirty="0">
                <a:solidFill>
                  <a:srgbClr val="1A1A1D"/>
                </a:solidFill>
                <a:latin typeface="Georgia" panose="02040502050405090303" pitchFamily="34" charset="0"/>
                <a:ea typeface="Georgia" panose="02040502050405090303" pitchFamily="34" charset="-122"/>
                <a:cs typeface="Georgia" panose="02040502050405090303" pitchFamily="34" charset="-120"/>
              </a:rPr>
              <a:t>$1.82B</a:t>
            </a:r>
            <a:endParaRPr lang="en-US" sz="1600" dirty="0"/>
          </a:p>
        </p:txBody>
      </p:sp>
      <p:sp>
        <p:nvSpPr>
          <p:cNvPr id="9" name="Text 7"/>
          <p:cNvSpPr/>
          <p:nvPr/>
        </p:nvSpPr>
        <p:spPr>
          <a:xfrm>
            <a:off x="777240" y="2514600"/>
            <a:ext cx="2453564" cy="201168"/>
          </a:xfrm>
          <a:prstGeom prst="rect">
            <a:avLst/>
          </a:prstGeom>
          <a:noFill/>
        </p:spPr>
        <p:txBody>
          <a:bodyPr wrap="square" lIns="0" tIns="0" rIns="0" bIns="0" rtlCol="0" anchor="ctr"/>
          <a:lstStyle/>
          <a:p>
            <a:pPr marL="0" indent="0">
              <a:buNone/>
            </a:pPr>
            <a:r>
              <a:rPr lang="en-US" sz="1000" i="1" dirty="0">
                <a:solidFill>
                  <a:srgbClr val="6B6B70"/>
                </a:solidFill>
                <a:latin typeface="Calibri" pitchFamily="34" charset="0"/>
                <a:ea typeface="Calibri" pitchFamily="34" charset="-122"/>
                <a:cs typeface="Calibri" pitchFamily="34" charset="-120"/>
              </a:rPr>
              <a:t>Mar 2026 · +90% MoM</a:t>
            </a:r>
            <a:endParaRPr lang="en-US" sz="1000" dirty="0"/>
          </a:p>
        </p:txBody>
      </p:sp>
      <p:sp>
        <p:nvSpPr>
          <p:cNvPr id="10" name="Shape 8"/>
          <p:cNvSpPr/>
          <p:nvPr/>
        </p:nvSpPr>
        <p:spPr>
          <a:xfrm>
            <a:off x="3367964" y="2057400"/>
            <a:ext cx="0" cy="594360"/>
          </a:xfrm>
          <a:prstGeom prst="line">
            <a:avLst/>
          </a:prstGeom>
          <a:noFill/>
          <a:ln w="6350">
            <a:solidFill>
              <a:srgbClr val="E5E2D8"/>
            </a:solidFill>
            <a:prstDash val="solid"/>
          </a:ln>
        </p:spPr>
      </p:sp>
      <p:sp>
        <p:nvSpPr>
          <p:cNvPr id="11" name="Text 9"/>
          <p:cNvSpPr/>
          <p:nvPr/>
        </p:nvSpPr>
        <p:spPr>
          <a:xfrm>
            <a:off x="3505124" y="1965960"/>
            <a:ext cx="2453564" cy="201168"/>
          </a:xfrm>
          <a:prstGeom prst="rect">
            <a:avLst/>
          </a:prstGeom>
          <a:noFill/>
        </p:spPr>
        <p:txBody>
          <a:bodyPr wrap="square" lIns="0" tIns="0" rIns="0" bIns="0" rtlCol="0" anchor="ctr"/>
          <a:lstStyle/>
          <a:p>
            <a:pPr marL="0" indent="0">
              <a:buNone/>
            </a:pPr>
            <a:r>
              <a:rPr lang="en-US" sz="850" b="1" kern="0" spc="300" dirty="0">
                <a:solidFill>
                  <a:srgbClr val="0E7C7B"/>
                </a:solidFill>
                <a:latin typeface="Consolas" pitchFamily="34" charset="0"/>
                <a:ea typeface="Consolas" pitchFamily="34" charset="-122"/>
                <a:cs typeface="Consolas" pitchFamily="34" charset="-120"/>
              </a:rPr>
              <a:t>WESTERN UNION USDPT</a:t>
            </a:r>
            <a:endParaRPr lang="en-US" sz="850" dirty="0"/>
          </a:p>
        </p:txBody>
      </p:sp>
      <p:sp>
        <p:nvSpPr>
          <p:cNvPr id="12" name="Text 10"/>
          <p:cNvSpPr/>
          <p:nvPr/>
        </p:nvSpPr>
        <p:spPr>
          <a:xfrm>
            <a:off x="3505124" y="2167128"/>
            <a:ext cx="2453564" cy="365760"/>
          </a:xfrm>
          <a:prstGeom prst="rect">
            <a:avLst/>
          </a:prstGeom>
          <a:noFill/>
        </p:spPr>
        <p:txBody>
          <a:bodyPr wrap="square" lIns="0" tIns="0" rIns="0" bIns="0" rtlCol="0" anchor="ctr"/>
          <a:lstStyle/>
          <a:p>
            <a:pPr marL="0" indent="0">
              <a:buNone/>
            </a:pPr>
            <a:r>
              <a:rPr lang="en-US" sz="1600" b="1" dirty="0">
                <a:solidFill>
                  <a:srgbClr val="1A1A1D"/>
                </a:solidFill>
                <a:latin typeface="Georgia" panose="02040502050405090303" pitchFamily="34" charset="0"/>
                <a:ea typeface="Georgia" panose="02040502050405090303" pitchFamily="34" charset="-122"/>
                <a:cs typeface="Georgia" panose="02040502050405090303" pitchFamily="34" charset="-120"/>
              </a:rPr>
              <a:t>Stablecoin</a:t>
            </a:r>
            <a:endParaRPr lang="en-US" sz="1600" dirty="0"/>
          </a:p>
        </p:txBody>
      </p:sp>
      <p:sp>
        <p:nvSpPr>
          <p:cNvPr id="13" name="Text 11"/>
          <p:cNvSpPr/>
          <p:nvPr/>
        </p:nvSpPr>
        <p:spPr>
          <a:xfrm>
            <a:off x="3505124" y="2514600"/>
            <a:ext cx="2453564" cy="201168"/>
          </a:xfrm>
          <a:prstGeom prst="rect">
            <a:avLst/>
          </a:prstGeom>
          <a:noFill/>
        </p:spPr>
        <p:txBody>
          <a:bodyPr wrap="square" lIns="0" tIns="0" rIns="0" bIns="0" rtlCol="0" anchor="ctr"/>
          <a:lstStyle/>
          <a:p>
            <a:pPr marL="0" indent="0">
              <a:buNone/>
            </a:pPr>
            <a:r>
              <a:rPr lang="en-US" sz="1000" i="1" dirty="0">
                <a:solidFill>
                  <a:srgbClr val="6B6B70"/>
                </a:solidFill>
                <a:latin typeface="Calibri" pitchFamily="34" charset="0"/>
                <a:ea typeface="Calibri" pitchFamily="34" charset="-122"/>
                <a:cs typeface="Calibri" pitchFamily="34" charset="-120"/>
              </a:rPr>
              <a:t>Solana · May 2026</a:t>
            </a:r>
            <a:endParaRPr lang="en-US" sz="1000" dirty="0"/>
          </a:p>
        </p:txBody>
      </p:sp>
      <p:sp>
        <p:nvSpPr>
          <p:cNvPr id="14" name="Shape 12"/>
          <p:cNvSpPr/>
          <p:nvPr/>
        </p:nvSpPr>
        <p:spPr>
          <a:xfrm>
            <a:off x="6095848" y="2057400"/>
            <a:ext cx="0" cy="594360"/>
          </a:xfrm>
          <a:prstGeom prst="line">
            <a:avLst/>
          </a:prstGeom>
          <a:noFill/>
          <a:ln w="6350">
            <a:solidFill>
              <a:srgbClr val="E5E2D8"/>
            </a:solidFill>
            <a:prstDash val="solid"/>
          </a:ln>
        </p:spPr>
      </p:sp>
      <p:sp>
        <p:nvSpPr>
          <p:cNvPr id="15" name="Text 13"/>
          <p:cNvSpPr/>
          <p:nvPr/>
        </p:nvSpPr>
        <p:spPr>
          <a:xfrm>
            <a:off x="6233008" y="1965960"/>
            <a:ext cx="2453564" cy="201168"/>
          </a:xfrm>
          <a:prstGeom prst="rect">
            <a:avLst/>
          </a:prstGeom>
          <a:noFill/>
        </p:spPr>
        <p:txBody>
          <a:bodyPr wrap="square" lIns="0" tIns="0" rIns="0" bIns="0" rtlCol="0" anchor="ctr"/>
          <a:lstStyle/>
          <a:p>
            <a:pPr marL="0" indent="0">
              <a:buNone/>
            </a:pPr>
            <a:r>
              <a:rPr lang="en-US" sz="850" b="1" kern="0" spc="300" dirty="0">
                <a:solidFill>
                  <a:srgbClr val="0E7C7B"/>
                </a:solidFill>
                <a:latin typeface="Consolas" pitchFamily="34" charset="0"/>
                <a:ea typeface="Consolas" pitchFamily="34" charset="-122"/>
                <a:cs typeface="Consolas" pitchFamily="34" charset="-120"/>
              </a:rPr>
              <a:t>PAYMENTS GIANTS</a:t>
            </a:r>
            <a:endParaRPr lang="en-US" sz="850" dirty="0"/>
          </a:p>
        </p:txBody>
      </p:sp>
      <p:sp>
        <p:nvSpPr>
          <p:cNvPr id="16" name="Text 14"/>
          <p:cNvSpPr/>
          <p:nvPr/>
        </p:nvSpPr>
        <p:spPr>
          <a:xfrm>
            <a:off x="6233008" y="2167128"/>
            <a:ext cx="2453564" cy="365760"/>
          </a:xfrm>
          <a:prstGeom prst="rect">
            <a:avLst/>
          </a:prstGeom>
          <a:noFill/>
        </p:spPr>
        <p:txBody>
          <a:bodyPr wrap="square" lIns="0" tIns="0" rIns="0" bIns="0" rtlCol="0" anchor="ctr"/>
          <a:lstStyle/>
          <a:p>
            <a:pPr marL="0" indent="0">
              <a:buNone/>
            </a:pPr>
            <a:r>
              <a:rPr lang="en-US" sz="1600" b="1" dirty="0">
                <a:solidFill>
                  <a:srgbClr val="1A1A1D"/>
                </a:solidFill>
                <a:latin typeface="Georgia" panose="02040502050405090303" pitchFamily="34" charset="0"/>
                <a:ea typeface="Georgia" panose="02040502050405090303" pitchFamily="34" charset="-122"/>
                <a:cs typeface="Georgia" panose="02040502050405090303" pitchFamily="34" charset="-120"/>
              </a:rPr>
              <a:t>Visa·Stripe·PayPal</a:t>
            </a:r>
            <a:endParaRPr lang="en-US" sz="1600" dirty="0"/>
          </a:p>
        </p:txBody>
      </p:sp>
      <p:sp>
        <p:nvSpPr>
          <p:cNvPr id="17" name="Text 15"/>
          <p:cNvSpPr/>
          <p:nvPr/>
        </p:nvSpPr>
        <p:spPr>
          <a:xfrm>
            <a:off x="6233008" y="2514600"/>
            <a:ext cx="2453564" cy="201168"/>
          </a:xfrm>
          <a:prstGeom prst="rect">
            <a:avLst/>
          </a:prstGeom>
          <a:noFill/>
        </p:spPr>
        <p:txBody>
          <a:bodyPr wrap="square" lIns="0" tIns="0" rIns="0" bIns="0" rtlCol="0" anchor="ctr"/>
          <a:lstStyle/>
          <a:p>
            <a:pPr marL="0" indent="0">
              <a:buNone/>
            </a:pPr>
            <a:r>
              <a:rPr lang="en-US" sz="1000" i="1" dirty="0">
                <a:solidFill>
                  <a:srgbClr val="6B6B70"/>
                </a:solidFill>
                <a:latin typeface="Calibri" pitchFamily="34" charset="0"/>
                <a:ea typeface="Calibri" pitchFamily="34" charset="-122"/>
                <a:cs typeface="Calibri" pitchFamily="34" charset="-120"/>
              </a:rPr>
              <a:t>production stablecoin workflows</a:t>
            </a:r>
            <a:endParaRPr lang="en-US" sz="1000" dirty="0"/>
          </a:p>
        </p:txBody>
      </p:sp>
      <p:sp>
        <p:nvSpPr>
          <p:cNvPr id="18" name="Shape 16"/>
          <p:cNvSpPr/>
          <p:nvPr/>
        </p:nvSpPr>
        <p:spPr>
          <a:xfrm>
            <a:off x="8823731" y="2057400"/>
            <a:ext cx="0" cy="594360"/>
          </a:xfrm>
          <a:prstGeom prst="line">
            <a:avLst/>
          </a:prstGeom>
          <a:noFill/>
          <a:ln w="6350">
            <a:solidFill>
              <a:srgbClr val="E5E2D8"/>
            </a:solidFill>
            <a:prstDash val="solid"/>
          </a:ln>
        </p:spPr>
      </p:sp>
      <p:sp>
        <p:nvSpPr>
          <p:cNvPr id="19" name="Text 17"/>
          <p:cNvSpPr/>
          <p:nvPr/>
        </p:nvSpPr>
        <p:spPr>
          <a:xfrm>
            <a:off x="8960891" y="1965960"/>
            <a:ext cx="2453564" cy="201168"/>
          </a:xfrm>
          <a:prstGeom prst="rect">
            <a:avLst/>
          </a:prstGeom>
          <a:noFill/>
        </p:spPr>
        <p:txBody>
          <a:bodyPr wrap="square" lIns="0" tIns="0" rIns="0" bIns="0" rtlCol="0" anchor="ctr"/>
          <a:lstStyle/>
          <a:p>
            <a:pPr marL="0" indent="0">
              <a:buNone/>
            </a:pPr>
            <a:r>
              <a:rPr lang="en-US" sz="850" b="1" kern="0" spc="300" dirty="0">
                <a:solidFill>
                  <a:srgbClr val="0E7C7B"/>
                </a:solidFill>
                <a:latin typeface="Consolas" pitchFamily="34" charset="0"/>
                <a:ea typeface="Consolas" pitchFamily="34" charset="-122"/>
                <a:cs typeface="Consolas" pitchFamily="34" charset="-120"/>
              </a:rPr>
              <a:t>TOKENIZED FUNDS</a:t>
            </a:r>
            <a:endParaRPr lang="en-US" sz="850" dirty="0"/>
          </a:p>
        </p:txBody>
      </p:sp>
      <p:sp>
        <p:nvSpPr>
          <p:cNvPr id="20" name="Text 18"/>
          <p:cNvSpPr/>
          <p:nvPr/>
        </p:nvSpPr>
        <p:spPr>
          <a:xfrm>
            <a:off x="8960891" y="2167128"/>
            <a:ext cx="2453564" cy="365760"/>
          </a:xfrm>
          <a:prstGeom prst="rect">
            <a:avLst/>
          </a:prstGeom>
          <a:noFill/>
        </p:spPr>
        <p:txBody>
          <a:bodyPr wrap="square" lIns="0" tIns="0" rIns="0" bIns="0" rtlCol="0" anchor="ctr"/>
          <a:lstStyle/>
          <a:p>
            <a:pPr marL="0" indent="0">
              <a:buNone/>
            </a:pPr>
            <a:r>
              <a:rPr lang="en-US" sz="1600" b="1" dirty="0">
                <a:solidFill>
                  <a:srgbClr val="1A1A1D"/>
                </a:solidFill>
                <a:latin typeface="Georgia" panose="02040502050405090303" pitchFamily="34" charset="0"/>
                <a:ea typeface="Georgia" panose="02040502050405090303" pitchFamily="34" charset="-122"/>
                <a:cs typeface="Georgia" panose="02040502050405090303" pitchFamily="34" charset="-120"/>
              </a:rPr>
              <a:t>$2.3B+</a:t>
            </a:r>
            <a:endParaRPr lang="en-US" sz="1600" dirty="0"/>
          </a:p>
        </p:txBody>
      </p:sp>
      <p:sp>
        <p:nvSpPr>
          <p:cNvPr id="21" name="Text 19"/>
          <p:cNvSpPr/>
          <p:nvPr/>
        </p:nvSpPr>
        <p:spPr>
          <a:xfrm>
            <a:off x="8960891" y="2514600"/>
            <a:ext cx="2453564" cy="201168"/>
          </a:xfrm>
          <a:prstGeom prst="rect">
            <a:avLst/>
          </a:prstGeom>
          <a:noFill/>
        </p:spPr>
        <p:txBody>
          <a:bodyPr wrap="square" lIns="0" tIns="0" rIns="0" bIns="0" rtlCol="0" anchor="ctr"/>
          <a:lstStyle/>
          <a:p>
            <a:pPr marL="0" indent="0">
              <a:buNone/>
            </a:pPr>
            <a:r>
              <a:rPr lang="en-US" sz="1000" i="1" dirty="0">
                <a:solidFill>
                  <a:srgbClr val="6B6B70"/>
                </a:solidFill>
                <a:latin typeface="Calibri" pitchFamily="34" charset="0"/>
                <a:ea typeface="Calibri" pitchFamily="34" charset="-122"/>
                <a:cs typeface="Calibri" pitchFamily="34" charset="-120"/>
              </a:rPr>
              <a:t>BlackRock BUIDL · Franklin FOBXX</a:t>
            </a:r>
            <a:endParaRPr lang="en-US" sz="1000" dirty="0"/>
          </a:p>
        </p:txBody>
      </p:sp>
      <p:graphicFrame>
        <p:nvGraphicFramePr>
          <p:cNvPr id="22" name="Table 0"/>
          <p:cNvGraphicFramePr>
            <a:graphicFrameLocks noGrp="1"/>
          </p:cNvGraphicFramePr>
          <p:nvPr>
            <p:custDataLst>
              <p:tags r:id="rId1"/>
            </p:custDataLst>
          </p:nvPr>
        </p:nvGraphicFramePr>
        <p:xfrm>
          <a:off x="640080" y="2926080"/>
          <a:ext cx="10922000" cy="2651760"/>
        </p:xfrm>
        <a:graphic>
          <a:graphicData uri="http://schemas.openxmlformats.org/drawingml/2006/table">
            <a:tbl>
              <a:tblPr/>
              <a:tblGrid>
                <a:gridCol w="1830705"/>
                <a:gridCol w="2013585"/>
                <a:gridCol w="1555750"/>
                <a:gridCol w="1897380"/>
                <a:gridCol w="1685290"/>
                <a:gridCol w="1939290"/>
              </a:tblGrid>
              <a:tr h="335280">
                <a:tc>
                  <a:txBody>
                    <a:bodyPr/>
                    <a:lstStyle/>
                    <a:p>
                      <a:pPr marL="0" indent="0" algn="l">
                        <a:buNone/>
                      </a:pPr>
                      <a:r>
                        <a:rPr lang="en-US" sz="1000" b="1" kern="0" spc="300" dirty="0">
                          <a:solidFill>
                            <a:srgbClr val="0E7C7B"/>
                          </a:solidFill>
                          <a:latin typeface="Consolas" pitchFamily="34" charset="0"/>
                          <a:ea typeface="Consolas" pitchFamily="34" charset="-122"/>
                          <a:cs typeface="Consolas" pitchFamily="34" charset="-120"/>
                        </a:rPr>
                        <a:t>Player</a:t>
                      </a:r>
                      <a:endParaRPr lang="en-US" sz="1000" dirty="0">
                        <a:latin typeface="Consolas" pitchFamily="34" charset="0"/>
                        <a:ea typeface="Consolas" pitchFamily="34" charset="0"/>
                        <a:cs typeface="Consolas" pitchFamily="34" charset="0"/>
                      </a:endParaRPr>
                    </a:p>
                  </a:txBody>
                  <a:tcPr marL="164592" marR="164592" marT="91440" marB="91440"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l">
                        <a:buNone/>
                      </a:pPr>
                      <a:r>
                        <a:rPr lang="en-US" sz="1000" b="1" kern="0" spc="300" dirty="0">
                          <a:solidFill>
                            <a:srgbClr val="0E7C7B"/>
                          </a:solidFill>
                          <a:latin typeface="Consolas" pitchFamily="34" charset="0"/>
                          <a:ea typeface="Consolas" pitchFamily="34" charset="-122"/>
                          <a:cs typeface="Consolas" pitchFamily="34" charset="-120"/>
                        </a:rPr>
                        <a:t>Asset class</a:t>
                      </a:r>
                      <a:endParaRPr lang="en-US" sz="1000" dirty="0">
                        <a:latin typeface="Consolas" pitchFamily="34" charset="0"/>
                        <a:ea typeface="Consolas" pitchFamily="34" charset="0"/>
                        <a:cs typeface="Consolas" pitchFamily="34" charset="0"/>
                      </a:endParaRPr>
                    </a:p>
                  </a:txBody>
                  <a:tcPr marL="164592" marR="164592" marT="91440" marB="91440"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l">
                        <a:buNone/>
                      </a:pPr>
                      <a:r>
                        <a:rPr lang="en-US" sz="1000" b="1" kern="0" spc="300" dirty="0">
                          <a:solidFill>
                            <a:srgbClr val="0E7C7B"/>
                          </a:solidFill>
                          <a:latin typeface="Consolas" pitchFamily="34" charset="0"/>
                          <a:ea typeface="Consolas" pitchFamily="34" charset="-122"/>
                          <a:cs typeface="Consolas" pitchFamily="34" charset="-120"/>
                        </a:rPr>
                        <a:t>Chain</a:t>
                      </a:r>
                      <a:endParaRPr lang="en-US" sz="1000" dirty="0">
                        <a:latin typeface="Consolas" pitchFamily="34" charset="0"/>
                        <a:ea typeface="Consolas" pitchFamily="34" charset="0"/>
                        <a:cs typeface="Consolas" pitchFamily="34" charset="0"/>
                      </a:endParaRPr>
                    </a:p>
                  </a:txBody>
                  <a:tcPr marL="164592" marR="164592" marT="91440" marB="91440"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l">
                        <a:buNone/>
                      </a:pPr>
                      <a:r>
                        <a:rPr lang="en-US" sz="1000" b="1" kern="0" spc="300" dirty="0">
                          <a:solidFill>
                            <a:srgbClr val="0E7C7B"/>
                          </a:solidFill>
                          <a:latin typeface="Consolas" pitchFamily="34" charset="0"/>
                          <a:ea typeface="Consolas" pitchFamily="34" charset="-122"/>
                          <a:cs typeface="Consolas" pitchFamily="34" charset="-120"/>
                        </a:rPr>
                        <a:t>Custody</a:t>
                      </a:r>
                      <a:endParaRPr lang="en-US" sz="1000" dirty="0">
                        <a:latin typeface="Consolas" pitchFamily="34" charset="0"/>
                        <a:ea typeface="Consolas" pitchFamily="34" charset="0"/>
                        <a:cs typeface="Consolas" pitchFamily="34" charset="0"/>
                      </a:endParaRPr>
                    </a:p>
                  </a:txBody>
                  <a:tcPr marL="164592" marR="164592" marT="91440" marB="91440"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l">
                        <a:buNone/>
                      </a:pPr>
                      <a:r>
                        <a:rPr lang="en-US" sz="1000" b="1" kern="0" spc="300" dirty="0">
                          <a:solidFill>
                            <a:srgbClr val="0E7C7B"/>
                          </a:solidFill>
                          <a:latin typeface="Consolas" pitchFamily="34" charset="0"/>
                          <a:ea typeface="Consolas" pitchFamily="34" charset="-122"/>
                          <a:cs typeface="Consolas" pitchFamily="34" charset="-120"/>
                        </a:rPr>
                        <a:t>Geography</a:t>
                      </a:r>
                      <a:endParaRPr lang="en-US" sz="1000" dirty="0">
                        <a:latin typeface="Consolas" pitchFamily="34" charset="0"/>
                        <a:ea typeface="Consolas" pitchFamily="34" charset="0"/>
                        <a:cs typeface="Consolas" pitchFamily="34" charset="0"/>
                      </a:endParaRPr>
                    </a:p>
                  </a:txBody>
                  <a:tcPr marL="164592" marR="164592" marT="91440" marB="91440"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l">
                        <a:buNone/>
                      </a:pPr>
                      <a:r>
                        <a:rPr lang="en-US" sz="1000" b="1" kern="0" spc="300" dirty="0">
                          <a:solidFill>
                            <a:srgbClr val="0E7C7B"/>
                          </a:solidFill>
                          <a:latin typeface="Consolas" pitchFamily="34" charset="0"/>
                          <a:ea typeface="Consolas" pitchFamily="34" charset="-122"/>
                          <a:cs typeface="Consolas" pitchFamily="34" charset="-120"/>
                        </a:rPr>
                        <a:t>Status</a:t>
                      </a:r>
                      <a:endParaRPr lang="en-US" sz="1000" dirty="0">
                        <a:latin typeface="Consolas" pitchFamily="34" charset="0"/>
                        <a:ea typeface="Consolas" pitchFamily="34" charset="0"/>
                        <a:cs typeface="Consolas" pitchFamily="34" charset="0"/>
                      </a:endParaRPr>
                    </a:p>
                  </a:txBody>
                  <a:tcPr marL="164592" marR="164592" marT="91440" marB="91440"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r>
              <a:tr h="330200">
                <a:tc>
                  <a:txBody>
                    <a:bodyPr/>
                    <a:lstStyle/>
                    <a:p>
                      <a:pPr marL="0" indent="0" algn="l">
                        <a:buNone/>
                      </a:pPr>
                      <a:r>
                        <a:rPr lang="en-US" sz="1100" b="1" dirty="0">
                          <a:solidFill>
                            <a:srgbClr val="1A1A1D"/>
                          </a:solidFill>
                          <a:latin typeface="Georgia" panose="02040502050405090303" pitchFamily="34" charset="0"/>
                          <a:ea typeface="Georgia" panose="02040502050405090303" pitchFamily="34" charset="-122"/>
                          <a:cs typeface="Georgia" panose="02040502050405090303" pitchFamily="34" charset="-120"/>
                        </a:rPr>
                        <a:t>Kettle Finance</a:t>
                      </a:r>
                      <a:endParaRPr lang="en-US" sz="1100" dirty="0">
                        <a:latin typeface="Georgia" panose="02040502050405090303" pitchFamily="34" charset="0"/>
                        <a:ea typeface="Georgia" panose="02040502050405090303" pitchFamily="34" charset="0"/>
                        <a:cs typeface="Georgia" panose="02040502050405090303"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l">
                        <a:buNone/>
                      </a:pPr>
                      <a:r>
                        <a:rPr lang="en-US" sz="1100" dirty="0">
                          <a:solidFill>
                            <a:srgbClr val="6B6B70"/>
                          </a:solidFill>
                          <a:latin typeface="Calibri" pitchFamily="34" charset="0"/>
                          <a:ea typeface="Calibri" pitchFamily="34" charset="-122"/>
                          <a:cs typeface="Calibri" pitchFamily="34" charset="-120"/>
                        </a:rPr>
                        <a:t>Watches</a:t>
                      </a:r>
                      <a:endParaRPr lang="en-US" sz="1100" dirty="0">
                        <a:latin typeface="Calibri" pitchFamily="34" charset="0"/>
                        <a:ea typeface="Calibri" pitchFamily="34" charset="0"/>
                        <a:cs typeface="Calibri"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l">
                        <a:buNone/>
                      </a:pPr>
                      <a:r>
                        <a:rPr lang="en-US" sz="1100" dirty="0">
                          <a:solidFill>
                            <a:srgbClr val="6B6B70"/>
                          </a:solidFill>
                          <a:latin typeface="Calibri" pitchFamily="34" charset="0"/>
                          <a:ea typeface="Calibri" pitchFamily="34" charset="-122"/>
                          <a:cs typeface="Calibri" pitchFamily="34" charset="-120"/>
                        </a:rPr>
                        <a:t>Blast L2</a:t>
                      </a:r>
                      <a:endParaRPr lang="en-US" sz="1100" dirty="0">
                        <a:latin typeface="Calibri" pitchFamily="34" charset="0"/>
                        <a:ea typeface="Calibri" pitchFamily="34" charset="0"/>
                        <a:cs typeface="Calibri"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l">
                        <a:buNone/>
                      </a:pPr>
                      <a:r>
                        <a:rPr lang="en-US" sz="1100" dirty="0">
                          <a:solidFill>
                            <a:srgbClr val="6B6B70"/>
                          </a:solidFill>
                          <a:latin typeface="Calibri" pitchFamily="34" charset="0"/>
                          <a:ea typeface="Calibri" pitchFamily="34" charset="-122"/>
                          <a:cs typeface="Calibri" pitchFamily="34" charset="-120"/>
                        </a:rPr>
                        <a:t>Own NYC vault</a:t>
                      </a:r>
                      <a:endParaRPr lang="en-US" sz="1100" dirty="0">
                        <a:latin typeface="Calibri" pitchFamily="34" charset="0"/>
                        <a:ea typeface="Calibri" pitchFamily="34" charset="0"/>
                        <a:cs typeface="Calibri"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l">
                        <a:buNone/>
                      </a:pPr>
                      <a:r>
                        <a:rPr lang="en-US" sz="1100" dirty="0">
                          <a:solidFill>
                            <a:srgbClr val="6B6B70"/>
                          </a:solidFill>
                          <a:latin typeface="Calibri" pitchFamily="34" charset="0"/>
                          <a:ea typeface="Calibri" pitchFamily="34" charset="-122"/>
                          <a:cs typeface="Calibri" pitchFamily="34" charset="-120"/>
                        </a:rPr>
                        <a:t>US-first</a:t>
                      </a:r>
                      <a:endParaRPr lang="en-US" sz="1100" dirty="0">
                        <a:latin typeface="Calibri" pitchFamily="34" charset="0"/>
                        <a:ea typeface="Calibri" pitchFamily="34" charset="0"/>
                        <a:cs typeface="Calibri"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l">
                        <a:buNone/>
                      </a:pPr>
                      <a:r>
                        <a:rPr lang="en-US" sz="1100" dirty="0">
                          <a:solidFill>
                            <a:srgbClr val="6B6B70"/>
                          </a:solidFill>
                          <a:latin typeface="Calibri" pitchFamily="34" charset="0"/>
                          <a:ea typeface="Calibri" pitchFamily="34" charset="-122"/>
                          <a:cs typeface="Calibri" pitchFamily="34" charset="-120"/>
                        </a:rPr>
                        <a:t>$4M raised · live</a:t>
                      </a:r>
                      <a:endParaRPr lang="en-US" sz="1100" dirty="0">
                        <a:latin typeface="Calibri" pitchFamily="34" charset="0"/>
                        <a:ea typeface="Calibri" pitchFamily="34" charset="0"/>
                        <a:cs typeface="Calibri"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r>
              <a:tr h="481330">
                <a:tc>
                  <a:txBody>
                    <a:bodyPr/>
                    <a:lstStyle/>
                    <a:p>
                      <a:pPr marL="0" indent="0" algn="l">
                        <a:buNone/>
                      </a:pPr>
                      <a:r>
                        <a:rPr lang="en-US" sz="1100" b="1" dirty="0">
                          <a:solidFill>
                            <a:srgbClr val="1A1A1D"/>
                          </a:solidFill>
                          <a:latin typeface="Georgia" panose="02040502050405090303" pitchFamily="34" charset="0"/>
                          <a:ea typeface="Georgia" panose="02040502050405090303" pitchFamily="34" charset="-122"/>
                          <a:cs typeface="Georgia" panose="02040502050405090303" pitchFamily="34" charset="-120"/>
                        </a:rPr>
                        <a:t>4K Protocol</a:t>
                      </a:r>
                      <a:endParaRPr lang="en-US" sz="1100" dirty="0">
                        <a:latin typeface="Georgia" panose="02040502050405090303" pitchFamily="34" charset="0"/>
                        <a:ea typeface="Georgia" panose="02040502050405090303" pitchFamily="34" charset="0"/>
                        <a:cs typeface="Georgia" panose="02040502050405090303"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l">
                        <a:buNone/>
                      </a:pPr>
                      <a:r>
                        <a:rPr lang="en-US" sz="1100" dirty="0">
                          <a:solidFill>
                            <a:srgbClr val="6B6B70"/>
                          </a:solidFill>
                          <a:latin typeface="Calibri" pitchFamily="34" charset="0"/>
                          <a:ea typeface="Calibri" pitchFamily="34" charset="-122"/>
                          <a:cs typeface="Calibri" pitchFamily="34" charset="-120"/>
                        </a:rPr>
                        <a:t>Physical luxury</a:t>
                      </a:r>
                      <a:endParaRPr lang="en-US" sz="1100" dirty="0">
                        <a:latin typeface="Calibri" pitchFamily="34" charset="0"/>
                        <a:ea typeface="Calibri" pitchFamily="34" charset="0"/>
                        <a:cs typeface="Calibri"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l">
                        <a:buNone/>
                      </a:pPr>
                      <a:r>
                        <a:rPr lang="en-US" sz="1100" dirty="0">
                          <a:solidFill>
                            <a:srgbClr val="6B6B70"/>
                          </a:solidFill>
                          <a:latin typeface="Calibri" pitchFamily="34" charset="0"/>
                          <a:ea typeface="Calibri" pitchFamily="34" charset="-122"/>
                          <a:cs typeface="Calibri" pitchFamily="34" charset="-120"/>
                        </a:rPr>
                        <a:t>Ethereum / Polygon</a:t>
                      </a:r>
                      <a:endParaRPr lang="en-US" sz="1100" dirty="0">
                        <a:latin typeface="Calibri" pitchFamily="34" charset="0"/>
                        <a:ea typeface="Calibri" pitchFamily="34" charset="0"/>
                        <a:cs typeface="Calibri"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l">
                        <a:buNone/>
                      </a:pPr>
                      <a:r>
                        <a:rPr lang="en-US" sz="1100" dirty="0">
                          <a:solidFill>
                            <a:srgbClr val="6B6B70"/>
                          </a:solidFill>
                          <a:latin typeface="Calibri" pitchFamily="34" charset="0"/>
                          <a:ea typeface="Calibri" pitchFamily="34" charset="-122"/>
                          <a:cs typeface="Calibri" pitchFamily="34" charset="-120"/>
                        </a:rPr>
                        <a:t>Own guardians</a:t>
                      </a:r>
                      <a:endParaRPr lang="en-US" sz="1100" dirty="0">
                        <a:latin typeface="Calibri" pitchFamily="34" charset="0"/>
                        <a:ea typeface="Calibri" pitchFamily="34" charset="0"/>
                        <a:cs typeface="Calibri"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l">
                        <a:buNone/>
                      </a:pPr>
                      <a:r>
                        <a:rPr lang="en-US" sz="1100" dirty="0">
                          <a:solidFill>
                            <a:srgbClr val="6B6B70"/>
                          </a:solidFill>
                          <a:latin typeface="Calibri" pitchFamily="34" charset="0"/>
                          <a:ea typeface="Calibri" pitchFamily="34" charset="-122"/>
                          <a:cs typeface="Calibri" pitchFamily="34" charset="-120"/>
                        </a:rPr>
                        <a:t>Global</a:t>
                      </a:r>
                      <a:endParaRPr lang="en-US" sz="1100" dirty="0">
                        <a:latin typeface="Calibri" pitchFamily="34" charset="0"/>
                        <a:ea typeface="Calibri" pitchFamily="34" charset="0"/>
                        <a:cs typeface="Calibri"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l">
                        <a:buNone/>
                      </a:pPr>
                      <a:r>
                        <a:rPr lang="en-US" sz="1100" dirty="0">
                          <a:solidFill>
                            <a:srgbClr val="6B6B70"/>
                          </a:solidFill>
                          <a:latin typeface="Calibri" pitchFamily="34" charset="0"/>
                          <a:ea typeface="Calibri" pitchFamily="34" charset="-122"/>
                          <a:cs typeface="Calibri" pitchFamily="34" charset="-120"/>
                        </a:rPr>
                        <a:t>Live · luxury loans</a:t>
                      </a:r>
                      <a:endParaRPr lang="en-US" sz="1100" dirty="0">
                        <a:latin typeface="Calibri" pitchFamily="34" charset="0"/>
                        <a:ea typeface="Calibri" pitchFamily="34" charset="0"/>
                        <a:cs typeface="Calibri"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r>
              <a:tr h="481330">
                <a:tc>
                  <a:txBody>
                    <a:bodyPr/>
                    <a:lstStyle/>
                    <a:p>
                      <a:pPr marL="0" indent="0" algn="l">
                        <a:buNone/>
                      </a:pPr>
                      <a:r>
                        <a:rPr lang="en-US" sz="1100" b="1" dirty="0">
                          <a:solidFill>
                            <a:srgbClr val="1A1A1D"/>
                          </a:solidFill>
                          <a:latin typeface="Georgia" panose="02040502050405090303" pitchFamily="34" charset="0"/>
                          <a:ea typeface="Georgia" panose="02040502050405090303" pitchFamily="34" charset="-122"/>
                          <a:cs typeface="Georgia" panose="02040502050405090303" pitchFamily="34" charset="-120"/>
                        </a:rPr>
                        <a:t>Tangible</a:t>
                      </a:r>
                      <a:endParaRPr lang="en-US" sz="1100" dirty="0">
                        <a:latin typeface="Georgia" panose="02040502050405090303" pitchFamily="34" charset="0"/>
                        <a:ea typeface="Georgia" panose="02040502050405090303" pitchFamily="34" charset="0"/>
                        <a:cs typeface="Georgia" panose="02040502050405090303"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l">
                        <a:buNone/>
                      </a:pPr>
                      <a:r>
                        <a:rPr lang="en-US" sz="1100" dirty="0">
                          <a:solidFill>
                            <a:srgbClr val="6B6B70"/>
                          </a:solidFill>
                          <a:latin typeface="Calibri" pitchFamily="34" charset="0"/>
                          <a:ea typeface="Calibri" pitchFamily="34" charset="-122"/>
                          <a:cs typeface="Calibri" pitchFamily="34" charset="-120"/>
                        </a:rPr>
                        <a:t>Real estate + watches</a:t>
                      </a:r>
                      <a:endParaRPr lang="en-US" sz="1100" dirty="0">
                        <a:latin typeface="Calibri" pitchFamily="34" charset="0"/>
                        <a:ea typeface="Calibri" pitchFamily="34" charset="0"/>
                        <a:cs typeface="Calibri"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l">
                        <a:buNone/>
                      </a:pPr>
                      <a:r>
                        <a:rPr lang="en-US" sz="1100" dirty="0">
                          <a:solidFill>
                            <a:srgbClr val="6B6B70"/>
                          </a:solidFill>
                          <a:latin typeface="Calibri" pitchFamily="34" charset="0"/>
                          <a:ea typeface="Calibri" pitchFamily="34" charset="-122"/>
                          <a:cs typeface="Calibri" pitchFamily="34" charset="-120"/>
                        </a:rPr>
                        <a:t>Polygon</a:t>
                      </a:r>
                      <a:endParaRPr lang="en-US" sz="1100" dirty="0">
                        <a:latin typeface="Calibri" pitchFamily="34" charset="0"/>
                        <a:ea typeface="Calibri" pitchFamily="34" charset="0"/>
                        <a:cs typeface="Calibri"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l">
                        <a:buNone/>
                      </a:pPr>
                      <a:r>
                        <a:rPr lang="en-US" sz="1100" dirty="0">
                          <a:solidFill>
                            <a:srgbClr val="6B6B70"/>
                          </a:solidFill>
                          <a:latin typeface="Calibri" pitchFamily="34" charset="0"/>
                          <a:ea typeface="Calibri" pitchFamily="34" charset="-122"/>
                          <a:cs typeface="Calibri" pitchFamily="34" charset="-120"/>
                        </a:rPr>
                        <a:t>Various SPVs</a:t>
                      </a:r>
                      <a:endParaRPr lang="en-US" sz="1100" dirty="0">
                        <a:latin typeface="Calibri" pitchFamily="34" charset="0"/>
                        <a:ea typeface="Calibri" pitchFamily="34" charset="0"/>
                        <a:cs typeface="Calibri"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l">
                        <a:buNone/>
                      </a:pPr>
                      <a:r>
                        <a:rPr lang="en-US" sz="1100" dirty="0">
                          <a:solidFill>
                            <a:srgbClr val="6B6B70"/>
                          </a:solidFill>
                          <a:latin typeface="Calibri" pitchFamily="34" charset="0"/>
                          <a:ea typeface="Calibri" pitchFamily="34" charset="-122"/>
                          <a:cs typeface="Calibri" pitchFamily="34" charset="-120"/>
                        </a:rPr>
                        <a:t>Global</a:t>
                      </a:r>
                      <a:endParaRPr lang="en-US" sz="1100" dirty="0">
                        <a:latin typeface="Calibri" pitchFamily="34" charset="0"/>
                        <a:ea typeface="Calibri" pitchFamily="34" charset="0"/>
                        <a:cs typeface="Calibri"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l">
                        <a:buNone/>
                      </a:pPr>
                      <a:r>
                        <a:rPr lang="en-US" sz="1100" dirty="0">
                          <a:solidFill>
                            <a:srgbClr val="6B6B70"/>
                          </a:solidFill>
                          <a:latin typeface="Calibri" pitchFamily="34" charset="0"/>
                          <a:ea typeface="Calibri" pitchFamily="34" charset="-122"/>
                          <a:cs typeface="Calibri" pitchFamily="34" charset="-120"/>
                        </a:rPr>
                        <a:t>Live · broader RWA</a:t>
                      </a:r>
                      <a:endParaRPr lang="en-US" sz="1100" dirty="0">
                        <a:latin typeface="Calibri" pitchFamily="34" charset="0"/>
                        <a:ea typeface="Calibri" pitchFamily="34" charset="0"/>
                        <a:cs typeface="Calibri"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r>
              <a:tr h="328930">
                <a:tc>
                  <a:txBody>
                    <a:bodyPr/>
                    <a:lstStyle/>
                    <a:p>
                      <a:pPr marL="0" indent="0" algn="l">
                        <a:buNone/>
                      </a:pPr>
                      <a:r>
                        <a:rPr lang="en-US" sz="1100" b="1" dirty="0">
                          <a:solidFill>
                            <a:srgbClr val="1A1A1D"/>
                          </a:solidFill>
                          <a:latin typeface="Georgia" panose="02040502050405090303" pitchFamily="34" charset="0"/>
                          <a:ea typeface="Georgia" panose="02040502050405090303" pitchFamily="34" charset="-122"/>
                          <a:cs typeface="Georgia" panose="02040502050405090303" pitchFamily="34" charset="-120"/>
                        </a:rPr>
                        <a:t>Arcade.xyz</a:t>
                      </a:r>
                      <a:endParaRPr lang="en-US" sz="1100" dirty="0">
                        <a:latin typeface="Georgia" panose="02040502050405090303" pitchFamily="34" charset="0"/>
                        <a:ea typeface="Georgia" panose="02040502050405090303" pitchFamily="34" charset="0"/>
                        <a:cs typeface="Georgia" panose="02040502050405090303"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l">
                        <a:buNone/>
                      </a:pPr>
                      <a:r>
                        <a:rPr lang="en-US" sz="1100" dirty="0">
                          <a:solidFill>
                            <a:srgbClr val="6B6B70"/>
                          </a:solidFill>
                          <a:latin typeface="Calibri" pitchFamily="34" charset="0"/>
                          <a:ea typeface="Calibri" pitchFamily="34" charset="-122"/>
                          <a:cs typeface="Calibri" pitchFamily="34" charset="-120"/>
                        </a:rPr>
                        <a:t>Wrapped NFTs</a:t>
                      </a:r>
                      <a:endParaRPr lang="en-US" sz="1100" dirty="0">
                        <a:latin typeface="Calibri" pitchFamily="34" charset="0"/>
                        <a:ea typeface="Calibri" pitchFamily="34" charset="0"/>
                        <a:cs typeface="Calibri"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l">
                        <a:buNone/>
                      </a:pPr>
                      <a:r>
                        <a:rPr lang="en-US" sz="1100" dirty="0">
                          <a:solidFill>
                            <a:srgbClr val="6B6B70"/>
                          </a:solidFill>
                          <a:latin typeface="Calibri" pitchFamily="34" charset="0"/>
                          <a:ea typeface="Calibri" pitchFamily="34" charset="-122"/>
                          <a:cs typeface="Calibri" pitchFamily="34" charset="-120"/>
                        </a:rPr>
                        <a:t>Ethereum</a:t>
                      </a:r>
                      <a:endParaRPr lang="en-US" sz="1100" dirty="0">
                        <a:latin typeface="Calibri" pitchFamily="34" charset="0"/>
                        <a:ea typeface="Calibri" pitchFamily="34" charset="0"/>
                        <a:cs typeface="Calibri"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l">
                        <a:buNone/>
                      </a:pPr>
                      <a:r>
                        <a:rPr lang="en-US" sz="1100" dirty="0">
                          <a:solidFill>
                            <a:srgbClr val="6B6B70"/>
                          </a:solidFill>
                          <a:latin typeface="Calibri" pitchFamily="34" charset="0"/>
                          <a:ea typeface="Calibri" pitchFamily="34" charset="-122"/>
                          <a:cs typeface="Calibri" pitchFamily="34" charset="-120"/>
                        </a:rPr>
                        <a:t>n/a digital</a:t>
                      </a:r>
                      <a:endParaRPr lang="en-US" sz="1100" dirty="0">
                        <a:latin typeface="Calibri" pitchFamily="34" charset="0"/>
                        <a:ea typeface="Calibri" pitchFamily="34" charset="0"/>
                        <a:cs typeface="Calibri"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l">
                        <a:buNone/>
                      </a:pPr>
                      <a:r>
                        <a:rPr lang="en-US" sz="1100" dirty="0">
                          <a:solidFill>
                            <a:srgbClr val="6B6B70"/>
                          </a:solidFill>
                          <a:latin typeface="Calibri" pitchFamily="34" charset="0"/>
                          <a:ea typeface="Calibri" pitchFamily="34" charset="-122"/>
                          <a:cs typeface="Calibri" pitchFamily="34" charset="-120"/>
                        </a:rPr>
                        <a:t>Global</a:t>
                      </a:r>
                      <a:endParaRPr lang="en-US" sz="1100" dirty="0">
                        <a:latin typeface="Calibri" pitchFamily="34" charset="0"/>
                        <a:ea typeface="Calibri" pitchFamily="34" charset="0"/>
                        <a:cs typeface="Calibri"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c>
                  <a:txBody>
                    <a:bodyPr/>
                    <a:lstStyle/>
                    <a:p>
                      <a:pPr marL="0" indent="0" algn="l">
                        <a:buNone/>
                      </a:pPr>
                      <a:r>
                        <a:rPr lang="en-US" sz="1100" dirty="0">
                          <a:solidFill>
                            <a:srgbClr val="6B6B70"/>
                          </a:solidFill>
                          <a:latin typeface="Calibri" pitchFamily="34" charset="0"/>
                          <a:ea typeface="Calibri" pitchFamily="34" charset="-122"/>
                          <a:cs typeface="Calibri" pitchFamily="34" charset="-120"/>
                        </a:rPr>
                        <a:t>NFT lending</a:t>
                      </a:r>
                      <a:endParaRPr lang="en-US" sz="1100" dirty="0">
                        <a:latin typeface="Calibri" pitchFamily="34" charset="0"/>
                        <a:ea typeface="Calibri" pitchFamily="34" charset="0"/>
                        <a:cs typeface="Calibri"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AFAF7"/>
                    </a:solidFill>
                  </a:tcPr>
                </a:tc>
              </a:tr>
              <a:tr h="694690">
                <a:tc>
                  <a:txBody>
                    <a:bodyPr/>
                    <a:lstStyle/>
                    <a:p>
                      <a:pPr marL="0" indent="0" algn="l">
                        <a:buNone/>
                      </a:pPr>
                      <a:r>
                        <a:rPr lang="en-US" sz="1200" b="1" dirty="0">
                          <a:solidFill>
                            <a:srgbClr val="0E7C7B"/>
                          </a:solidFill>
                          <a:latin typeface="Georgia" panose="02040502050405090303" pitchFamily="34" charset="0"/>
                          <a:ea typeface="Georgia" panose="02040502050405090303" pitchFamily="34" charset="-122"/>
                          <a:cs typeface="Georgia" panose="02040502050405090303" pitchFamily="34" charset="-120"/>
                        </a:rPr>
                        <a:t>VAULX</a:t>
                      </a:r>
                      <a:endParaRPr lang="en-US" sz="1200" dirty="0">
                        <a:latin typeface="Georgia" panose="02040502050405090303" pitchFamily="34" charset="0"/>
                        <a:ea typeface="Georgia" panose="02040502050405090303" pitchFamily="34" charset="0"/>
                        <a:cs typeface="Georgia" panose="02040502050405090303"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2F0E8"/>
                    </a:solidFill>
                  </a:tcPr>
                </a:tc>
                <a:tc>
                  <a:txBody>
                    <a:bodyPr/>
                    <a:lstStyle/>
                    <a:p>
                      <a:pPr marL="0" indent="0" algn="l">
                        <a:buNone/>
                      </a:pPr>
                      <a:r>
                        <a:rPr lang="en-US" sz="1200" b="1" dirty="0">
                          <a:solidFill>
                            <a:srgbClr val="0E7C7B"/>
                          </a:solidFill>
                          <a:latin typeface="Calibri" pitchFamily="34" charset="0"/>
                          <a:ea typeface="Calibri" pitchFamily="34" charset="-122"/>
                          <a:cs typeface="Calibri" pitchFamily="34" charset="-120"/>
                        </a:rPr>
                        <a:t>Luxury physical</a:t>
                      </a:r>
                      <a:endParaRPr lang="en-US" sz="1200" dirty="0">
                        <a:latin typeface="Calibri" pitchFamily="34" charset="0"/>
                        <a:ea typeface="Calibri" pitchFamily="34" charset="0"/>
                        <a:cs typeface="Calibri"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2F0E8"/>
                    </a:solidFill>
                  </a:tcPr>
                </a:tc>
                <a:tc>
                  <a:txBody>
                    <a:bodyPr/>
                    <a:lstStyle/>
                    <a:p>
                      <a:pPr marL="0" indent="0" algn="l">
                        <a:buNone/>
                      </a:pPr>
                      <a:r>
                        <a:rPr lang="en-US" sz="1200" b="1" dirty="0">
                          <a:solidFill>
                            <a:srgbClr val="0E7C7B"/>
                          </a:solidFill>
                          <a:latin typeface="Calibri" pitchFamily="34" charset="0"/>
                          <a:ea typeface="Calibri" pitchFamily="34" charset="-122"/>
                          <a:cs typeface="Calibri" pitchFamily="34" charset="-120"/>
                        </a:rPr>
                        <a:t>Solana</a:t>
                      </a:r>
                      <a:endParaRPr lang="en-US" sz="1200" dirty="0">
                        <a:latin typeface="Calibri" pitchFamily="34" charset="0"/>
                        <a:ea typeface="Calibri" pitchFamily="34" charset="0"/>
                        <a:cs typeface="Calibri"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2F0E8"/>
                    </a:solidFill>
                  </a:tcPr>
                </a:tc>
                <a:tc>
                  <a:txBody>
                    <a:bodyPr/>
                    <a:lstStyle/>
                    <a:p>
                      <a:pPr marL="0" indent="0" algn="l">
                        <a:buNone/>
                      </a:pPr>
                      <a:r>
                        <a:rPr lang="en-US" sz="1200" b="1" dirty="0">
                          <a:solidFill>
                            <a:srgbClr val="0E7C7B"/>
                          </a:solidFill>
                          <a:latin typeface="Calibri" pitchFamily="34" charset="0"/>
                          <a:ea typeface="Calibri" pitchFamily="34" charset="-122"/>
                          <a:cs typeface="Calibri" pitchFamily="34" charset="-120"/>
                        </a:rPr>
                        <a:t>Independent licensed</a:t>
                      </a:r>
                      <a:endParaRPr lang="en-US" sz="1200" b="1" dirty="0">
                        <a:solidFill>
                          <a:srgbClr val="0E7C7B"/>
                        </a:solidFill>
                        <a:latin typeface="Calibri" pitchFamily="34" charset="0"/>
                        <a:ea typeface="Calibri" pitchFamily="34" charset="-122"/>
                        <a:cs typeface="Calibri" pitchFamily="34" charset="-120"/>
                      </a:endParaRPr>
                    </a:p>
                    <a:p>
                      <a:pPr marL="0" indent="0" algn="l">
                        <a:buNone/>
                      </a:pPr>
                      <a:r>
                        <a:rPr lang="en-US" sz="1200" b="1" dirty="0">
                          <a:solidFill>
                            <a:srgbClr val="0E7C7B"/>
                          </a:solidFill>
                          <a:latin typeface="Calibri" pitchFamily="34" charset="0"/>
                          <a:ea typeface="Calibri" pitchFamily="34" charset="-122"/>
                          <a:cs typeface="Calibri" pitchFamily="34" charset="-120"/>
                        </a:rPr>
                        <a:t>custodian</a:t>
                      </a:r>
                      <a:endParaRPr lang="en-US" sz="1200" b="1" dirty="0">
                        <a:solidFill>
                          <a:srgbClr val="0E7C7B"/>
                        </a:solidFill>
                        <a:latin typeface="Calibri" pitchFamily="34" charset="0"/>
                        <a:ea typeface="Calibri" pitchFamily="34" charset="-122"/>
                        <a:cs typeface="Calibri" pitchFamily="34" charset="-12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2F0E8"/>
                    </a:solidFill>
                  </a:tcPr>
                </a:tc>
                <a:tc>
                  <a:txBody>
                    <a:bodyPr/>
                    <a:lstStyle/>
                    <a:p>
                      <a:pPr marL="0" indent="0" algn="l">
                        <a:buNone/>
                      </a:pPr>
                      <a:r>
                        <a:rPr lang="en-US" sz="1200" b="1" dirty="0">
                          <a:solidFill>
                            <a:srgbClr val="0E7C7B"/>
                          </a:solidFill>
                          <a:latin typeface="Calibri" pitchFamily="34" charset="0"/>
                          <a:ea typeface="Calibri" pitchFamily="34" charset="-122"/>
                          <a:cs typeface="Calibri" pitchFamily="34" charset="-120"/>
                        </a:rPr>
                        <a:t>Brazil → modular global</a:t>
                      </a:r>
                      <a:endParaRPr lang="en-US" sz="1200" dirty="0">
                        <a:latin typeface="Calibri" pitchFamily="34" charset="0"/>
                        <a:ea typeface="Calibri" pitchFamily="34" charset="0"/>
                        <a:cs typeface="Calibri"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2F0E8"/>
                    </a:solidFill>
                  </a:tcPr>
                </a:tc>
                <a:tc>
                  <a:txBody>
                    <a:bodyPr/>
                    <a:lstStyle/>
                    <a:p>
                      <a:pPr marL="0" indent="0" algn="l">
                        <a:buNone/>
                      </a:pPr>
                      <a:r>
                        <a:rPr lang="en-US" sz="1200" b="1" dirty="0">
                          <a:solidFill>
                            <a:srgbClr val="0E7C7B"/>
                          </a:solidFill>
                          <a:latin typeface="Calibri" pitchFamily="34" charset="0"/>
                          <a:ea typeface="Calibri" pitchFamily="34" charset="-122"/>
                          <a:cs typeface="Calibri" pitchFamily="34" charset="-120"/>
                        </a:rPr>
                        <a:t>Devnet  </a:t>
                      </a:r>
                      <a:endParaRPr lang="en-US" sz="1200" b="1" dirty="0">
                        <a:solidFill>
                          <a:srgbClr val="0E7C7B"/>
                        </a:solidFill>
                        <a:latin typeface="Calibri" pitchFamily="34" charset="0"/>
                        <a:ea typeface="Calibri" pitchFamily="34" charset="-122"/>
                        <a:cs typeface="Calibri" pitchFamily="34" charset="-120"/>
                      </a:endParaRPr>
                    </a:p>
                    <a:p>
                      <a:pPr marL="0" indent="0" algn="l">
                        <a:buNone/>
                      </a:pPr>
                      <a:r>
                        <a:rPr lang="en-US" sz="1200" b="0" i="1" dirty="0">
                          <a:solidFill>
                            <a:srgbClr val="0E7C7B"/>
                          </a:solidFill>
                          <a:latin typeface="Calibri" pitchFamily="34" charset="0"/>
                          <a:ea typeface="Calibri" pitchFamily="34" charset="-122"/>
                          <a:cs typeface="Calibri" pitchFamily="34" charset="-120"/>
                        </a:rPr>
                        <a:t>mainnet after audit</a:t>
                      </a:r>
                      <a:endParaRPr lang="en-US" sz="1200" b="0" i="1" dirty="0">
                        <a:latin typeface="Calibri" pitchFamily="34" charset="0"/>
                        <a:ea typeface="Calibri" pitchFamily="34" charset="0"/>
                        <a:cs typeface="Calibri" pitchFamily="34" charset="0"/>
                      </a:endParaRPr>
                    </a:p>
                  </a:txBody>
                  <a:tcPr marL="164592" marR="164592" marT="73152" marB="73152"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2F0E8"/>
                    </a:solidFill>
                  </a:tcPr>
                </a:tc>
              </a:tr>
            </a:tbl>
          </a:graphicData>
        </a:graphic>
      </p:graphicFrame>
      <p:sp>
        <p:nvSpPr>
          <p:cNvPr id="23" name="Shape 20"/>
          <p:cNvSpPr/>
          <p:nvPr/>
        </p:nvSpPr>
        <p:spPr>
          <a:xfrm>
            <a:off x="640080" y="5852160"/>
            <a:ext cx="10911840" cy="640080"/>
          </a:xfrm>
          <a:prstGeom prst="rect">
            <a:avLst/>
          </a:prstGeom>
          <a:solidFill>
            <a:srgbClr val="FFFFFF"/>
          </a:solidFill>
          <a:ln w="15240">
            <a:solidFill>
              <a:srgbClr val="0E7C7B"/>
            </a:solidFill>
            <a:prstDash val="solid"/>
          </a:ln>
        </p:spPr>
      </p:sp>
      <p:sp>
        <p:nvSpPr>
          <p:cNvPr id="24" name="Text 21"/>
          <p:cNvSpPr/>
          <p:nvPr/>
        </p:nvSpPr>
        <p:spPr>
          <a:xfrm>
            <a:off x="641985" y="5645912"/>
            <a:ext cx="3657600" cy="274320"/>
          </a:xfrm>
          <a:prstGeom prst="rect">
            <a:avLst/>
          </a:prstGeom>
          <a:noFill/>
        </p:spPr>
        <p:txBody>
          <a:bodyPr wrap="square" lIns="0" tIns="0" rIns="0" bIns="0" rtlCol="0" anchor="ctr"/>
          <a:lstStyle/>
          <a:p>
            <a:pPr marL="0" indent="0">
              <a:buNone/>
            </a:pPr>
            <a:r>
              <a:rPr lang="en-US" sz="1000" b="1" kern="0" spc="400" dirty="0">
                <a:solidFill>
                  <a:srgbClr val="0E7C7B"/>
                </a:solidFill>
                <a:latin typeface="Consolas" pitchFamily="34" charset="0"/>
                <a:ea typeface="Consolas" pitchFamily="34" charset="-122"/>
                <a:cs typeface="Consolas" pitchFamily="34" charset="-120"/>
              </a:rPr>
              <a:t>THE UNOCCUPIED VERTEX</a:t>
            </a:r>
            <a:endParaRPr lang="en-US" sz="1000" dirty="0"/>
          </a:p>
        </p:txBody>
      </p:sp>
      <p:sp>
        <p:nvSpPr>
          <p:cNvPr id="25" name="Text 22"/>
          <p:cNvSpPr/>
          <p:nvPr/>
        </p:nvSpPr>
        <p:spPr>
          <a:xfrm>
            <a:off x="868680" y="5852160"/>
            <a:ext cx="2339264" cy="365760"/>
          </a:xfrm>
          <a:prstGeom prst="rect">
            <a:avLst/>
          </a:prstGeom>
          <a:noFill/>
        </p:spPr>
        <p:txBody>
          <a:bodyPr wrap="square" lIns="0" tIns="0" rIns="0" bIns="0" rtlCol="0" anchor="ctr"/>
          <a:lstStyle/>
          <a:p>
            <a:pPr marL="0" indent="0">
              <a:buNone/>
            </a:pPr>
            <a:r>
              <a:rPr lang="en-US" sz="1400" b="1" dirty="0">
                <a:solidFill>
                  <a:srgbClr val="1A1A1D"/>
                </a:solidFill>
                <a:latin typeface="Georgia" panose="02040502050405090303" pitchFamily="34" charset="0"/>
                <a:ea typeface="Georgia" panose="02040502050405090303" pitchFamily="34" charset="-122"/>
                <a:cs typeface="Georgia" panose="02040502050405090303" pitchFamily="34" charset="-120"/>
              </a:rPr>
              <a:t>Solana</a:t>
            </a:r>
            <a:endParaRPr lang="en-US" sz="1400" dirty="0"/>
          </a:p>
        </p:txBody>
      </p:sp>
      <p:sp>
        <p:nvSpPr>
          <p:cNvPr id="26" name="Text 23"/>
          <p:cNvSpPr/>
          <p:nvPr/>
        </p:nvSpPr>
        <p:spPr>
          <a:xfrm>
            <a:off x="868680" y="6217920"/>
            <a:ext cx="2339264" cy="365760"/>
          </a:xfrm>
          <a:prstGeom prst="rect">
            <a:avLst/>
          </a:prstGeom>
          <a:noFill/>
        </p:spPr>
        <p:txBody>
          <a:bodyPr wrap="square" lIns="0" tIns="0" rIns="0" bIns="0" rtlCol="0" anchor="ctr"/>
          <a:lstStyle/>
          <a:p>
            <a:pPr marL="0" indent="0">
              <a:buNone/>
            </a:pPr>
            <a:r>
              <a:rPr lang="en-US" sz="1100" i="1" dirty="0">
                <a:solidFill>
                  <a:srgbClr val="6B6B70"/>
                </a:solidFill>
                <a:latin typeface="Calibri" pitchFamily="34" charset="0"/>
                <a:ea typeface="Calibri" pitchFamily="34" charset="-122"/>
                <a:cs typeface="Calibri" pitchFamily="34" charset="-120"/>
              </a:rPr>
              <a:t>lower-cost composability</a:t>
            </a:r>
            <a:endParaRPr lang="en-US" sz="1100" dirty="0"/>
          </a:p>
        </p:txBody>
      </p:sp>
      <p:sp>
        <p:nvSpPr>
          <p:cNvPr id="27" name="Text 24"/>
          <p:cNvSpPr/>
          <p:nvPr/>
        </p:nvSpPr>
        <p:spPr>
          <a:xfrm>
            <a:off x="3482264" y="5852160"/>
            <a:ext cx="2339264" cy="365760"/>
          </a:xfrm>
          <a:prstGeom prst="rect">
            <a:avLst/>
          </a:prstGeom>
          <a:noFill/>
        </p:spPr>
        <p:txBody>
          <a:bodyPr wrap="square" lIns="0" tIns="0" rIns="0" bIns="0" rtlCol="0" anchor="ctr"/>
          <a:lstStyle/>
          <a:p>
            <a:pPr marL="0" indent="0">
              <a:buNone/>
            </a:pPr>
            <a:r>
              <a:rPr lang="en-US" sz="1400" b="1" dirty="0">
                <a:solidFill>
                  <a:srgbClr val="1A1A1D"/>
                </a:solidFill>
                <a:latin typeface="Georgia" panose="02040502050405090303" pitchFamily="34" charset="0"/>
                <a:ea typeface="Georgia" panose="02040502050405090303" pitchFamily="34" charset="-122"/>
                <a:cs typeface="Georgia" panose="02040502050405090303" pitchFamily="34" charset="-120"/>
              </a:rPr>
              <a:t>Emerging-market first</a:t>
            </a:r>
            <a:endParaRPr lang="en-US" sz="1400" dirty="0"/>
          </a:p>
        </p:txBody>
      </p:sp>
      <p:sp>
        <p:nvSpPr>
          <p:cNvPr id="28" name="Text 25"/>
          <p:cNvSpPr/>
          <p:nvPr/>
        </p:nvSpPr>
        <p:spPr>
          <a:xfrm>
            <a:off x="3482264" y="6217920"/>
            <a:ext cx="2339264" cy="365760"/>
          </a:xfrm>
          <a:prstGeom prst="rect">
            <a:avLst/>
          </a:prstGeom>
          <a:noFill/>
        </p:spPr>
        <p:txBody>
          <a:bodyPr wrap="square" lIns="0" tIns="0" rIns="0" bIns="0" rtlCol="0" anchor="ctr"/>
          <a:lstStyle/>
          <a:p>
            <a:pPr marL="0" indent="0">
              <a:buNone/>
            </a:pPr>
            <a:r>
              <a:rPr lang="en-US" sz="1100" i="1" dirty="0">
                <a:solidFill>
                  <a:srgbClr val="6B6B70"/>
                </a:solidFill>
                <a:latin typeface="Calibri" pitchFamily="34" charset="0"/>
                <a:ea typeface="Calibri" pitchFamily="34" charset="-122"/>
                <a:cs typeface="Calibri" pitchFamily="34" charset="-120"/>
              </a:rPr>
              <a:t>where credit costs 60–400%</a:t>
            </a:r>
            <a:endParaRPr lang="en-US" sz="1100" dirty="0"/>
          </a:p>
        </p:txBody>
      </p:sp>
      <p:sp>
        <p:nvSpPr>
          <p:cNvPr id="29" name="Text 26"/>
          <p:cNvSpPr/>
          <p:nvPr/>
        </p:nvSpPr>
        <p:spPr>
          <a:xfrm>
            <a:off x="6095848" y="5852160"/>
            <a:ext cx="2339264" cy="365760"/>
          </a:xfrm>
          <a:prstGeom prst="rect">
            <a:avLst/>
          </a:prstGeom>
          <a:noFill/>
        </p:spPr>
        <p:txBody>
          <a:bodyPr wrap="square" lIns="0" tIns="0" rIns="0" bIns="0" rtlCol="0" anchor="ctr"/>
          <a:lstStyle/>
          <a:p>
            <a:pPr marL="0" indent="0">
              <a:buNone/>
            </a:pPr>
            <a:r>
              <a:rPr lang="en-US" sz="1400" b="1" dirty="0">
                <a:solidFill>
                  <a:srgbClr val="1A1A1D"/>
                </a:solidFill>
                <a:latin typeface="Georgia" panose="02040502050405090303" pitchFamily="34" charset="0"/>
                <a:ea typeface="Georgia" panose="02040502050405090303" pitchFamily="34" charset="-122"/>
                <a:cs typeface="Georgia" panose="02040502050405090303" pitchFamily="34" charset="-120"/>
              </a:rPr>
              <a:t>Licensed third-party custody</a:t>
            </a:r>
            <a:endParaRPr lang="en-US" sz="1400" dirty="0"/>
          </a:p>
        </p:txBody>
      </p:sp>
      <p:sp>
        <p:nvSpPr>
          <p:cNvPr id="30" name="Text 27"/>
          <p:cNvSpPr/>
          <p:nvPr/>
        </p:nvSpPr>
        <p:spPr>
          <a:xfrm>
            <a:off x="6095848" y="6217920"/>
            <a:ext cx="2339264" cy="365760"/>
          </a:xfrm>
          <a:prstGeom prst="rect">
            <a:avLst/>
          </a:prstGeom>
          <a:noFill/>
        </p:spPr>
        <p:txBody>
          <a:bodyPr wrap="square" lIns="0" tIns="0" rIns="0" bIns="0" rtlCol="0" anchor="ctr"/>
          <a:lstStyle/>
          <a:p>
            <a:pPr marL="0" indent="0">
              <a:buNone/>
            </a:pPr>
            <a:r>
              <a:rPr lang="en-US" sz="1100" i="1" dirty="0">
                <a:solidFill>
                  <a:srgbClr val="6B6B70"/>
                </a:solidFill>
                <a:latin typeface="Calibri" pitchFamily="34" charset="0"/>
                <a:ea typeface="Calibri" pitchFamily="34" charset="-122"/>
                <a:cs typeface="Calibri" pitchFamily="34" charset="-120"/>
              </a:rPr>
              <a:t>no closed black box</a:t>
            </a:r>
            <a:endParaRPr lang="en-US" sz="1100" dirty="0"/>
          </a:p>
        </p:txBody>
      </p:sp>
      <p:sp>
        <p:nvSpPr>
          <p:cNvPr id="31" name="Text 28"/>
          <p:cNvSpPr/>
          <p:nvPr/>
        </p:nvSpPr>
        <p:spPr>
          <a:xfrm>
            <a:off x="8709431" y="5852160"/>
            <a:ext cx="2339264" cy="365760"/>
          </a:xfrm>
          <a:prstGeom prst="rect">
            <a:avLst/>
          </a:prstGeom>
          <a:noFill/>
        </p:spPr>
        <p:txBody>
          <a:bodyPr wrap="square" lIns="0" tIns="0" rIns="0" bIns="0" rtlCol="0" anchor="ctr"/>
          <a:lstStyle/>
          <a:p>
            <a:pPr marL="0" indent="0">
              <a:buNone/>
            </a:pPr>
            <a:r>
              <a:rPr lang="en-US" sz="1400" b="1" dirty="0">
                <a:solidFill>
                  <a:srgbClr val="1A1A1D"/>
                </a:solidFill>
                <a:latin typeface="Georgia" panose="02040502050405090303" pitchFamily="34" charset="0"/>
                <a:ea typeface="Georgia" panose="02040502050405090303" pitchFamily="34" charset="-122"/>
                <a:cs typeface="Georgia" panose="02040502050405090303" pitchFamily="34" charset="-120"/>
              </a:rPr>
              <a:t>Joint issuance</a:t>
            </a:r>
            <a:endParaRPr lang="en-US" sz="1400" dirty="0"/>
          </a:p>
        </p:txBody>
      </p:sp>
      <p:sp>
        <p:nvSpPr>
          <p:cNvPr id="32" name="Text 29"/>
          <p:cNvSpPr/>
          <p:nvPr/>
        </p:nvSpPr>
        <p:spPr>
          <a:xfrm>
            <a:off x="8709431" y="6217920"/>
            <a:ext cx="2339264" cy="365760"/>
          </a:xfrm>
          <a:prstGeom prst="rect">
            <a:avLst/>
          </a:prstGeom>
          <a:noFill/>
        </p:spPr>
        <p:txBody>
          <a:bodyPr wrap="square" lIns="0" tIns="0" rIns="0" bIns="0" rtlCol="0" anchor="ctr"/>
          <a:lstStyle/>
          <a:p>
            <a:pPr marL="0" indent="0">
              <a:buNone/>
            </a:pPr>
            <a:r>
              <a:rPr lang="en-US" sz="1100" i="1" dirty="0">
                <a:solidFill>
                  <a:srgbClr val="6B6B70"/>
                </a:solidFill>
                <a:latin typeface="Calibri" pitchFamily="34" charset="0"/>
                <a:ea typeface="Calibri" pitchFamily="34" charset="-122"/>
                <a:cs typeface="Calibri" pitchFamily="34" charset="-120"/>
              </a:rPr>
              <a:t>with regulated local partner</a:t>
            </a:r>
            <a:endParaRPr lang="en-US" sz="1100" dirty="0"/>
          </a:p>
        </p:txBody>
      </p:sp>
      <p:sp>
        <p:nvSpPr>
          <p:cNvPr id="33" name="Text 30"/>
          <p:cNvSpPr/>
          <p:nvPr/>
        </p:nvSpPr>
        <p:spPr>
          <a:xfrm>
            <a:off x="640080" y="6537960"/>
            <a:ext cx="10911535" cy="292608"/>
          </a:xfrm>
          <a:prstGeom prst="rect">
            <a:avLst/>
          </a:prstGeom>
          <a:noFill/>
        </p:spPr>
        <p:txBody>
          <a:bodyPr wrap="square" lIns="0" tIns="0" rIns="0" bIns="0" rtlCol="0" anchor="ctr"/>
          <a:lstStyle/>
          <a:p>
            <a:pPr marL="0" indent="0">
              <a:buNone/>
            </a:pPr>
            <a:r>
              <a:rPr lang="en-US" sz="1200" dirty="0">
                <a:solidFill>
                  <a:srgbClr val="0E7C7B"/>
                </a:solidFill>
                <a:latin typeface="Georgia" panose="02040502050405090303" pitchFamily="34" charset="0"/>
                <a:ea typeface="Georgia" panose="02040502050405090303" pitchFamily="34" charset="-122"/>
                <a:cs typeface="Georgia" panose="02040502050405090303" pitchFamily="34" charset="-120"/>
              </a:rPr>
              <a:t>→  </a:t>
            </a:r>
            <a:r>
              <a:rPr lang="en-US" sz="1200" i="1" dirty="0">
                <a:solidFill>
                  <a:srgbClr val="1A1A1D"/>
                </a:solidFill>
                <a:latin typeface="Georgia" panose="02040502050405090303" pitchFamily="34" charset="0"/>
                <a:ea typeface="Georgia" panose="02040502050405090303" pitchFamily="34" charset="-122"/>
                <a:cs typeface="Georgia" panose="02040502050405090303" pitchFamily="34" charset="-120"/>
              </a:rPr>
              <a:t>The unoccupied vertex: Solana economics, LATAM-first geography, composable architecture, regulated-local issuance. Vaulx sits there.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640080" y="530352"/>
            <a:ext cx="109728" cy="22860"/>
          </a:xfrm>
          <a:prstGeom prst="rect">
            <a:avLst/>
          </a:prstGeom>
          <a:solidFill>
            <a:srgbClr val="0E7C7B"/>
          </a:solidFill>
          <a:ln w="12700">
            <a:solidFill>
              <a:srgbClr val="0E7C7B"/>
            </a:solidFill>
            <a:prstDash val="solid"/>
          </a:ln>
        </p:spPr>
      </p:sp>
      <p:sp>
        <p:nvSpPr>
          <p:cNvPr id="3" name="Text 1"/>
          <p:cNvSpPr/>
          <p:nvPr/>
        </p:nvSpPr>
        <p:spPr>
          <a:xfrm>
            <a:off x="804672" y="457200"/>
            <a:ext cx="5321808" cy="228600"/>
          </a:xfrm>
          <a:prstGeom prst="rect">
            <a:avLst/>
          </a:prstGeom>
          <a:noFill/>
        </p:spPr>
        <p:txBody>
          <a:bodyPr wrap="square" lIns="0" tIns="0" rIns="0" bIns="0" rtlCol="0" anchor="ctr"/>
          <a:lstStyle/>
          <a:p>
            <a:pPr marL="0" indent="0">
              <a:buNone/>
            </a:pPr>
            <a:r>
              <a:rPr lang="en-US" sz="950" b="1" kern="0" spc="400" dirty="0">
                <a:solidFill>
                  <a:srgbClr val="0E7C7B"/>
                </a:solidFill>
                <a:latin typeface="Consolas" pitchFamily="34" charset="0"/>
                <a:ea typeface="Consolas" pitchFamily="34" charset="-122"/>
                <a:cs typeface="Consolas" pitchFamily="34" charset="-120"/>
              </a:rPr>
              <a:t>07  /  TEAM</a:t>
            </a:r>
            <a:endParaRPr lang="en-US" sz="950" dirty="0"/>
          </a:p>
        </p:txBody>
      </p:sp>
      <p:sp>
        <p:nvSpPr>
          <p:cNvPr id="4" name="Text 2"/>
          <p:cNvSpPr/>
          <p:nvPr/>
        </p:nvSpPr>
        <p:spPr>
          <a:xfrm>
            <a:off x="10911535" y="274320"/>
            <a:ext cx="914400" cy="228600"/>
          </a:xfrm>
          <a:prstGeom prst="rect">
            <a:avLst/>
          </a:prstGeom>
          <a:noFill/>
        </p:spPr>
        <p:txBody>
          <a:bodyPr wrap="square" lIns="0" tIns="0" rIns="0" bIns="0" rtlCol="0" anchor="ctr"/>
          <a:lstStyle/>
          <a:p>
            <a:pPr marL="0" indent="0" algn="r">
              <a:buNone/>
            </a:pPr>
            <a:r>
              <a:rPr lang="en-US" sz="900" kern="0" spc="300" dirty="0">
                <a:solidFill>
                  <a:srgbClr val="6B6B70"/>
                </a:solidFill>
                <a:latin typeface="Consolas" pitchFamily="34" charset="0"/>
                <a:ea typeface="Consolas" pitchFamily="34" charset="-122"/>
                <a:cs typeface="Consolas" pitchFamily="34" charset="-120"/>
              </a:rPr>
              <a:t>08 / 09</a:t>
            </a:r>
            <a:endParaRPr lang="en-US" sz="900" dirty="0"/>
          </a:p>
        </p:txBody>
      </p:sp>
      <p:sp>
        <p:nvSpPr>
          <p:cNvPr id="5" name="Text 3"/>
          <p:cNvSpPr/>
          <p:nvPr/>
        </p:nvSpPr>
        <p:spPr>
          <a:xfrm>
            <a:off x="640080" y="777240"/>
            <a:ext cx="10911535" cy="777240"/>
          </a:xfrm>
          <a:prstGeom prst="rect">
            <a:avLst/>
          </a:prstGeom>
          <a:noFill/>
        </p:spPr>
        <p:txBody>
          <a:bodyPr wrap="square" lIns="0" tIns="0" rIns="0" bIns="0" rtlCol="0" anchor="ctr"/>
          <a:lstStyle/>
          <a:p>
            <a:pPr marL="0" indent="0">
              <a:buNone/>
            </a:pPr>
            <a:r>
              <a:rPr lang="en-US" sz="3200" b="1" dirty="0">
                <a:solidFill>
                  <a:srgbClr val="1A1A1D"/>
                </a:solidFill>
                <a:latin typeface="Georgia" panose="02040502050405090303" pitchFamily="34" charset="0"/>
                <a:ea typeface="Georgia" panose="02040502050405090303" pitchFamily="34" charset="-122"/>
                <a:cs typeface="Georgia" panose="02040502050405090303" pitchFamily="34" charset="-120"/>
              </a:rPr>
              <a:t>Operators, builders, and market </a:t>
            </a:r>
            <a:r>
              <a:rPr lang="en-US" sz="3200" b="1" i="1" dirty="0">
                <a:solidFill>
                  <a:srgbClr val="0E7C7B"/>
                </a:solidFill>
                <a:latin typeface="Georgia" panose="02040502050405090303" pitchFamily="34" charset="0"/>
                <a:ea typeface="Georgia" panose="02040502050405090303" pitchFamily="34" charset="-122"/>
                <a:cs typeface="Georgia" panose="02040502050405090303" pitchFamily="34" charset="-120"/>
              </a:rPr>
              <a:t>access</a:t>
            </a:r>
            <a:r>
              <a:rPr lang="en-US" sz="3200" b="1" dirty="0">
                <a:solidFill>
                  <a:srgbClr val="1A1A1D"/>
                </a:solidFill>
                <a:latin typeface="Georgia" panose="02040502050405090303" pitchFamily="34" charset="0"/>
                <a:ea typeface="Georgia" panose="02040502050405090303" pitchFamily="34" charset="-122"/>
                <a:cs typeface="Georgia" panose="02040502050405090303" pitchFamily="34" charset="-120"/>
              </a:rPr>
              <a:t>.</a:t>
            </a:r>
            <a:endParaRPr lang="en-US" sz="3200" dirty="0"/>
          </a:p>
        </p:txBody>
      </p:sp>
      <p:sp>
        <p:nvSpPr>
          <p:cNvPr id="6" name="Text 4"/>
          <p:cNvSpPr/>
          <p:nvPr/>
        </p:nvSpPr>
        <p:spPr>
          <a:xfrm>
            <a:off x="640080" y="1554480"/>
            <a:ext cx="10911535" cy="365760"/>
          </a:xfrm>
          <a:prstGeom prst="rect">
            <a:avLst/>
          </a:prstGeom>
          <a:noFill/>
        </p:spPr>
        <p:txBody>
          <a:bodyPr wrap="square" lIns="0" tIns="0" rIns="0" bIns="0" rtlCol="0" anchor="ctr"/>
          <a:lstStyle/>
          <a:p>
            <a:pPr marL="0" indent="0">
              <a:buNone/>
            </a:pPr>
            <a:r>
              <a:rPr lang="en-US" sz="1200" dirty="0">
                <a:solidFill>
                  <a:srgbClr val="6B6B70"/>
                </a:solidFill>
                <a:latin typeface="Calibri" pitchFamily="34" charset="0"/>
                <a:ea typeface="Calibri" pitchFamily="34" charset="-122"/>
                <a:cs typeface="Calibri" pitchFamily="34" charset="-120"/>
              </a:rPr>
              <a:t>The team combines banking, electronic-security infrastructure, Solana engineering, and live DeFi distribution.</a:t>
            </a:r>
            <a:endParaRPr lang="en-US" sz="1200" dirty="0"/>
          </a:p>
        </p:txBody>
      </p:sp>
      <p:sp>
        <p:nvSpPr>
          <p:cNvPr id="7" name="Shape 5"/>
          <p:cNvSpPr/>
          <p:nvPr/>
        </p:nvSpPr>
        <p:spPr>
          <a:xfrm>
            <a:off x="640080" y="1993392"/>
            <a:ext cx="914400" cy="0"/>
          </a:xfrm>
          <a:prstGeom prst="line">
            <a:avLst/>
          </a:prstGeom>
          <a:noFill/>
          <a:ln w="15240">
            <a:solidFill>
              <a:srgbClr val="C9A86A"/>
            </a:solidFill>
            <a:prstDash val="solid"/>
          </a:ln>
        </p:spPr>
      </p:sp>
      <p:sp>
        <p:nvSpPr>
          <p:cNvPr id="8" name="Shape 6"/>
          <p:cNvSpPr/>
          <p:nvPr/>
        </p:nvSpPr>
        <p:spPr>
          <a:xfrm>
            <a:off x="640080" y="2240280"/>
            <a:ext cx="2050633" cy="3108960"/>
          </a:xfrm>
          <a:prstGeom prst="rect">
            <a:avLst/>
          </a:prstGeom>
          <a:solidFill>
            <a:srgbClr val="FFFFFF"/>
          </a:solidFill>
          <a:ln w="9525">
            <a:solidFill>
              <a:srgbClr val="E5E2D8"/>
            </a:solidFill>
            <a:prstDash val="solid"/>
          </a:ln>
        </p:spPr>
      </p:sp>
      <p:sp>
        <p:nvSpPr>
          <p:cNvPr id="9" name="Shape 7"/>
          <p:cNvSpPr/>
          <p:nvPr/>
        </p:nvSpPr>
        <p:spPr>
          <a:xfrm>
            <a:off x="640080" y="2240280"/>
            <a:ext cx="54864" cy="365760"/>
          </a:xfrm>
          <a:prstGeom prst="rect">
            <a:avLst/>
          </a:prstGeom>
          <a:solidFill>
            <a:srgbClr val="0E7C7B"/>
          </a:solidFill>
          <a:ln w="12700">
            <a:solidFill>
              <a:srgbClr val="0E7C7B"/>
            </a:solidFill>
            <a:prstDash val="solid"/>
          </a:ln>
        </p:spPr>
      </p:sp>
      <p:sp>
        <p:nvSpPr>
          <p:cNvPr id="10" name="Shape 8"/>
          <p:cNvSpPr/>
          <p:nvPr/>
        </p:nvSpPr>
        <p:spPr>
          <a:xfrm>
            <a:off x="1253917" y="2606040"/>
            <a:ext cx="822960" cy="822960"/>
          </a:xfrm>
          <a:prstGeom prst="ellipse">
            <a:avLst/>
          </a:prstGeom>
          <a:solidFill>
            <a:srgbClr val="FAFAF7"/>
          </a:solidFill>
          <a:ln w="9525">
            <a:solidFill>
              <a:srgbClr val="E5E2D8"/>
            </a:solidFill>
            <a:prstDash val="solid"/>
          </a:ln>
        </p:spPr>
      </p:sp>
      <p:pic>
        <p:nvPicPr>
          <p:cNvPr id="11" name="Image 0" descr="preencoded.png"/>
          <p:cNvPicPr>
            <a:picLocks noChangeAspect="1"/>
          </p:cNvPicPr>
          <p:nvPr/>
        </p:nvPicPr>
        <p:blipFill>
          <a:blip r:embed="rId1"/>
          <a:stretch>
            <a:fillRect/>
          </a:stretch>
        </p:blipFill>
        <p:spPr>
          <a:xfrm>
            <a:off x="1409365" y="2761488"/>
            <a:ext cx="512064" cy="512064"/>
          </a:xfrm>
          <a:prstGeom prst="rect">
            <a:avLst/>
          </a:prstGeom>
        </p:spPr>
      </p:pic>
      <p:sp>
        <p:nvSpPr>
          <p:cNvPr id="12" name="Text 9"/>
          <p:cNvSpPr/>
          <p:nvPr/>
        </p:nvSpPr>
        <p:spPr>
          <a:xfrm>
            <a:off x="822960" y="3566160"/>
            <a:ext cx="1684873" cy="320040"/>
          </a:xfrm>
          <a:prstGeom prst="rect">
            <a:avLst/>
          </a:prstGeom>
          <a:noFill/>
        </p:spPr>
        <p:txBody>
          <a:bodyPr wrap="square" lIns="0" tIns="0" rIns="0" bIns="0" rtlCol="0" anchor="ctr"/>
          <a:lstStyle/>
          <a:p>
            <a:pPr marL="0" indent="0" algn="ctr">
              <a:buNone/>
            </a:pPr>
            <a:r>
              <a:rPr lang="en-US" sz="1500" b="1" dirty="0">
                <a:solidFill>
                  <a:srgbClr val="1A1A1D"/>
                </a:solidFill>
                <a:latin typeface="Georgia" panose="02040502050405090303" pitchFamily="34" charset="0"/>
                <a:ea typeface="Georgia" panose="02040502050405090303" pitchFamily="34" charset="-122"/>
                <a:cs typeface="Georgia" panose="02040502050405090303" pitchFamily="34" charset="-120"/>
              </a:rPr>
              <a:t>George Dimitrov</a:t>
            </a:r>
            <a:endParaRPr lang="en-US" sz="1500" dirty="0"/>
          </a:p>
        </p:txBody>
      </p:sp>
      <p:sp>
        <p:nvSpPr>
          <p:cNvPr id="13" name="Text 10"/>
          <p:cNvSpPr/>
          <p:nvPr/>
        </p:nvSpPr>
        <p:spPr>
          <a:xfrm>
            <a:off x="822960" y="3867912"/>
            <a:ext cx="1684873" cy="274320"/>
          </a:xfrm>
          <a:prstGeom prst="rect">
            <a:avLst/>
          </a:prstGeom>
          <a:noFill/>
        </p:spPr>
        <p:txBody>
          <a:bodyPr wrap="square" lIns="0" tIns="0" rIns="0" bIns="0" rtlCol="0" anchor="ctr"/>
          <a:lstStyle/>
          <a:p>
            <a:pPr marL="0" indent="0" algn="ctr">
              <a:buNone/>
            </a:pPr>
            <a:r>
              <a:rPr lang="en-US" sz="950" b="1" kern="0" spc="200" dirty="0">
                <a:solidFill>
                  <a:srgbClr val="0E7C7B"/>
                </a:solidFill>
                <a:latin typeface="Consolas" pitchFamily="34" charset="0"/>
                <a:ea typeface="Consolas" pitchFamily="34" charset="-122"/>
                <a:cs typeface="Consolas" pitchFamily="34" charset="-120"/>
              </a:rPr>
              <a:t>CEO / CTO</a:t>
            </a:r>
            <a:endParaRPr lang="en-US" sz="950" dirty="0"/>
          </a:p>
        </p:txBody>
      </p:sp>
      <p:sp>
        <p:nvSpPr>
          <p:cNvPr id="14" name="Shape 11"/>
          <p:cNvSpPr/>
          <p:nvPr/>
        </p:nvSpPr>
        <p:spPr>
          <a:xfrm>
            <a:off x="1005840" y="4187952"/>
            <a:ext cx="1319113" cy="0"/>
          </a:xfrm>
          <a:prstGeom prst="line">
            <a:avLst/>
          </a:prstGeom>
          <a:noFill/>
          <a:ln w="6350">
            <a:solidFill>
              <a:srgbClr val="E5E2D8"/>
            </a:solidFill>
            <a:prstDash val="solid"/>
          </a:ln>
        </p:spPr>
      </p:sp>
      <p:sp>
        <p:nvSpPr>
          <p:cNvPr id="15" name="Text 12"/>
          <p:cNvSpPr/>
          <p:nvPr/>
        </p:nvSpPr>
        <p:spPr>
          <a:xfrm>
            <a:off x="822960" y="4251960"/>
            <a:ext cx="1684873" cy="1051560"/>
          </a:xfrm>
          <a:prstGeom prst="rect">
            <a:avLst/>
          </a:prstGeom>
          <a:noFill/>
        </p:spPr>
        <p:txBody>
          <a:bodyPr wrap="square" lIns="0" tIns="0" rIns="0" bIns="0" rtlCol="0" anchor="ctr"/>
          <a:lstStyle/>
          <a:p>
            <a:pPr marL="0" indent="0" algn="ctr">
              <a:lnSpc>
                <a:spcPts val="1300"/>
              </a:lnSpc>
              <a:buNone/>
            </a:pPr>
            <a:r>
              <a:rPr lang="en-US" sz="1000" dirty="0">
                <a:solidFill>
                  <a:srgbClr val="6B6B70"/>
                </a:solidFill>
                <a:latin typeface="Calibri" pitchFamily="34" charset="0"/>
                <a:ea typeface="Calibri" pitchFamily="34" charset="-122"/>
                <a:cs typeface="Calibri" pitchFamily="34" charset="-120"/>
              </a:rPr>
              <a:t>Corporate execution, global banking operations, governance, legal and regulatory alignment.</a:t>
            </a:r>
            <a:endParaRPr lang="en-US" sz="1000" dirty="0"/>
          </a:p>
        </p:txBody>
      </p:sp>
      <p:sp>
        <p:nvSpPr>
          <p:cNvPr id="16" name="Shape 13"/>
          <p:cNvSpPr/>
          <p:nvPr/>
        </p:nvSpPr>
        <p:spPr>
          <a:xfrm>
            <a:off x="2855305" y="2240280"/>
            <a:ext cx="2050633" cy="3108960"/>
          </a:xfrm>
          <a:prstGeom prst="rect">
            <a:avLst/>
          </a:prstGeom>
          <a:solidFill>
            <a:srgbClr val="FFFFFF"/>
          </a:solidFill>
          <a:ln w="9525">
            <a:solidFill>
              <a:srgbClr val="E5E2D8"/>
            </a:solidFill>
            <a:prstDash val="solid"/>
          </a:ln>
        </p:spPr>
      </p:sp>
      <p:sp>
        <p:nvSpPr>
          <p:cNvPr id="17" name="Shape 14"/>
          <p:cNvSpPr/>
          <p:nvPr/>
        </p:nvSpPr>
        <p:spPr>
          <a:xfrm>
            <a:off x="2855305" y="2240280"/>
            <a:ext cx="54864" cy="365760"/>
          </a:xfrm>
          <a:prstGeom prst="rect">
            <a:avLst/>
          </a:prstGeom>
          <a:solidFill>
            <a:srgbClr val="0E7C7B"/>
          </a:solidFill>
          <a:ln w="12700">
            <a:solidFill>
              <a:srgbClr val="0E7C7B"/>
            </a:solidFill>
            <a:prstDash val="solid"/>
          </a:ln>
        </p:spPr>
      </p:sp>
      <p:sp>
        <p:nvSpPr>
          <p:cNvPr id="18" name="Shape 15"/>
          <p:cNvSpPr/>
          <p:nvPr/>
        </p:nvSpPr>
        <p:spPr>
          <a:xfrm>
            <a:off x="3469142" y="2606040"/>
            <a:ext cx="822960" cy="822960"/>
          </a:xfrm>
          <a:prstGeom prst="ellipse">
            <a:avLst/>
          </a:prstGeom>
          <a:solidFill>
            <a:srgbClr val="FAFAF7"/>
          </a:solidFill>
          <a:ln w="9525">
            <a:solidFill>
              <a:srgbClr val="E5E2D8"/>
            </a:solidFill>
            <a:prstDash val="solid"/>
          </a:ln>
        </p:spPr>
      </p:sp>
      <p:pic>
        <p:nvPicPr>
          <p:cNvPr id="19" name="Image 1" descr="preencoded.png"/>
          <p:cNvPicPr>
            <a:picLocks noChangeAspect="1"/>
          </p:cNvPicPr>
          <p:nvPr/>
        </p:nvPicPr>
        <p:blipFill>
          <a:blip r:embed="rId2"/>
          <a:stretch>
            <a:fillRect/>
          </a:stretch>
        </p:blipFill>
        <p:spPr>
          <a:xfrm>
            <a:off x="3624590" y="2761488"/>
            <a:ext cx="512064" cy="512064"/>
          </a:xfrm>
          <a:prstGeom prst="rect">
            <a:avLst/>
          </a:prstGeom>
        </p:spPr>
      </p:pic>
      <p:sp>
        <p:nvSpPr>
          <p:cNvPr id="20" name="Text 16"/>
          <p:cNvSpPr/>
          <p:nvPr/>
        </p:nvSpPr>
        <p:spPr>
          <a:xfrm>
            <a:off x="3038185" y="3566160"/>
            <a:ext cx="1684873" cy="320040"/>
          </a:xfrm>
          <a:prstGeom prst="rect">
            <a:avLst/>
          </a:prstGeom>
          <a:noFill/>
        </p:spPr>
        <p:txBody>
          <a:bodyPr wrap="square" lIns="0" tIns="0" rIns="0" bIns="0" rtlCol="0" anchor="ctr"/>
          <a:lstStyle/>
          <a:p>
            <a:pPr marL="0" indent="0" algn="ctr">
              <a:buNone/>
            </a:pPr>
            <a:r>
              <a:rPr lang="en-US" sz="1500" b="1" dirty="0">
                <a:solidFill>
                  <a:srgbClr val="1A1A1D"/>
                </a:solidFill>
                <a:latin typeface="Georgia" panose="02040502050405090303" pitchFamily="34" charset="0"/>
                <a:ea typeface="Georgia" panose="02040502050405090303" pitchFamily="34" charset="-122"/>
                <a:cs typeface="Georgia" panose="02040502050405090303" pitchFamily="34" charset="-120"/>
              </a:rPr>
              <a:t>Marcelo</a:t>
            </a:r>
            <a:endParaRPr lang="en-US" sz="1500" dirty="0"/>
          </a:p>
        </p:txBody>
      </p:sp>
      <p:sp>
        <p:nvSpPr>
          <p:cNvPr id="21" name="Text 17"/>
          <p:cNvSpPr/>
          <p:nvPr/>
        </p:nvSpPr>
        <p:spPr>
          <a:xfrm>
            <a:off x="3038185" y="3867912"/>
            <a:ext cx="1684873" cy="274320"/>
          </a:xfrm>
          <a:prstGeom prst="rect">
            <a:avLst/>
          </a:prstGeom>
          <a:noFill/>
        </p:spPr>
        <p:txBody>
          <a:bodyPr wrap="square" lIns="0" tIns="0" rIns="0" bIns="0" rtlCol="0" anchor="ctr"/>
          <a:lstStyle/>
          <a:p>
            <a:pPr marL="0" indent="0" algn="ctr">
              <a:buNone/>
            </a:pPr>
            <a:r>
              <a:rPr lang="en-US" sz="950" b="1" kern="0" spc="200" dirty="0">
                <a:solidFill>
                  <a:srgbClr val="0E7C7B"/>
                </a:solidFill>
                <a:latin typeface="Consolas" pitchFamily="34" charset="0"/>
                <a:ea typeface="Consolas" pitchFamily="34" charset="-122"/>
                <a:cs typeface="Consolas" pitchFamily="34" charset="-120"/>
              </a:rPr>
              <a:t>COO  ·  Gitel founder</a:t>
            </a:r>
            <a:endParaRPr lang="en-US" sz="950" dirty="0"/>
          </a:p>
        </p:txBody>
      </p:sp>
      <p:sp>
        <p:nvSpPr>
          <p:cNvPr id="22" name="Shape 18"/>
          <p:cNvSpPr/>
          <p:nvPr/>
        </p:nvSpPr>
        <p:spPr>
          <a:xfrm>
            <a:off x="3221065" y="4187952"/>
            <a:ext cx="1319113" cy="0"/>
          </a:xfrm>
          <a:prstGeom prst="line">
            <a:avLst/>
          </a:prstGeom>
          <a:noFill/>
          <a:ln w="6350">
            <a:solidFill>
              <a:srgbClr val="E5E2D8"/>
            </a:solidFill>
            <a:prstDash val="solid"/>
          </a:ln>
        </p:spPr>
      </p:sp>
      <p:sp>
        <p:nvSpPr>
          <p:cNvPr id="23" name="Text 19"/>
          <p:cNvSpPr/>
          <p:nvPr/>
        </p:nvSpPr>
        <p:spPr>
          <a:xfrm>
            <a:off x="3038185" y="4251960"/>
            <a:ext cx="1684873" cy="1051560"/>
          </a:xfrm>
          <a:prstGeom prst="rect">
            <a:avLst/>
          </a:prstGeom>
          <a:noFill/>
        </p:spPr>
        <p:txBody>
          <a:bodyPr wrap="square" lIns="0" tIns="0" rIns="0" bIns="0" rtlCol="0" anchor="ctr"/>
          <a:lstStyle/>
          <a:p>
            <a:pPr marL="0" indent="0" algn="ctr">
              <a:lnSpc>
                <a:spcPts val="1300"/>
              </a:lnSpc>
              <a:buNone/>
            </a:pPr>
            <a:r>
              <a:rPr lang="en-US" sz="1000" dirty="0">
                <a:solidFill>
                  <a:srgbClr val="6B6B70"/>
                </a:solidFill>
                <a:latin typeface="Calibri" pitchFamily="34" charset="0"/>
                <a:ea typeface="Calibri" pitchFamily="34" charset="-122"/>
                <a:cs typeface="Calibri" pitchFamily="34" charset="-120"/>
              </a:rPr>
              <a:t>38 years building Brazilian electronic-security infra: CCTV · IoT · access control · NOC. The exact tech behind Vaulx's atomic custody invariant.</a:t>
            </a:r>
            <a:endParaRPr lang="en-US" sz="1000" dirty="0"/>
          </a:p>
        </p:txBody>
      </p:sp>
      <p:sp>
        <p:nvSpPr>
          <p:cNvPr id="24" name="Shape 20"/>
          <p:cNvSpPr/>
          <p:nvPr/>
        </p:nvSpPr>
        <p:spPr>
          <a:xfrm>
            <a:off x="5070531" y="2240280"/>
            <a:ext cx="2050633" cy="3108960"/>
          </a:xfrm>
          <a:prstGeom prst="rect">
            <a:avLst/>
          </a:prstGeom>
          <a:solidFill>
            <a:srgbClr val="FFFFFF"/>
          </a:solidFill>
          <a:ln w="9525">
            <a:solidFill>
              <a:srgbClr val="E5E2D8"/>
            </a:solidFill>
            <a:prstDash val="solid"/>
          </a:ln>
        </p:spPr>
      </p:sp>
      <p:sp>
        <p:nvSpPr>
          <p:cNvPr id="25" name="Shape 21"/>
          <p:cNvSpPr/>
          <p:nvPr/>
        </p:nvSpPr>
        <p:spPr>
          <a:xfrm>
            <a:off x="5070531" y="2240280"/>
            <a:ext cx="54864" cy="365760"/>
          </a:xfrm>
          <a:prstGeom prst="rect">
            <a:avLst/>
          </a:prstGeom>
          <a:solidFill>
            <a:srgbClr val="0E7C7B"/>
          </a:solidFill>
          <a:ln w="12700">
            <a:solidFill>
              <a:srgbClr val="0E7C7B"/>
            </a:solidFill>
            <a:prstDash val="solid"/>
          </a:ln>
        </p:spPr>
      </p:sp>
      <p:sp>
        <p:nvSpPr>
          <p:cNvPr id="26" name="Shape 22"/>
          <p:cNvSpPr/>
          <p:nvPr/>
        </p:nvSpPr>
        <p:spPr>
          <a:xfrm>
            <a:off x="5684368" y="2606040"/>
            <a:ext cx="822960" cy="822960"/>
          </a:xfrm>
          <a:prstGeom prst="ellipse">
            <a:avLst/>
          </a:prstGeom>
          <a:solidFill>
            <a:srgbClr val="FAFAF7"/>
          </a:solidFill>
          <a:ln w="9525">
            <a:solidFill>
              <a:srgbClr val="E5E2D8"/>
            </a:solidFill>
            <a:prstDash val="solid"/>
          </a:ln>
        </p:spPr>
      </p:sp>
      <p:pic>
        <p:nvPicPr>
          <p:cNvPr id="27" name="Image 2" descr="preencoded.png"/>
          <p:cNvPicPr>
            <a:picLocks noChangeAspect="1"/>
          </p:cNvPicPr>
          <p:nvPr/>
        </p:nvPicPr>
        <p:blipFill>
          <a:blip r:embed="rId3"/>
          <a:stretch>
            <a:fillRect/>
          </a:stretch>
        </p:blipFill>
        <p:spPr>
          <a:xfrm>
            <a:off x="5839816" y="2761488"/>
            <a:ext cx="512064" cy="512064"/>
          </a:xfrm>
          <a:prstGeom prst="rect">
            <a:avLst/>
          </a:prstGeom>
        </p:spPr>
      </p:pic>
      <p:sp>
        <p:nvSpPr>
          <p:cNvPr id="28" name="Text 23"/>
          <p:cNvSpPr/>
          <p:nvPr/>
        </p:nvSpPr>
        <p:spPr>
          <a:xfrm>
            <a:off x="5253411" y="3566160"/>
            <a:ext cx="1684873" cy="320040"/>
          </a:xfrm>
          <a:prstGeom prst="rect">
            <a:avLst/>
          </a:prstGeom>
          <a:noFill/>
        </p:spPr>
        <p:txBody>
          <a:bodyPr wrap="square" lIns="0" tIns="0" rIns="0" bIns="0" rtlCol="0" anchor="ctr"/>
          <a:lstStyle/>
          <a:p>
            <a:pPr marL="0" indent="0" algn="ctr">
              <a:buNone/>
            </a:pPr>
            <a:r>
              <a:rPr lang="en-US" sz="1500" b="1" dirty="0">
                <a:solidFill>
                  <a:srgbClr val="1A1A1D"/>
                </a:solidFill>
                <a:latin typeface="Georgia" panose="02040502050405090303" pitchFamily="34" charset="0"/>
                <a:ea typeface="Georgia" panose="02040502050405090303" pitchFamily="34" charset="-122"/>
                <a:cs typeface="Georgia" panose="02040502050405090303" pitchFamily="34" charset="-120"/>
              </a:rPr>
              <a:t>Rodrigo</a:t>
            </a:r>
            <a:endParaRPr lang="en-US" sz="1500" dirty="0"/>
          </a:p>
        </p:txBody>
      </p:sp>
      <p:sp>
        <p:nvSpPr>
          <p:cNvPr id="29" name="Text 24"/>
          <p:cNvSpPr/>
          <p:nvPr/>
        </p:nvSpPr>
        <p:spPr>
          <a:xfrm>
            <a:off x="5253411" y="3867912"/>
            <a:ext cx="1684873" cy="274320"/>
          </a:xfrm>
          <a:prstGeom prst="rect">
            <a:avLst/>
          </a:prstGeom>
          <a:noFill/>
        </p:spPr>
        <p:txBody>
          <a:bodyPr wrap="square" lIns="0" tIns="0" rIns="0" bIns="0" rtlCol="0" anchor="ctr"/>
          <a:lstStyle/>
          <a:p>
            <a:pPr marL="0" indent="0" algn="ctr">
              <a:buNone/>
            </a:pPr>
            <a:r>
              <a:rPr lang="en-US" sz="950" b="1" kern="0" spc="200" dirty="0">
                <a:solidFill>
                  <a:srgbClr val="0E7C7B"/>
                </a:solidFill>
                <a:latin typeface="Consolas" pitchFamily="34" charset="0"/>
                <a:ea typeface="Consolas" pitchFamily="34" charset="-122"/>
                <a:cs typeface="Consolas" pitchFamily="34" charset="-120"/>
              </a:rPr>
              <a:t>Partnerships &amp; BD</a:t>
            </a:r>
            <a:endParaRPr lang="en-US" sz="950" dirty="0"/>
          </a:p>
        </p:txBody>
      </p:sp>
      <p:sp>
        <p:nvSpPr>
          <p:cNvPr id="30" name="Shape 25"/>
          <p:cNvSpPr/>
          <p:nvPr/>
        </p:nvSpPr>
        <p:spPr>
          <a:xfrm>
            <a:off x="5436291" y="4187952"/>
            <a:ext cx="1319113" cy="0"/>
          </a:xfrm>
          <a:prstGeom prst="line">
            <a:avLst/>
          </a:prstGeom>
          <a:noFill/>
          <a:ln w="6350">
            <a:solidFill>
              <a:srgbClr val="E5E2D8"/>
            </a:solidFill>
            <a:prstDash val="solid"/>
          </a:ln>
        </p:spPr>
      </p:sp>
      <p:sp>
        <p:nvSpPr>
          <p:cNvPr id="31" name="Text 26"/>
          <p:cNvSpPr/>
          <p:nvPr/>
        </p:nvSpPr>
        <p:spPr>
          <a:xfrm>
            <a:off x="5253411" y="4251960"/>
            <a:ext cx="1684873" cy="1051560"/>
          </a:xfrm>
          <a:prstGeom prst="rect">
            <a:avLst/>
          </a:prstGeom>
          <a:noFill/>
        </p:spPr>
        <p:txBody>
          <a:bodyPr wrap="square" lIns="0" tIns="0" rIns="0" bIns="0" rtlCol="0" anchor="ctr"/>
          <a:lstStyle/>
          <a:p>
            <a:pPr marL="0" indent="0" algn="ctr">
              <a:lnSpc>
                <a:spcPts val="1300"/>
              </a:lnSpc>
              <a:buNone/>
            </a:pPr>
            <a:r>
              <a:rPr lang="en-US" sz="1000" dirty="0">
                <a:solidFill>
                  <a:srgbClr val="6B6B70"/>
                </a:solidFill>
                <a:latin typeface="Calibri" pitchFamily="34" charset="0"/>
                <a:ea typeface="Calibri" pitchFamily="34" charset="-122"/>
                <a:cs typeface="Calibri" pitchFamily="34" charset="-120"/>
              </a:rPr>
              <a:t>Institutional network, market entry, and commercial partnerships across Brazil and LATAM.</a:t>
            </a:r>
            <a:endParaRPr lang="en-US" sz="1000" dirty="0"/>
          </a:p>
        </p:txBody>
      </p:sp>
      <p:sp>
        <p:nvSpPr>
          <p:cNvPr id="32" name="Shape 27"/>
          <p:cNvSpPr/>
          <p:nvPr/>
        </p:nvSpPr>
        <p:spPr>
          <a:xfrm>
            <a:off x="7285756" y="2240280"/>
            <a:ext cx="2050633" cy="3108960"/>
          </a:xfrm>
          <a:prstGeom prst="rect">
            <a:avLst/>
          </a:prstGeom>
          <a:solidFill>
            <a:srgbClr val="FFFFFF"/>
          </a:solidFill>
          <a:ln w="9525">
            <a:solidFill>
              <a:srgbClr val="E5E2D8"/>
            </a:solidFill>
            <a:prstDash val="solid"/>
          </a:ln>
        </p:spPr>
      </p:sp>
      <p:sp>
        <p:nvSpPr>
          <p:cNvPr id="33" name="Shape 28"/>
          <p:cNvSpPr/>
          <p:nvPr/>
        </p:nvSpPr>
        <p:spPr>
          <a:xfrm>
            <a:off x="7285756" y="2240280"/>
            <a:ext cx="54864" cy="365760"/>
          </a:xfrm>
          <a:prstGeom prst="rect">
            <a:avLst/>
          </a:prstGeom>
          <a:solidFill>
            <a:srgbClr val="0E7C7B"/>
          </a:solidFill>
          <a:ln w="12700">
            <a:solidFill>
              <a:srgbClr val="0E7C7B"/>
            </a:solidFill>
            <a:prstDash val="solid"/>
          </a:ln>
        </p:spPr>
      </p:sp>
      <p:sp>
        <p:nvSpPr>
          <p:cNvPr id="34" name="Shape 29"/>
          <p:cNvSpPr/>
          <p:nvPr/>
        </p:nvSpPr>
        <p:spPr>
          <a:xfrm>
            <a:off x="7899593" y="2606040"/>
            <a:ext cx="822960" cy="822960"/>
          </a:xfrm>
          <a:prstGeom prst="ellipse">
            <a:avLst/>
          </a:prstGeom>
          <a:solidFill>
            <a:srgbClr val="FAFAF7"/>
          </a:solidFill>
          <a:ln w="9525">
            <a:solidFill>
              <a:srgbClr val="E5E2D8"/>
            </a:solidFill>
            <a:prstDash val="solid"/>
          </a:ln>
        </p:spPr>
      </p:sp>
      <p:pic>
        <p:nvPicPr>
          <p:cNvPr id="35" name="Image 3" descr="preencoded.png"/>
          <p:cNvPicPr>
            <a:picLocks noChangeAspect="1"/>
          </p:cNvPicPr>
          <p:nvPr/>
        </p:nvPicPr>
        <p:blipFill>
          <a:blip r:embed="rId4"/>
          <a:stretch>
            <a:fillRect/>
          </a:stretch>
        </p:blipFill>
        <p:spPr>
          <a:xfrm>
            <a:off x="8055041" y="2761488"/>
            <a:ext cx="512064" cy="512064"/>
          </a:xfrm>
          <a:prstGeom prst="rect">
            <a:avLst/>
          </a:prstGeom>
        </p:spPr>
      </p:pic>
      <p:sp>
        <p:nvSpPr>
          <p:cNvPr id="36" name="Text 30"/>
          <p:cNvSpPr/>
          <p:nvPr/>
        </p:nvSpPr>
        <p:spPr>
          <a:xfrm>
            <a:off x="7468636" y="3566160"/>
            <a:ext cx="1684873" cy="320040"/>
          </a:xfrm>
          <a:prstGeom prst="rect">
            <a:avLst/>
          </a:prstGeom>
          <a:noFill/>
        </p:spPr>
        <p:txBody>
          <a:bodyPr wrap="square" lIns="0" tIns="0" rIns="0" bIns="0" rtlCol="0" anchor="ctr"/>
          <a:lstStyle/>
          <a:p>
            <a:pPr marL="0" indent="0" algn="ctr">
              <a:buNone/>
            </a:pPr>
            <a:r>
              <a:rPr lang="en-US" sz="1500" b="1" dirty="0">
                <a:solidFill>
                  <a:srgbClr val="1A1A1D"/>
                </a:solidFill>
                <a:latin typeface="Georgia" panose="02040502050405090303" pitchFamily="34" charset="0"/>
                <a:ea typeface="Georgia" panose="02040502050405090303" pitchFamily="34" charset="-122"/>
                <a:cs typeface="Georgia" panose="02040502050405090303" pitchFamily="34" charset="-120"/>
              </a:rPr>
              <a:t>Edson</a:t>
            </a:r>
            <a:endParaRPr lang="en-US" sz="1500" dirty="0"/>
          </a:p>
        </p:txBody>
      </p:sp>
      <p:sp>
        <p:nvSpPr>
          <p:cNvPr id="37" name="Text 31"/>
          <p:cNvSpPr/>
          <p:nvPr/>
        </p:nvSpPr>
        <p:spPr>
          <a:xfrm>
            <a:off x="7468636" y="3867912"/>
            <a:ext cx="1684873" cy="274320"/>
          </a:xfrm>
          <a:prstGeom prst="rect">
            <a:avLst/>
          </a:prstGeom>
          <a:noFill/>
        </p:spPr>
        <p:txBody>
          <a:bodyPr wrap="square" lIns="0" tIns="0" rIns="0" bIns="0" rtlCol="0" anchor="ctr"/>
          <a:lstStyle/>
          <a:p>
            <a:pPr marL="0" indent="0" algn="ctr">
              <a:buNone/>
            </a:pPr>
            <a:r>
              <a:rPr lang="en-US" sz="950" b="1" kern="0" spc="200" dirty="0">
                <a:solidFill>
                  <a:srgbClr val="0E7C7B"/>
                </a:solidFill>
                <a:latin typeface="Consolas" pitchFamily="34" charset="0"/>
                <a:ea typeface="Consolas" pitchFamily="34" charset="-122"/>
                <a:cs typeface="Consolas" pitchFamily="34" charset="-120"/>
              </a:rPr>
              <a:t>Senior Solana Engineer</a:t>
            </a:r>
            <a:endParaRPr lang="en-US" sz="950" dirty="0"/>
          </a:p>
        </p:txBody>
      </p:sp>
      <p:sp>
        <p:nvSpPr>
          <p:cNvPr id="38" name="Shape 32"/>
          <p:cNvSpPr/>
          <p:nvPr/>
        </p:nvSpPr>
        <p:spPr>
          <a:xfrm>
            <a:off x="7651516" y="4187952"/>
            <a:ext cx="1319113" cy="0"/>
          </a:xfrm>
          <a:prstGeom prst="line">
            <a:avLst/>
          </a:prstGeom>
          <a:noFill/>
          <a:ln w="6350">
            <a:solidFill>
              <a:srgbClr val="E5E2D8"/>
            </a:solidFill>
            <a:prstDash val="solid"/>
          </a:ln>
        </p:spPr>
      </p:sp>
      <p:sp>
        <p:nvSpPr>
          <p:cNvPr id="39" name="Text 33"/>
          <p:cNvSpPr/>
          <p:nvPr/>
        </p:nvSpPr>
        <p:spPr>
          <a:xfrm>
            <a:off x="7468636" y="4251960"/>
            <a:ext cx="1684873" cy="1051560"/>
          </a:xfrm>
          <a:prstGeom prst="rect">
            <a:avLst/>
          </a:prstGeom>
          <a:noFill/>
        </p:spPr>
        <p:txBody>
          <a:bodyPr wrap="square" lIns="0" tIns="0" rIns="0" bIns="0" rtlCol="0" anchor="ctr"/>
          <a:lstStyle/>
          <a:p>
            <a:pPr marL="0" indent="0" algn="ctr">
              <a:lnSpc>
                <a:spcPts val="1300"/>
              </a:lnSpc>
              <a:buNone/>
            </a:pPr>
            <a:r>
              <a:rPr lang="en-US" sz="1000" dirty="0">
                <a:solidFill>
                  <a:srgbClr val="6B6B70"/>
                </a:solidFill>
                <a:latin typeface="Calibri" pitchFamily="34" charset="0"/>
                <a:ea typeface="Calibri" pitchFamily="34" charset="-122"/>
                <a:cs typeface="Calibri" pitchFamily="34" charset="-120"/>
              </a:rPr>
              <a:t>Anchor, Bubblegum, oracle integration. Ensures the on-chain stack is solid.</a:t>
            </a:r>
            <a:endParaRPr lang="en-US" sz="1000" dirty="0"/>
          </a:p>
        </p:txBody>
      </p:sp>
      <p:sp>
        <p:nvSpPr>
          <p:cNvPr id="40" name="Shape 34"/>
          <p:cNvSpPr/>
          <p:nvPr/>
        </p:nvSpPr>
        <p:spPr>
          <a:xfrm>
            <a:off x="9500982" y="2240280"/>
            <a:ext cx="2050633" cy="3108960"/>
          </a:xfrm>
          <a:prstGeom prst="rect">
            <a:avLst/>
          </a:prstGeom>
          <a:solidFill>
            <a:srgbClr val="FFFFFF"/>
          </a:solidFill>
          <a:ln w="9525">
            <a:solidFill>
              <a:srgbClr val="E5E2D8"/>
            </a:solidFill>
            <a:prstDash val="solid"/>
          </a:ln>
        </p:spPr>
      </p:sp>
      <p:sp>
        <p:nvSpPr>
          <p:cNvPr id="41" name="Shape 35"/>
          <p:cNvSpPr/>
          <p:nvPr/>
        </p:nvSpPr>
        <p:spPr>
          <a:xfrm>
            <a:off x="9500982" y="2240280"/>
            <a:ext cx="54864" cy="365760"/>
          </a:xfrm>
          <a:prstGeom prst="rect">
            <a:avLst/>
          </a:prstGeom>
          <a:solidFill>
            <a:srgbClr val="0E7C7B"/>
          </a:solidFill>
          <a:ln w="12700">
            <a:solidFill>
              <a:srgbClr val="0E7C7B"/>
            </a:solidFill>
            <a:prstDash val="solid"/>
          </a:ln>
        </p:spPr>
      </p:sp>
      <p:sp>
        <p:nvSpPr>
          <p:cNvPr id="42" name="Shape 36"/>
          <p:cNvSpPr/>
          <p:nvPr/>
        </p:nvSpPr>
        <p:spPr>
          <a:xfrm>
            <a:off x="10114818" y="2606040"/>
            <a:ext cx="822960" cy="822960"/>
          </a:xfrm>
          <a:prstGeom prst="ellipse">
            <a:avLst/>
          </a:prstGeom>
          <a:solidFill>
            <a:srgbClr val="FAFAF7"/>
          </a:solidFill>
          <a:ln w="9525">
            <a:solidFill>
              <a:srgbClr val="E5E2D8"/>
            </a:solidFill>
            <a:prstDash val="solid"/>
          </a:ln>
        </p:spPr>
      </p:sp>
      <p:pic>
        <p:nvPicPr>
          <p:cNvPr id="43" name="Image 4" descr="preencoded.png"/>
          <p:cNvPicPr>
            <a:picLocks noChangeAspect="1"/>
          </p:cNvPicPr>
          <p:nvPr/>
        </p:nvPicPr>
        <p:blipFill>
          <a:blip r:embed="rId5"/>
          <a:stretch>
            <a:fillRect/>
          </a:stretch>
        </p:blipFill>
        <p:spPr>
          <a:xfrm>
            <a:off x="10270266" y="2761488"/>
            <a:ext cx="512064" cy="512064"/>
          </a:xfrm>
          <a:prstGeom prst="rect">
            <a:avLst/>
          </a:prstGeom>
        </p:spPr>
      </p:pic>
      <p:sp>
        <p:nvSpPr>
          <p:cNvPr id="44" name="Text 37"/>
          <p:cNvSpPr/>
          <p:nvPr/>
        </p:nvSpPr>
        <p:spPr>
          <a:xfrm>
            <a:off x="9683862" y="3566160"/>
            <a:ext cx="1684873" cy="320040"/>
          </a:xfrm>
          <a:prstGeom prst="rect">
            <a:avLst/>
          </a:prstGeom>
          <a:noFill/>
        </p:spPr>
        <p:txBody>
          <a:bodyPr wrap="square" lIns="0" tIns="0" rIns="0" bIns="0" rtlCol="0" anchor="ctr"/>
          <a:lstStyle/>
          <a:p>
            <a:pPr marL="0" indent="0" algn="ctr">
              <a:buNone/>
            </a:pPr>
            <a:r>
              <a:rPr lang="en-US" sz="1500" b="1" dirty="0">
                <a:solidFill>
                  <a:srgbClr val="1A1A1D"/>
                </a:solidFill>
                <a:latin typeface="Georgia" panose="02040502050405090303" pitchFamily="34" charset="0"/>
                <a:ea typeface="Georgia" panose="02040502050405090303" pitchFamily="34" charset="-122"/>
                <a:cs typeface="Georgia" panose="02040502050405090303" pitchFamily="34" charset="-120"/>
              </a:rPr>
              <a:t>Felipe</a:t>
            </a:r>
            <a:endParaRPr lang="en-US" sz="1500" dirty="0"/>
          </a:p>
        </p:txBody>
      </p:sp>
      <p:sp>
        <p:nvSpPr>
          <p:cNvPr id="45" name="Text 38"/>
          <p:cNvSpPr/>
          <p:nvPr/>
        </p:nvSpPr>
        <p:spPr>
          <a:xfrm>
            <a:off x="9683862" y="3867912"/>
            <a:ext cx="1684873" cy="274320"/>
          </a:xfrm>
          <a:prstGeom prst="rect">
            <a:avLst/>
          </a:prstGeom>
          <a:noFill/>
        </p:spPr>
        <p:txBody>
          <a:bodyPr wrap="square" lIns="0" tIns="0" rIns="0" bIns="0" rtlCol="0" anchor="ctr"/>
          <a:lstStyle/>
          <a:p>
            <a:pPr marL="0" indent="0" algn="ctr">
              <a:buNone/>
            </a:pPr>
            <a:r>
              <a:rPr lang="en-US" sz="950" b="1" kern="0" spc="200" dirty="0">
                <a:solidFill>
                  <a:srgbClr val="0E7C7B"/>
                </a:solidFill>
                <a:latin typeface="Consolas" pitchFamily="34" charset="0"/>
                <a:ea typeface="Consolas" pitchFamily="34" charset="-122"/>
                <a:cs typeface="Consolas" pitchFamily="34" charset="-120"/>
              </a:rPr>
              <a:t>DeFi &amp; Community Advisor</a:t>
            </a:r>
            <a:endParaRPr lang="en-US" sz="950" dirty="0"/>
          </a:p>
        </p:txBody>
      </p:sp>
      <p:sp>
        <p:nvSpPr>
          <p:cNvPr id="46" name="Shape 39"/>
          <p:cNvSpPr/>
          <p:nvPr/>
        </p:nvSpPr>
        <p:spPr>
          <a:xfrm>
            <a:off x="9866742" y="4187952"/>
            <a:ext cx="1319113" cy="0"/>
          </a:xfrm>
          <a:prstGeom prst="line">
            <a:avLst/>
          </a:prstGeom>
          <a:noFill/>
          <a:ln w="6350">
            <a:solidFill>
              <a:srgbClr val="E5E2D8"/>
            </a:solidFill>
            <a:prstDash val="solid"/>
          </a:ln>
        </p:spPr>
      </p:sp>
      <p:sp>
        <p:nvSpPr>
          <p:cNvPr id="47" name="Text 40"/>
          <p:cNvSpPr/>
          <p:nvPr/>
        </p:nvSpPr>
        <p:spPr>
          <a:xfrm>
            <a:off x="9683862" y="4251960"/>
            <a:ext cx="1684873" cy="1051560"/>
          </a:xfrm>
          <a:prstGeom prst="rect">
            <a:avLst/>
          </a:prstGeom>
          <a:noFill/>
        </p:spPr>
        <p:txBody>
          <a:bodyPr wrap="square" lIns="0" tIns="0" rIns="0" bIns="0" rtlCol="0" anchor="ctr"/>
          <a:lstStyle/>
          <a:p>
            <a:pPr marL="0" indent="0" algn="ctr">
              <a:lnSpc>
                <a:spcPts val="1300"/>
              </a:lnSpc>
              <a:buNone/>
            </a:pPr>
            <a:r>
              <a:rPr lang="en-US" sz="1000" dirty="0">
                <a:solidFill>
                  <a:srgbClr val="6B6B70"/>
                </a:solidFill>
                <a:latin typeface="Calibri" pitchFamily="34" charset="0"/>
                <a:ea typeface="Calibri" pitchFamily="34" charset="-122"/>
                <a:cs typeface="Calibri" pitchFamily="34" charset="-120"/>
              </a:rPr>
              <a:t>Founder of 4p.finance. Connected to US and São Paulo luxury-watch flow, crypto network, and community.</a:t>
            </a:r>
            <a:endParaRPr lang="en-US" sz="1000" dirty="0"/>
          </a:p>
        </p:txBody>
      </p:sp>
      <p:sp>
        <p:nvSpPr>
          <p:cNvPr id="48" name="Shape 41"/>
          <p:cNvSpPr/>
          <p:nvPr/>
        </p:nvSpPr>
        <p:spPr>
          <a:xfrm>
            <a:off x="640080" y="5532120"/>
            <a:ext cx="10911535" cy="457200"/>
          </a:xfrm>
          <a:prstGeom prst="rect">
            <a:avLst/>
          </a:prstGeom>
          <a:solidFill>
            <a:srgbClr val="FFFFFF"/>
          </a:solidFill>
          <a:ln w="12700">
            <a:solidFill>
              <a:srgbClr val="0E7C7B"/>
            </a:solidFill>
            <a:prstDash val="solid"/>
          </a:ln>
        </p:spPr>
      </p:sp>
      <p:sp>
        <p:nvSpPr>
          <p:cNvPr id="49" name="Text 42"/>
          <p:cNvSpPr/>
          <p:nvPr/>
        </p:nvSpPr>
        <p:spPr>
          <a:xfrm>
            <a:off x="640080" y="5532120"/>
            <a:ext cx="10911535" cy="457200"/>
          </a:xfrm>
          <a:prstGeom prst="rect">
            <a:avLst/>
          </a:prstGeom>
          <a:noFill/>
        </p:spPr>
        <p:txBody>
          <a:bodyPr wrap="square" lIns="0" tIns="0" rIns="0" bIns="0" rtlCol="0" anchor="ctr"/>
          <a:lstStyle/>
          <a:p>
            <a:pPr marL="0" indent="0" algn="ctr">
              <a:buNone/>
            </a:pPr>
            <a:r>
              <a:rPr lang="en-US" sz="1050" b="1" kern="0" spc="400" dirty="0">
                <a:solidFill>
                  <a:srgbClr val="0E7C7B"/>
                </a:solidFill>
                <a:latin typeface="Consolas" pitchFamily="34" charset="0"/>
                <a:ea typeface="Consolas" pitchFamily="34" charset="-122"/>
                <a:cs typeface="Consolas" pitchFamily="34" charset="-120"/>
              </a:rPr>
              <a:t>NO COMPETITOR CAN ASSEMBLE THIS TEAM.   </a:t>
            </a:r>
            <a:r>
              <a:rPr lang="en-US" sz="1050" i="1" dirty="0">
                <a:solidFill>
                  <a:srgbClr val="6B6B70"/>
                </a:solidFill>
                <a:latin typeface="Consolas" pitchFamily="34" charset="0"/>
                <a:ea typeface="Consolas" pitchFamily="34" charset="-122"/>
                <a:cs typeface="Consolas" pitchFamily="34" charset="-120"/>
              </a:rPr>
              <a:t>Active commercial conversations with appraisers, custodians, curators.</a:t>
            </a:r>
            <a:endParaRPr lang="en-US" sz="1050" dirty="0"/>
          </a:p>
        </p:txBody>
      </p:sp>
      <p:sp>
        <p:nvSpPr>
          <p:cNvPr id="50" name="Shape 43"/>
          <p:cNvSpPr/>
          <p:nvPr/>
        </p:nvSpPr>
        <p:spPr>
          <a:xfrm>
            <a:off x="640080" y="6172200"/>
            <a:ext cx="10911535" cy="365760"/>
          </a:xfrm>
          <a:prstGeom prst="rect">
            <a:avLst/>
          </a:prstGeom>
          <a:solidFill>
            <a:srgbClr val="0A0A0B"/>
          </a:solidFill>
          <a:ln w="12700">
            <a:solidFill>
              <a:srgbClr val="0A0A0B"/>
            </a:solidFill>
            <a:prstDash val="solid"/>
          </a:ln>
        </p:spPr>
      </p:sp>
      <p:sp>
        <p:nvSpPr>
          <p:cNvPr id="51" name="Text 44"/>
          <p:cNvSpPr/>
          <p:nvPr/>
        </p:nvSpPr>
        <p:spPr>
          <a:xfrm>
            <a:off x="640080" y="6172200"/>
            <a:ext cx="10911535" cy="365760"/>
          </a:xfrm>
          <a:prstGeom prst="rect">
            <a:avLst/>
          </a:prstGeom>
          <a:noFill/>
        </p:spPr>
        <p:txBody>
          <a:bodyPr wrap="square" lIns="0" tIns="0" rIns="0" bIns="0" rtlCol="0" anchor="ctr"/>
          <a:lstStyle/>
          <a:p>
            <a:pPr marL="0" indent="0" algn="ctr">
              <a:buNone/>
            </a:pPr>
            <a:r>
              <a:rPr lang="en-US" sz="1100" b="1" kern="0" spc="600" dirty="0">
                <a:solidFill>
                  <a:srgbClr val="F5F0E8"/>
                </a:solidFill>
                <a:latin typeface="Consolas" pitchFamily="34" charset="0"/>
                <a:ea typeface="Consolas" pitchFamily="34" charset="-122"/>
                <a:cs typeface="Consolas" pitchFamily="34" charset="-120"/>
              </a:rPr>
              <a:t>BANKING   ·   ELECTRONIC SECURITY   ·   BD   ·   SOLANA   ·   DEFI</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0A0B"/>
        </a:solidFill>
        <a:effectLst/>
      </p:bgPr>
    </p:bg>
    <p:spTree>
      <p:nvGrpSpPr>
        <p:cNvPr id="1" name=""/>
        <p:cNvGrpSpPr/>
        <p:nvPr/>
      </p:nvGrpSpPr>
      <p:grpSpPr>
        <a:xfrm>
          <a:off x="0" y="0"/>
          <a:ext cx="0" cy="0"/>
          <a:chOff x="0" y="0"/>
          <a:chExt cx="0" cy="0"/>
        </a:xfrm>
      </p:grpSpPr>
      <p:sp>
        <p:nvSpPr>
          <p:cNvPr id="2" name="Shape 0"/>
          <p:cNvSpPr/>
          <p:nvPr/>
        </p:nvSpPr>
        <p:spPr>
          <a:xfrm>
            <a:off x="640080" y="530352"/>
            <a:ext cx="109728" cy="22860"/>
          </a:xfrm>
          <a:prstGeom prst="rect">
            <a:avLst/>
          </a:prstGeom>
          <a:solidFill>
            <a:srgbClr val="0E7C7B"/>
          </a:solidFill>
          <a:ln w="12700">
            <a:solidFill>
              <a:srgbClr val="0E7C7B"/>
            </a:solidFill>
            <a:prstDash val="solid"/>
          </a:ln>
        </p:spPr>
      </p:sp>
      <p:sp>
        <p:nvSpPr>
          <p:cNvPr id="3" name="Text 1"/>
          <p:cNvSpPr/>
          <p:nvPr/>
        </p:nvSpPr>
        <p:spPr>
          <a:xfrm>
            <a:off x="804672" y="457200"/>
            <a:ext cx="5321808" cy="228600"/>
          </a:xfrm>
          <a:prstGeom prst="rect">
            <a:avLst/>
          </a:prstGeom>
          <a:noFill/>
        </p:spPr>
        <p:txBody>
          <a:bodyPr wrap="square" lIns="0" tIns="0" rIns="0" bIns="0" rtlCol="0" anchor="ctr"/>
          <a:lstStyle/>
          <a:p>
            <a:pPr marL="0" indent="0">
              <a:buNone/>
            </a:pPr>
            <a:r>
              <a:rPr lang="en-US" sz="950" b="1" kern="0" spc="400" dirty="0">
                <a:solidFill>
                  <a:srgbClr val="0E7C7B"/>
                </a:solidFill>
                <a:latin typeface="Consolas" pitchFamily="34" charset="0"/>
                <a:ea typeface="Consolas" pitchFamily="34" charset="-122"/>
                <a:cs typeface="Consolas" pitchFamily="34" charset="-120"/>
              </a:rPr>
              <a:t>09  /  BUILT  ·  ASK  ·  ROADMAP</a:t>
            </a:r>
            <a:endParaRPr lang="en-US" sz="950" dirty="0"/>
          </a:p>
        </p:txBody>
      </p:sp>
      <p:sp>
        <p:nvSpPr>
          <p:cNvPr id="4" name="Text 2"/>
          <p:cNvSpPr/>
          <p:nvPr/>
        </p:nvSpPr>
        <p:spPr>
          <a:xfrm>
            <a:off x="10911535" y="274320"/>
            <a:ext cx="914400" cy="228600"/>
          </a:xfrm>
          <a:prstGeom prst="rect">
            <a:avLst/>
          </a:prstGeom>
          <a:noFill/>
        </p:spPr>
        <p:txBody>
          <a:bodyPr wrap="square" lIns="0" tIns="0" rIns="0" bIns="0" rtlCol="0" anchor="ctr"/>
          <a:lstStyle/>
          <a:p>
            <a:pPr marL="0" indent="0" algn="r">
              <a:buNone/>
            </a:pPr>
            <a:r>
              <a:rPr lang="en-US" sz="900" kern="0" spc="300" dirty="0">
                <a:solidFill>
                  <a:srgbClr val="8A8A90"/>
                </a:solidFill>
                <a:latin typeface="Consolas" pitchFamily="34" charset="0"/>
                <a:ea typeface="Consolas" pitchFamily="34" charset="-122"/>
                <a:cs typeface="Consolas" pitchFamily="34" charset="-120"/>
              </a:rPr>
              <a:t>09 / 09</a:t>
            </a:r>
            <a:endParaRPr lang="en-US" sz="900" dirty="0"/>
          </a:p>
        </p:txBody>
      </p:sp>
      <p:sp>
        <p:nvSpPr>
          <p:cNvPr id="5" name="Text 3"/>
          <p:cNvSpPr/>
          <p:nvPr/>
        </p:nvSpPr>
        <p:spPr>
          <a:xfrm>
            <a:off x="640080" y="777240"/>
            <a:ext cx="10911535" cy="777240"/>
          </a:xfrm>
          <a:prstGeom prst="rect">
            <a:avLst/>
          </a:prstGeom>
          <a:noFill/>
        </p:spPr>
        <p:txBody>
          <a:bodyPr wrap="square" lIns="0" tIns="0" rIns="0" bIns="0" rtlCol="0" anchor="ctr"/>
          <a:lstStyle/>
          <a:p>
            <a:pPr marL="0" indent="0">
              <a:buNone/>
            </a:pPr>
            <a:r>
              <a:rPr lang="en-US" sz="3200" b="1" dirty="0">
                <a:solidFill>
                  <a:srgbClr val="F5F0E8"/>
                </a:solidFill>
                <a:latin typeface="Georgia" panose="02040502050405090303" pitchFamily="34" charset="0"/>
                <a:ea typeface="Georgia" panose="02040502050405090303" pitchFamily="34" charset="-122"/>
                <a:cs typeface="Georgia" panose="02040502050405090303" pitchFamily="34" charset="-120"/>
              </a:rPr>
              <a:t>Built </a:t>
            </a:r>
            <a:r>
              <a:rPr lang="en-US" sz="3200" b="1" i="1" dirty="0">
                <a:solidFill>
                  <a:srgbClr val="0E7C7B"/>
                </a:solidFill>
                <a:latin typeface="Georgia" panose="02040502050405090303" pitchFamily="34" charset="0"/>
                <a:ea typeface="Georgia" panose="02040502050405090303" pitchFamily="34" charset="-122"/>
                <a:cs typeface="Georgia" panose="02040502050405090303" pitchFamily="34" charset="-120"/>
              </a:rPr>
              <a:t>today</a:t>
            </a:r>
            <a:r>
              <a:rPr lang="en-US" sz="3200" b="1" dirty="0">
                <a:solidFill>
                  <a:srgbClr val="F5F0E8"/>
                </a:solidFill>
                <a:latin typeface="Georgia" panose="02040502050405090303" pitchFamily="34" charset="0"/>
                <a:ea typeface="Georgia" panose="02040502050405090303" pitchFamily="34" charset="-122"/>
                <a:cs typeface="Georgia" panose="02040502050405090303" pitchFamily="34" charset="-120"/>
              </a:rPr>
              <a:t>. Clear </a:t>
            </a:r>
            <a:r>
              <a:rPr lang="en-US" sz="3200" b="1" i="1" dirty="0">
                <a:solidFill>
                  <a:srgbClr val="C9A86A"/>
                </a:solidFill>
                <a:latin typeface="Georgia" panose="02040502050405090303" pitchFamily="34" charset="0"/>
                <a:ea typeface="Georgia" panose="02040502050405090303" pitchFamily="34" charset="-122"/>
                <a:cs typeface="Georgia" panose="02040502050405090303" pitchFamily="34" charset="-120"/>
              </a:rPr>
              <a:t>ask</a:t>
            </a:r>
            <a:r>
              <a:rPr lang="en-US" sz="3200" b="1" dirty="0">
                <a:solidFill>
                  <a:srgbClr val="F5F0E8"/>
                </a:solidFill>
                <a:latin typeface="Georgia" panose="02040502050405090303" pitchFamily="34" charset="0"/>
                <a:ea typeface="Georgia" panose="02040502050405090303" pitchFamily="34" charset="-122"/>
                <a:cs typeface="Georgia" panose="02040502050405090303" pitchFamily="34" charset="-120"/>
              </a:rPr>
              <a:t>. Mainnet in </a:t>
            </a:r>
            <a:r>
              <a:rPr lang="en-US" sz="3200" b="1" i="1" dirty="0">
                <a:solidFill>
                  <a:srgbClr val="0E7C7B"/>
                </a:solidFill>
                <a:latin typeface="Georgia" panose="02040502050405090303" pitchFamily="34" charset="0"/>
                <a:ea typeface="Georgia" panose="02040502050405090303" pitchFamily="34" charset="-122"/>
                <a:cs typeface="Georgia" panose="02040502050405090303" pitchFamily="34" charset="-120"/>
              </a:rPr>
              <a:t>90 days</a:t>
            </a:r>
            <a:r>
              <a:rPr lang="en-US" sz="3200" b="1" dirty="0">
                <a:solidFill>
                  <a:srgbClr val="F5F0E8"/>
                </a:solidFill>
                <a:latin typeface="Georgia" panose="02040502050405090303" pitchFamily="34" charset="0"/>
                <a:ea typeface="Georgia" panose="02040502050405090303" pitchFamily="34" charset="-122"/>
                <a:cs typeface="Georgia" panose="02040502050405090303" pitchFamily="34" charset="-120"/>
              </a:rPr>
              <a:t>.</a:t>
            </a:r>
            <a:endParaRPr lang="en-US" sz="3200" dirty="0"/>
          </a:p>
        </p:txBody>
      </p:sp>
      <p:sp>
        <p:nvSpPr>
          <p:cNvPr id="6" name="Shape 4"/>
          <p:cNvSpPr/>
          <p:nvPr/>
        </p:nvSpPr>
        <p:spPr>
          <a:xfrm>
            <a:off x="640080" y="1691640"/>
            <a:ext cx="914400" cy="0"/>
          </a:xfrm>
          <a:prstGeom prst="line">
            <a:avLst/>
          </a:prstGeom>
          <a:noFill/>
          <a:ln w="15240">
            <a:solidFill>
              <a:srgbClr val="C9A86A"/>
            </a:solidFill>
            <a:prstDash val="solid"/>
          </a:ln>
        </p:spPr>
      </p:sp>
      <p:sp>
        <p:nvSpPr>
          <p:cNvPr id="7" name="Shape 5"/>
          <p:cNvSpPr/>
          <p:nvPr/>
        </p:nvSpPr>
        <p:spPr>
          <a:xfrm>
            <a:off x="640080" y="1874520"/>
            <a:ext cx="3484778" cy="3337560"/>
          </a:xfrm>
          <a:prstGeom prst="rect">
            <a:avLst/>
          </a:prstGeom>
          <a:solidFill>
            <a:srgbClr val="12131A"/>
          </a:solidFill>
          <a:ln w="9525">
            <a:solidFill>
              <a:srgbClr val="1F1F25"/>
            </a:solidFill>
            <a:prstDash val="solid"/>
          </a:ln>
        </p:spPr>
      </p:sp>
      <p:pic>
        <p:nvPicPr>
          <p:cNvPr id="8" name="Image 0" descr="preencoded.png"/>
          <p:cNvPicPr>
            <a:picLocks noChangeAspect="1"/>
          </p:cNvPicPr>
          <p:nvPr/>
        </p:nvPicPr>
        <p:blipFill>
          <a:blip r:embed="rId1"/>
          <a:stretch>
            <a:fillRect/>
          </a:stretch>
        </p:blipFill>
        <p:spPr>
          <a:xfrm>
            <a:off x="914400" y="2148840"/>
            <a:ext cx="411480" cy="411480"/>
          </a:xfrm>
          <a:prstGeom prst="rect">
            <a:avLst/>
          </a:prstGeom>
        </p:spPr>
      </p:pic>
      <p:sp>
        <p:nvSpPr>
          <p:cNvPr id="9" name="Text 6"/>
          <p:cNvSpPr/>
          <p:nvPr/>
        </p:nvSpPr>
        <p:spPr>
          <a:xfrm>
            <a:off x="1417320" y="2167128"/>
            <a:ext cx="2570378" cy="411480"/>
          </a:xfrm>
          <a:prstGeom prst="rect">
            <a:avLst/>
          </a:prstGeom>
          <a:noFill/>
        </p:spPr>
        <p:txBody>
          <a:bodyPr wrap="square" lIns="0" tIns="0" rIns="0" bIns="0" rtlCol="0" anchor="ctr"/>
          <a:lstStyle/>
          <a:p>
            <a:pPr marL="0" indent="0">
              <a:buNone/>
            </a:pPr>
            <a:r>
              <a:rPr lang="en-US" sz="2000" b="1" dirty="0">
                <a:solidFill>
                  <a:srgbClr val="F5F0E8"/>
                </a:solidFill>
                <a:latin typeface="Georgia" panose="02040502050405090303" pitchFamily="34" charset="0"/>
                <a:ea typeface="Georgia" panose="02040502050405090303" pitchFamily="34" charset="-122"/>
                <a:cs typeface="Georgia" panose="02040502050405090303" pitchFamily="34" charset="-120"/>
              </a:rPr>
              <a:t>Built today</a:t>
            </a:r>
            <a:endParaRPr lang="en-US" sz="2000" dirty="0"/>
          </a:p>
        </p:txBody>
      </p:sp>
      <p:sp>
        <p:nvSpPr>
          <p:cNvPr id="10" name="Shape 7"/>
          <p:cNvSpPr/>
          <p:nvPr/>
        </p:nvSpPr>
        <p:spPr>
          <a:xfrm>
            <a:off x="914400" y="2651760"/>
            <a:ext cx="2936138" cy="0"/>
          </a:xfrm>
          <a:prstGeom prst="line">
            <a:avLst/>
          </a:prstGeom>
          <a:noFill/>
          <a:ln w="12700">
            <a:solidFill>
              <a:srgbClr val="0E7C7B"/>
            </a:solidFill>
            <a:prstDash val="solid"/>
          </a:ln>
        </p:spPr>
      </p:sp>
      <p:sp>
        <p:nvSpPr>
          <p:cNvPr id="11" name="Text 8"/>
          <p:cNvSpPr/>
          <p:nvPr/>
        </p:nvSpPr>
        <p:spPr>
          <a:xfrm>
            <a:off x="914400" y="2880360"/>
            <a:ext cx="640080" cy="365760"/>
          </a:xfrm>
          <a:prstGeom prst="rect">
            <a:avLst/>
          </a:prstGeom>
          <a:noFill/>
        </p:spPr>
        <p:txBody>
          <a:bodyPr wrap="square" lIns="0" tIns="0" rIns="0" bIns="0" rtlCol="0" anchor="ctr"/>
          <a:lstStyle/>
          <a:p>
            <a:pPr marL="0" indent="0">
              <a:buNone/>
            </a:pPr>
            <a:r>
              <a:rPr lang="en-US" sz="2200" b="1" dirty="0">
                <a:solidFill>
                  <a:srgbClr val="F5F0E8"/>
                </a:solidFill>
                <a:latin typeface="Georgia" panose="02040502050405090303" pitchFamily="34" charset="0"/>
                <a:ea typeface="Georgia" panose="02040502050405090303" pitchFamily="34" charset="-122"/>
                <a:cs typeface="Georgia" panose="02040502050405090303" pitchFamily="34" charset="-120"/>
              </a:rPr>
              <a:t>4</a:t>
            </a:r>
            <a:endParaRPr lang="en-US" sz="2200" dirty="0"/>
          </a:p>
        </p:txBody>
      </p:sp>
      <p:sp>
        <p:nvSpPr>
          <p:cNvPr id="12" name="Text 9"/>
          <p:cNvSpPr/>
          <p:nvPr/>
        </p:nvSpPr>
        <p:spPr>
          <a:xfrm>
            <a:off x="1554480" y="2926080"/>
            <a:ext cx="2478938" cy="274320"/>
          </a:xfrm>
          <a:prstGeom prst="rect">
            <a:avLst/>
          </a:prstGeom>
          <a:noFill/>
        </p:spPr>
        <p:txBody>
          <a:bodyPr wrap="square" lIns="0" tIns="0" rIns="0" bIns="0" rtlCol="0" anchor="ctr"/>
          <a:lstStyle/>
          <a:p>
            <a:pPr marL="0" indent="0">
              <a:buNone/>
            </a:pPr>
            <a:r>
              <a:rPr lang="en-US" sz="1300" b="1" dirty="0">
                <a:solidFill>
                  <a:srgbClr val="F5F0E8"/>
                </a:solidFill>
                <a:latin typeface="Georgia" panose="02040502050405090303" pitchFamily="34" charset="0"/>
                <a:ea typeface="Georgia" panose="02040502050405090303" pitchFamily="34" charset="-122"/>
                <a:cs typeface="Georgia" panose="02040502050405090303" pitchFamily="34" charset="-120"/>
              </a:rPr>
              <a:t>Anchor programs</a:t>
            </a:r>
            <a:endParaRPr lang="en-US" sz="1300" dirty="0"/>
          </a:p>
        </p:txBody>
      </p:sp>
      <p:sp>
        <p:nvSpPr>
          <p:cNvPr id="13" name="Text 10"/>
          <p:cNvSpPr/>
          <p:nvPr/>
        </p:nvSpPr>
        <p:spPr>
          <a:xfrm>
            <a:off x="1554480" y="3172968"/>
            <a:ext cx="2478938" cy="256032"/>
          </a:xfrm>
          <a:prstGeom prst="rect">
            <a:avLst/>
          </a:prstGeom>
          <a:noFill/>
        </p:spPr>
        <p:txBody>
          <a:bodyPr wrap="square" lIns="0" tIns="0" rIns="0" bIns="0" rtlCol="0" anchor="ctr"/>
          <a:lstStyle/>
          <a:p>
            <a:pPr marL="0" indent="0">
              <a:buNone/>
            </a:pPr>
            <a:r>
              <a:rPr lang="en-US" sz="900" dirty="0">
                <a:solidFill>
                  <a:srgbClr val="8A8A90"/>
                </a:solidFill>
                <a:latin typeface="Consolas" pitchFamily="34" charset="0"/>
                <a:ea typeface="Consolas" pitchFamily="34" charset="-122"/>
                <a:cs typeface="Consolas" pitchFamily="34" charset="-120"/>
              </a:rPr>
              <a:t>vault · loan · trdc · auction</a:t>
            </a:r>
            <a:endParaRPr lang="en-US" sz="900" dirty="0"/>
          </a:p>
        </p:txBody>
      </p:sp>
      <p:sp>
        <p:nvSpPr>
          <p:cNvPr id="14" name="Text 11"/>
          <p:cNvSpPr/>
          <p:nvPr/>
        </p:nvSpPr>
        <p:spPr>
          <a:xfrm>
            <a:off x="914400" y="3474720"/>
            <a:ext cx="640080" cy="365760"/>
          </a:xfrm>
          <a:prstGeom prst="rect">
            <a:avLst/>
          </a:prstGeom>
          <a:noFill/>
        </p:spPr>
        <p:txBody>
          <a:bodyPr wrap="square" lIns="0" tIns="0" rIns="0" bIns="0" rtlCol="0" anchor="ctr"/>
          <a:lstStyle/>
          <a:p>
            <a:pPr marL="0" indent="0">
              <a:buNone/>
            </a:pPr>
            <a:r>
              <a:rPr lang="en-US" sz="2200" b="1" dirty="0">
                <a:solidFill>
                  <a:srgbClr val="F5F0E8"/>
                </a:solidFill>
                <a:latin typeface="Georgia" panose="02040502050405090303" pitchFamily="34" charset="0"/>
                <a:ea typeface="Georgia" panose="02040502050405090303" pitchFamily="34" charset="-122"/>
                <a:cs typeface="Georgia" panose="02040502050405090303" pitchFamily="34" charset="-120"/>
              </a:rPr>
              <a:t>45+</a:t>
            </a:r>
            <a:endParaRPr lang="en-US" sz="2200" dirty="0"/>
          </a:p>
        </p:txBody>
      </p:sp>
      <p:sp>
        <p:nvSpPr>
          <p:cNvPr id="15" name="Text 12"/>
          <p:cNvSpPr/>
          <p:nvPr/>
        </p:nvSpPr>
        <p:spPr>
          <a:xfrm>
            <a:off x="1554480" y="3520440"/>
            <a:ext cx="2478938" cy="274320"/>
          </a:xfrm>
          <a:prstGeom prst="rect">
            <a:avLst/>
          </a:prstGeom>
          <a:noFill/>
        </p:spPr>
        <p:txBody>
          <a:bodyPr wrap="square" lIns="0" tIns="0" rIns="0" bIns="0" rtlCol="0" anchor="ctr"/>
          <a:lstStyle/>
          <a:p>
            <a:pPr marL="0" indent="0">
              <a:buNone/>
            </a:pPr>
            <a:r>
              <a:rPr lang="en-US" sz="1300" b="1" dirty="0">
                <a:solidFill>
                  <a:srgbClr val="F5F0E8"/>
                </a:solidFill>
                <a:latin typeface="Georgia" panose="02040502050405090303" pitchFamily="34" charset="0"/>
                <a:ea typeface="Georgia" panose="02040502050405090303" pitchFamily="34" charset="-122"/>
                <a:cs typeface="Georgia" panose="02040502050405090303" pitchFamily="34" charset="-120"/>
              </a:rPr>
              <a:t>tests green</a:t>
            </a:r>
            <a:endParaRPr lang="en-US" sz="1300" dirty="0"/>
          </a:p>
        </p:txBody>
      </p:sp>
      <p:sp>
        <p:nvSpPr>
          <p:cNvPr id="16" name="Text 13"/>
          <p:cNvSpPr/>
          <p:nvPr/>
        </p:nvSpPr>
        <p:spPr>
          <a:xfrm>
            <a:off x="1554480" y="3767328"/>
            <a:ext cx="2478938" cy="256032"/>
          </a:xfrm>
          <a:prstGeom prst="rect">
            <a:avLst/>
          </a:prstGeom>
          <a:noFill/>
        </p:spPr>
        <p:txBody>
          <a:bodyPr wrap="square" lIns="0" tIns="0" rIns="0" bIns="0" rtlCol="0" anchor="ctr"/>
          <a:lstStyle/>
          <a:p>
            <a:pPr marL="0" indent="0">
              <a:buNone/>
            </a:pPr>
            <a:r>
              <a:rPr lang="en-US" sz="900" dirty="0">
                <a:solidFill>
                  <a:srgbClr val="8A8A90"/>
                </a:solidFill>
                <a:latin typeface="Consolas" pitchFamily="34" charset="0"/>
                <a:ea typeface="Consolas" pitchFamily="34" charset="-122"/>
                <a:cs typeface="Consolas" pitchFamily="34" charset="-120"/>
              </a:rPr>
              <a:t>Anchor + CI gating</a:t>
            </a:r>
            <a:endParaRPr lang="en-US" sz="900" dirty="0"/>
          </a:p>
        </p:txBody>
      </p:sp>
      <p:sp>
        <p:nvSpPr>
          <p:cNvPr id="17" name="Text 14"/>
          <p:cNvSpPr/>
          <p:nvPr/>
        </p:nvSpPr>
        <p:spPr>
          <a:xfrm>
            <a:off x="914400" y="4069080"/>
            <a:ext cx="640080" cy="365760"/>
          </a:xfrm>
          <a:prstGeom prst="rect">
            <a:avLst/>
          </a:prstGeom>
          <a:noFill/>
        </p:spPr>
        <p:txBody>
          <a:bodyPr wrap="square" lIns="0" tIns="0" rIns="0" bIns="0" rtlCol="0" anchor="ctr"/>
          <a:lstStyle/>
          <a:p>
            <a:pPr marL="0" indent="0">
              <a:buNone/>
            </a:pPr>
            <a:r>
              <a:rPr lang="en-US" sz="2200" b="1" dirty="0">
                <a:solidFill>
                  <a:srgbClr val="F5F0E8"/>
                </a:solidFill>
                <a:latin typeface="Georgia" panose="02040502050405090303" pitchFamily="34" charset="0"/>
                <a:ea typeface="Georgia" panose="02040502050405090303" pitchFamily="34" charset="-122"/>
                <a:cs typeface="Georgia" panose="02040502050405090303" pitchFamily="34" charset="-120"/>
              </a:rPr>
              <a:t>1</a:t>
            </a:r>
            <a:endParaRPr lang="en-US" sz="2200" dirty="0"/>
          </a:p>
        </p:txBody>
      </p:sp>
      <p:sp>
        <p:nvSpPr>
          <p:cNvPr id="18" name="Text 15"/>
          <p:cNvSpPr/>
          <p:nvPr/>
        </p:nvSpPr>
        <p:spPr>
          <a:xfrm>
            <a:off x="1554480" y="4114800"/>
            <a:ext cx="2478938" cy="274320"/>
          </a:xfrm>
          <a:prstGeom prst="rect">
            <a:avLst/>
          </a:prstGeom>
          <a:noFill/>
        </p:spPr>
        <p:txBody>
          <a:bodyPr wrap="square" lIns="0" tIns="0" rIns="0" bIns="0" rtlCol="0" anchor="ctr"/>
          <a:lstStyle/>
          <a:p>
            <a:pPr marL="0" indent="0">
              <a:buNone/>
            </a:pPr>
            <a:r>
              <a:rPr lang="en-US" sz="1300" b="1" dirty="0">
                <a:solidFill>
                  <a:srgbClr val="F5F0E8"/>
                </a:solidFill>
                <a:latin typeface="Georgia" panose="02040502050405090303" pitchFamily="34" charset="0"/>
                <a:ea typeface="Georgia" panose="02040502050405090303" pitchFamily="34" charset="-122"/>
                <a:cs typeface="Georgia" panose="02040502050405090303" pitchFamily="34" charset="-120"/>
              </a:rPr>
              <a:t>frontend live</a:t>
            </a:r>
            <a:endParaRPr lang="en-US" sz="1300" dirty="0"/>
          </a:p>
        </p:txBody>
      </p:sp>
      <p:sp>
        <p:nvSpPr>
          <p:cNvPr id="19" name="Text 16"/>
          <p:cNvSpPr/>
          <p:nvPr/>
        </p:nvSpPr>
        <p:spPr>
          <a:xfrm>
            <a:off x="1554480" y="4361688"/>
            <a:ext cx="2478938" cy="256032"/>
          </a:xfrm>
          <a:prstGeom prst="rect">
            <a:avLst/>
          </a:prstGeom>
          <a:noFill/>
        </p:spPr>
        <p:txBody>
          <a:bodyPr wrap="square" lIns="0" tIns="0" rIns="0" bIns="0" rtlCol="0" anchor="ctr"/>
          <a:lstStyle/>
          <a:p>
            <a:pPr marL="0" indent="0">
              <a:buNone/>
            </a:pPr>
            <a:r>
              <a:rPr lang="en-US" sz="900" dirty="0">
                <a:solidFill>
                  <a:srgbClr val="8A8A90"/>
                </a:solidFill>
                <a:latin typeface="Consolas" pitchFamily="34" charset="0"/>
                <a:ea typeface="Consolas" pitchFamily="34" charset="-122"/>
                <a:cs typeface="Consolas" pitchFamily="34" charset="-120"/>
              </a:rPr>
              <a:t>vaulx.fi · /admin/demo</a:t>
            </a:r>
            <a:endParaRPr lang="en-US" sz="900" dirty="0"/>
          </a:p>
        </p:txBody>
      </p:sp>
      <p:sp>
        <p:nvSpPr>
          <p:cNvPr id="20" name="Text 17"/>
          <p:cNvSpPr/>
          <p:nvPr/>
        </p:nvSpPr>
        <p:spPr>
          <a:xfrm>
            <a:off x="914400" y="4663440"/>
            <a:ext cx="640080" cy="365760"/>
          </a:xfrm>
          <a:prstGeom prst="rect">
            <a:avLst/>
          </a:prstGeom>
          <a:noFill/>
        </p:spPr>
        <p:txBody>
          <a:bodyPr wrap="square" lIns="0" tIns="0" rIns="0" bIns="0" rtlCol="0" anchor="ctr"/>
          <a:lstStyle/>
          <a:p>
            <a:pPr marL="0" indent="0">
              <a:buNone/>
            </a:pPr>
            <a:r>
              <a:rPr lang="en-US" sz="2200" b="1" dirty="0">
                <a:solidFill>
                  <a:srgbClr val="F5F0E8"/>
                </a:solidFill>
                <a:latin typeface="Georgia" panose="02040502050405090303" pitchFamily="34" charset="0"/>
                <a:ea typeface="Georgia" panose="02040502050405090303" pitchFamily="34" charset="-122"/>
                <a:cs typeface="Georgia" panose="02040502050405090303" pitchFamily="34" charset="-120"/>
              </a:rPr>
              <a:t>1</a:t>
            </a:r>
            <a:endParaRPr lang="en-US" sz="2200" dirty="0"/>
          </a:p>
        </p:txBody>
      </p:sp>
      <p:sp>
        <p:nvSpPr>
          <p:cNvPr id="21" name="Text 18"/>
          <p:cNvSpPr/>
          <p:nvPr/>
        </p:nvSpPr>
        <p:spPr>
          <a:xfrm>
            <a:off x="1554480" y="4709160"/>
            <a:ext cx="2478938" cy="274320"/>
          </a:xfrm>
          <a:prstGeom prst="rect">
            <a:avLst/>
          </a:prstGeom>
          <a:noFill/>
        </p:spPr>
        <p:txBody>
          <a:bodyPr wrap="square" lIns="0" tIns="0" rIns="0" bIns="0" rtlCol="0" anchor="ctr"/>
          <a:lstStyle/>
          <a:p>
            <a:pPr marL="0" indent="0">
              <a:buNone/>
            </a:pPr>
            <a:r>
              <a:rPr lang="en-US" sz="1300" b="1" dirty="0">
                <a:solidFill>
                  <a:srgbClr val="F5F0E8"/>
                </a:solidFill>
                <a:latin typeface="Georgia" panose="02040502050405090303" pitchFamily="34" charset="0"/>
                <a:ea typeface="Georgia" panose="02040502050405090303" pitchFamily="34" charset="-122"/>
                <a:cs typeface="Georgia" panose="02040502050405090303" pitchFamily="34" charset="-120"/>
              </a:rPr>
              <a:t>indexer + bridge</a:t>
            </a:r>
            <a:endParaRPr lang="en-US" sz="1300" dirty="0"/>
          </a:p>
        </p:txBody>
      </p:sp>
      <p:sp>
        <p:nvSpPr>
          <p:cNvPr id="22" name="Text 19"/>
          <p:cNvSpPr/>
          <p:nvPr/>
        </p:nvSpPr>
        <p:spPr>
          <a:xfrm>
            <a:off x="1554480" y="4956048"/>
            <a:ext cx="2478938" cy="256032"/>
          </a:xfrm>
          <a:prstGeom prst="rect">
            <a:avLst/>
          </a:prstGeom>
          <a:noFill/>
        </p:spPr>
        <p:txBody>
          <a:bodyPr wrap="square" lIns="0" tIns="0" rIns="0" bIns="0" rtlCol="0" anchor="ctr"/>
          <a:lstStyle/>
          <a:p>
            <a:pPr marL="0" indent="0">
              <a:buNone/>
            </a:pPr>
            <a:r>
              <a:rPr lang="en-US" sz="900" dirty="0">
                <a:solidFill>
                  <a:srgbClr val="8A8A90"/>
                </a:solidFill>
                <a:latin typeface="Consolas" pitchFamily="34" charset="0"/>
                <a:ea typeface="Consolas" pitchFamily="34" charset="-122"/>
                <a:cs typeface="Consolas" pitchFamily="34" charset="-120"/>
              </a:rPr>
              <a:t>Supabase event log</a:t>
            </a:r>
            <a:endParaRPr lang="en-US" sz="900" dirty="0"/>
          </a:p>
        </p:txBody>
      </p:sp>
      <p:sp>
        <p:nvSpPr>
          <p:cNvPr id="23" name="Shape 20"/>
          <p:cNvSpPr/>
          <p:nvPr/>
        </p:nvSpPr>
        <p:spPr>
          <a:xfrm>
            <a:off x="4353458" y="1874520"/>
            <a:ext cx="3484778" cy="3337560"/>
          </a:xfrm>
          <a:prstGeom prst="rect">
            <a:avLst/>
          </a:prstGeom>
          <a:solidFill>
            <a:srgbClr val="12131A"/>
          </a:solidFill>
          <a:ln w="19050">
            <a:solidFill>
              <a:srgbClr val="C9A86A"/>
            </a:solidFill>
            <a:prstDash val="solid"/>
          </a:ln>
        </p:spPr>
      </p:sp>
      <p:sp>
        <p:nvSpPr>
          <p:cNvPr id="24" name="Shape 21"/>
          <p:cNvSpPr/>
          <p:nvPr/>
        </p:nvSpPr>
        <p:spPr>
          <a:xfrm>
            <a:off x="4353458" y="1874520"/>
            <a:ext cx="91440" cy="3337560"/>
          </a:xfrm>
          <a:prstGeom prst="rect">
            <a:avLst/>
          </a:prstGeom>
          <a:solidFill>
            <a:srgbClr val="C9A86A"/>
          </a:solidFill>
          <a:ln w="12700">
            <a:solidFill>
              <a:srgbClr val="C9A86A"/>
            </a:solidFill>
            <a:prstDash val="solid"/>
          </a:ln>
        </p:spPr>
      </p:sp>
      <p:pic>
        <p:nvPicPr>
          <p:cNvPr id="25" name="Image 1" descr="preencoded.png"/>
          <p:cNvPicPr>
            <a:picLocks noChangeAspect="1"/>
          </p:cNvPicPr>
          <p:nvPr/>
        </p:nvPicPr>
        <p:blipFill>
          <a:blip r:embed="rId2"/>
          <a:stretch>
            <a:fillRect/>
          </a:stretch>
        </p:blipFill>
        <p:spPr>
          <a:xfrm>
            <a:off x="4627778" y="2148840"/>
            <a:ext cx="411480" cy="411480"/>
          </a:xfrm>
          <a:prstGeom prst="rect">
            <a:avLst/>
          </a:prstGeom>
        </p:spPr>
      </p:pic>
      <p:sp>
        <p:nvSpPr>
          <p:cNvPr id="26" name="Text 22"/>
          <p:cNvSpPr/>
          <p:nvPr/>
        </p:nvSpPr>
        <p:spPr>
          <a:xfrm>
            <a:off x="5130698" y="2167128"/>
            <a:ext cx="2570378" cy="411480"/>
          </a:xfrm>
          <a:prstGeom prst="rect">
            <a:avLst/>
          </a:prstGeom>
          <a:noFill/>
        </p:spPr>
        <p:txBody>
          <a:bodyPr wrap="square" lIns="0" tIns="0" rIns="0" bIns="0" rtlCol="0" anchor="ctr"/>
          <a:lstStyle/>
          <a:p>
            <a:pPr marL="0" indent="0">
              <a:buNone/>
            </a:pPr>
            <a:r>
              <a:rPr lang="en-US" sz="2000" b="1" dirty="0">
                <a:solidFill>
                  <a:srgbClr val="C9A86A"/>
                </a:solidFill>
                <a:latin typeface="Georgia" panose="02040502050405090303" pitchFamily="34" charset="0"/>
                <a:ea typeface="Georgia" panose="02040502050405090303" pitchFamily="34" charset="-122"/>
                <a:cs typeface="Georgia" panose="02040502050405090303" pitchFamily="34" charset="-120"/>
              </a:rPr>
              <a:t>Our ask</a:t>
            </a:r>
            <a:endParaRPr lang="en-US" sz="2000" dirty="0"/>
          </a:p>
        </p:txBody>
      </p:sp>
      <p:sp>
        <p:nvSpPr>
          <p:cNvPr id="27" name="Shape 23"/>
          <p:cNvSpPr/>
          <p:nvPr/>
        </p:nvSpPr>
        <p:spPr>
          <a:xfrm>
            <a:off x="4627778" y="2651760"/>
            <a:ext cx="2936138" cy="0"/>
          </a:xfrm>
          <a:prstGeom prst="line">
            <a:avLst/>
          </a:prstGeom>
          <a:noFill/>
          <a:ln w="15240">
            <a:solidFill>
              <a:srgbClr val="C9A86A"/>
            </a:solidFill>
            <a:prstDash val="solid"/>
          </a:ln>
        </p:spPr>
      </p:sp>
      <p:sp>
        <p:nvSpPr>
          <p:cNvPr id="28" name="Text 24"/>
          <p:cNvSpPr/>
          <p:nvPr/>
        </p:nvSpPr>
        <p:spPr>
          <a:xfrm>
            <a:off x="4353458" y="2880360"/>
            <a:ext cx="3484778" cy="1005840"/>
          </a:xfrm>
          <a:prstGeom prst="rect">
            <a:avLst/>
          </a:prstGeom>
          <a:noFill/>
        </p:spPr>
        <p:txBody>
          <a:bodyPr wrap="square" lIns="0" tIns="0" rIns="0" bIns="0" rtlCol="0" anchor="ctr"/>
          <a:lstStyle/>
          <a:p>
            <a:pPr marL="0" indent="0" algn="ctr">
              <a:buNone/>
            </a:pPr>
            <a:r>
              <a:rPr lang="en-US" sz="7000" b="1" dirty="0">
                <a:solidFill>
                  <a:srgbClr val="C9A86A"/>
                </a:solidFill>
                <a:latin typeface="Georgia" panose="02040502050405090303" pitchFamily="34" charset="0"/>
                <a:ea typeface="Georgia" panose="02040502050405090303" pitchFamily="34" charset="-122"/>
                <a:cs typeface="Georgia" panose="02040502050405090303" pitchFamily="34" charset="-120"/>
              </a:rPr>
              <a:t>$250K</a:t>
            </a:r>
            <a:endParaRPr lang="en-US" sz="7000" dirty="0"/>
          </a:p>
        </p:txBody>
      </p:sp>
      <p:sp>
        <p:nvSpPr>
          <p:cNvPr id="29" name="Text 25"/>
          <p:cNvSpPr/>
          <p:nvPr/>
        </p:nvSpPr>
        <p:spPr>
          <a:xfrm>
            <a:off x="4353458" y="3931920"/>
            <a:ext cx="3484778" cy="274320"/>
          </a:xfrm>
          <a:prstGeom prst="rect">
            <a:avLst/>
          </a:prstGeom>
          <a:noFill/>
        </p:spPr>
        <p:txBody>
          <a:bodyPr wrap="square" lIns="0" tIns="0" rIns="0" bIns="0" rtlCol="0" anchor="ctr"/>
          <a:lstStyle/>
          <a:p>
            <a:pPr marL="0" indent="0" algn="ctr">
              <a:buNone/>
            </a:pPr>
            <a:r>
              <a:rPr lang="en-US" sz="1100" i="1" dirty="0">
                <a:solidFill>
                  <a:srgbClr val="0E7C7B"/>
                </a:solidFill>
                <a:latin typeface="Calibri" pitchFamily="34" charset="0"/>
                <a:ea typeface="Calibri" pitchFamily="34" charset="-122"/>
                <a:cs typeface="Calibri" pitchFamily="34" charset="-120"/>
              </a:rPr>
              <a:t>Colosseum RWA track  ·  pre-seed bridge</a:t>
            </a:r>
            <a:endParaRPr lang="en-US" sz="1100" dirty="0"/>
          </a:p>
        </p:txBody>
      </p:sp>
      <p:sp>
        <p:nvSpPr>
          <p:cNvPr id="30" name="Shape 26"/>
          <p:cNvSpPr/>
          <p:nvPr/>
        </p:nvSpPr>
        <p:spPr>
          <a:xfrm>
            <a:off x="4719218" y="4297680"/>
            <a:ext cx="2753258" cy="0"/>
          </a:xfrm>
          <a:prstGeom prst="line">
            <a:avLst/>
          </a:prstGeom>
          <a:noFill/>
          <a:ln w="6350">
            <a:solidFill>
              <a:srgbClr val="1F1F25"/>
            </a:solidFill>
            <a:prstDash val="solid"/>
          </a:ln>
        </p:spPr>
      </p:sp>
      <p:sp>
        <p:nvSpPr>
          <p:cNvPr id="31" name="Text 27"/>
          <p:cNvSpPr/>
          <p:nvPr/>
        </p:nvSpPr>
        <p:spPr>
          <a:xfrm>
            <a:off x="4627778" y="4206240"/>
            <a:ext cx="2936138" cy="237744"/>
          </a:xfrm>
          <a:prstGeom prst="rect">
            <a:avLst/>
          </a:prstGeom>
          <a:noFill/>
        </p:spPr>
        <p:txBody>
          <a:bodyPr wrap="square" lIns="0" tIns="0" rIns="0" bIns="0" rtlCol="0" anchor="ctr"/>
          <a:lstStyle/>
          <a:p>
            <a:pPr marL="0" indent="0">
              <a:buNone/>
            </a:pPr>
            <a:r>
              <a:rPr lang="en-US" sz="1050" dirty="0">
                <a:solidFill>
                  <a:srgbClr val="C9A86A"/>
                </a:solidFill>
                <a:latin typeface="Calibri" pitchFamily="34" charset="0"/>
                <a:ea typeface="Calibri" pitchFamily="34" charset="-122"/>
                <a:cs typeface="Calibri" pitchFamily="34" charset="-120"/>
              </a:rPr>
              <a:t>→  </a:t>
            </a:r>
            <a:r>
              <a:rPr lang="en-US" sz="1050" dirty="0">
                <a:solidFill>
                  <a:srgbClr val="F5F0E8"/>
                </a:solidFill>
                <a:latin typeface="Calibri" pitchFamily="34" charset="0"/>
                <a:ea typeface="Calibri" pitchFamily="34" charset="-122"/>
                <a:cs typeface="Calibri" pitchFamily="34" charset="-120"/>
              </a:rPr>
              <a:t>audit our 4 Anchor programs</a:t>
            </a:r>
            <a:endParaRPr lang="en-US" sz="1050" dirty="0"/>
          </a:p>
        </p:txBody>
      </p:sp>
      <p:sp>
        <p:nvSpPr>
          <p:cNvPr id="32" name="Text 28"/>
          <p:cNvSpPr/>
          <p:nvPr/>
        </p:nvSpPr>
        <p:spPr>
          <a:xfrm>
            <a:off x="4627778" y="4425696"/>
            <a:ext cx="2936138" cy="237744"/>
          </a:xfrm>
          <a:prstGeom prst="rect">
            <a:avLst/>
          </a:prstGeom>
          <a:noFill/>
        </p:spPr>
        <p:txBody>
          <a:bodyPr wrap="square" lIns="0" tIns="0" rIns="0" bIns="0" rtlCol="0" anchor="ctr"/>
          <a:lstStyle/>
          <a:p>
            <a:pPr marL="0" indent="0">
              <a:buNone/>
            </a:pPr>
            <a:r>
              <a:rPr lang="en-US" sz="1050" dirty="0">
                <a:solidFill>
                  <a:srgbClr val="C9A86A"/>
                </a:solidFill>
                <a:latin typeface="Calibri" pitchFamily="34" charset="0"/>
                <a:ea typeface="Calibri" pitchFamily="34" charset="-122"/>
                <a:cs typeface="Calibri" pitchFamily="34" charset="-120"/>
              </a:rPr>
              <a:t>→  </a:t>
            </a:r>
            <a:r>
              <a:rPr lang="en-US" sz="1050" dirty="0">
                <a:solidFill>
                  <a:srgbClr val="F5F0E8"/>
                </a:solidFill>
                <a:latin typeface="Calibri" pitchFamily="34" charset="0"/>
                <a:ea typeface="Calibri" pitchFamily="34" charset="-122"/>
                <a:cs typeface="Calibri" pitchFamily="34" charset="-120"/>
              </a:rPr>
              <a:t>first custodian + appraiser + curator</a:t>
            </a:r>
            <a:endParaRPr lang="en-US" sz="1050" dirty="0"/>
          </a:p>
        </p:txBody>
      </p:sp>
      <p:sp>
        <p:nvSpPr>
          <p:cNvPr id="33" name="Text 29"/>
          <p:cNvSpPr/>
          <p:nvPr/>
        </p:nvSpPr>
        <p:spPr>
          <a:xfrm>
            <a:off x="4627778" y="4645152"/>
            <a:ext cx="2936138" cy="237744"/>
          </a:xfrm>
          <a:prstGeom prst="rect">
            <a:avLst/>
          </a:prstGeom>
          <a:noFill/>
        </p:spPr>
        <p:txBody>
          <a:bodyPr wrap="square" lIns="0" tIns="0" rIns="0" bIns="0" rtlCol="0" anchor="ctr"/>
          <a:lstStyle/>
          <a:p>
            <a:pPr marL="0" indent="0">
              <a:buNone/>
            </a:pPr>
            <a:r>
              <a:rPr lang="en-US" sz="1050" dirty="0">
                <a:solidFill>
                  <a:srgbClr val="C9A86A"/>
                </a:solidFill>
                <a:latin typeface="Calibri" pitchFamily="34" charset="0"/>
                <a:ea typeface="Calibri" pitchFamily="34" charset="-122"/>
                <a:cs typeface="Calibri" pitchFamily="34" charset="-120"/>
              </a:rPr>
              <a:t>→  </a:t>
            </a:r>
            <a:r>
              <a:rPr lang="en-US" sz="1050" dirty="0">
                <a:solidFill>
                  <a:srgbClr val="F5F0E8"/>
                </a:solidFill>
                <a:latin typeface="Calibri" pitchFamily="34" charset="0"/>
                <a:ea typeface="Calibri" pitchFamily="34" charset="-122"/>
                <a:cs typeface="Calibri" pitchFamily="34" charset="-120"/>
              </a:rPr>
              <a:t>originate first 50 loans by Q3</a:t>
            </a:r>
            <a:endParaRPr lang="en-US" sz="1050" dirty="0"/>
          </a:p>
        </p:txBody>
      </p:sp>
      <p:sp>
        <p:nvSpPr>
          <p:cNvPr id="34" name="Text 30"/>
          <p:cNvSpPr/>
          <p:nvPr/>
        </p:nvSpPr>
        <p:spPr>
          <a:xfrm>
            <a:off x="4627778" y="4864608"/>
            <a:ext cx="2936138" cy="237744"/>
          </a:xfrm>
          <a:prstGeom prst="rect">
            <a:avLst/>
          </a:prstGeom>
          <a:noFill/>
        </p:spPr>
        <p:txBody>
          <a:bodyPr wrap="square" lIns="0" tIns="0" rIns="0" bIns="0" rtlCol="0" anchor="ctr"/>
          <a:lstStyle/>
          <a:p>
            <a:pPr marL="0" indent="0">
              <a:buNone/>
            </a:pPr>
            <a:r>
              <a:rPr lang="en-US" sz="1050" dirty="0">
                <a:solidFill>
                  <a:srgbClr val="C9A86A"/>
                </a:solidFill>
                <a:latin typeface="Calibri" pitchFamily="34" charset="0"/>
                <a:ea typeface="Calibri" pitchFamily="34" charset="-122"/>
                <a:cs typeface="Calibri" pitchFamily="34" charset="-120"/>
              </a:rPr>
              <a:t>→  </a:t>
            </a:r>
            <a:r>
              <a:rPr lang="en-US" sz="1050" dirty="0">
                <a:solidFill>
                  <a:srgbClr val="F5F0E8"/>
                </a:solidFill>
                <a:latin typeface="Calibri" pitchFamily="34" charset="0"/>
                <a:ea typeface="Calibri" pitchFamily="34" charset="-122"/>
                <a:cs typeface="Calibri" pitchFamily="34" charset="-120"/>
              </a:rPr>
              <a:t>bridge to seed with traction</a:t>
            </a:r>
            <a:endParaRPr lang="en-US" sz="1050" dirty="0"/>
          </a:p>
        </p:txBody>
      </p:sp>
      <p:sp>
        <p:nvSpPr>
          <p:cNvPr id="35" name="Shape 31"/>
          <p:cNvSpPr/>
          <p:nvPr/>
        </p:nvSpPr>
        <p:spPr>
          <a:xfrm>
            <a:off x="8066837" y="1874520"/>
            <a:ext cx="3484778" cy="3337560"/>
          </a:xfrm>
          <a:prstGeom prst="rect">
            <a:avLst/>
          </a:prstGeom>
          <a:solidFill>
            <a:srgbClr val="12131A"/>
          </a:solidFill>
          <a:ln w="9525">
            <a:solidFill>
              <a:srgbClr val="1F1F25"/>
            </a:solidFill>
            <a:prstDash val="solid"/>
          </a:ln>
        </p:spPr>
      </p:sp>
      <p:pic>
        <p:nvPicPr>
          <p:cNvPr id="36" name="Image 2" descr="preencoded.png"/>
          <p:cNvPicPr>
            <a:picLocks noChangeAspect="1"/>
          </p:cNvPicPr>
          <p:nvPr/>
        </p:nvPicPr>
        <p:blipFill>
          <a:blip r:embed="rId3"/>
          <a:stretch>
            <a:fillRect/>
          </a:stretch>
        </p:blipFill>
        <p:spPr>
          <a:xfrm>
            <a:off x="8341157" y="2148840"/>
            <a:ext cx="411480" cy="411480"/>
          </a:xfrm>
          <a:prstGeom prst="rect">
            <a:avLst/>
          </a:prstGeom>
        </p:spPr>
      </p:pic>
      <p:sp>
        <p:nvSpPr>
          <p:cNvPr id="37" name="Text 32"/>
          <p:cNvSpPr/>
          <p:nvPr/>
        </p:nvSpPr>
        <p:spPr>
          <a:xfrm>
            <a:off x="8844077" y="2167128"/>
            <a:ext cx="2570378" cy="411480"/>
          </a:xfrm>
          <a:prstGeom prst="rect">
            <a:avLst/>
          </a:prstGeom>
          <a:noFill/>
        </p:spPr>
        <p:txBody>
          <a:bodyPr wrap="square" lIns="0" tIns="0" rIns="0" bIns="0" rtlCol="0" anchor="ctr"/>
          <a:lstStyle/>
          <a:p>
            <a:pPr marL="0" indent="0">
              <a:buNone/>
            </a:pPr>
            <a:r>
              <a:rPr lang="en-US" sz="2000" b="1" dirty="0">
                <a:solidFill>
                  <a:srgbClr val="F5F0E8"/>
                </a:solidFill>
                <a:latin typeface="Georgia" panose="02040502050405090303" pitchFamily="34" charset="0"/>
                <a:ea typeface="Georgia" panose="02040502050405090303" pitchFamily="34" charset="-122"/>
                <a:cs typeface="Georgia" panose="02040502050405090303" pitchFamily="34" charset="-120"/>
              </a:rPr>
              <a:t>90-day plan</a:t>
            </a:r>
            <a:endParaRPr lang="en-US" sz="2000" dirty="0"/>
          </a:p>
        </p:txBody>
      </p:sp>
      <p:sp>
        <p:nvSpPr>
          <p:cNvPr id="38" name="Shape 33"/>
          <p:cNvSpPr/>
          <p:nvPr/>
        </p:nvSpPr>
        <p:spPr>
          <a:xfrm>
            <a:off x="8341157" y="2651760"/>
            <a:ext cx="2936138" cy="0"/>
          </a:xfrm>
          <a:prstGeom prst="line">
            <a:avLst/>
          </a:prstGeom>
          <a:noFill/>
          <a:ln w="12700">
            <a:solidFill>
              <a:srgbClr val="0E7C7B"/>
            </a:solidFill>
            <a:prstDash val="solid"/>
          </a:ln>
        </p:spPr>
      </p:sp>
      <p:sp>
        <p:nvSpPr>
          <p:cNvPr id="39" name="Text 34"/>
          <p:cNvSpPr/>
          <p:nvPr/>
        </p:nvSpPr>
        <p:spPr>
          <a:xfrm>
            <a:off x="8341157" y="2880360"/>
            <a:ext cx="1097280" cy="256032"/>
          </a:xfrm>
          <a:prstGeom prst="rect">
            <a:avLst/>
          </a:prstGeom>
          <a:noFill/>
        </p:spPr>
        <p:txBody>
          <a:bodyPr wrap="square" lIns="0" tIns="0" rIns="0" bIns="0" rtlCol="0" anchor="ctr"/>
          <a:lstStyle/>
          <a:p>
            <a:pPr marL="0" indent="0">
              <a:buNone/>
            </a:pPr>
            <a:r>
              <a:rPr lang="en-US" sz="950" b="1" kern="0" spc="300" dirty="0">
                <a:solidFill>
                  <a:srgbClr val="0E7C7B"/>
                </a:solidFill>
                <a:latin typeface="Consolas" pitchFamily="34" charset="0"/>
                <a:ea typeface="Consolas" pitchFamily="34" charset="-122"/>
                <a:cs typeface="Consolas" pitchFamily="34" charset="-120"/>
              </a:rPr>
              <a:t>DAY 0</a:t>
            </a:r>
            <a:endParaRPr lang="en-US" sz="950" dirty="0"/>
          </a:p>
        </p:txBody>
      </p:sp>
      <p:sp>
        <p:nvSpPr>
          <p:cNvPr id="40" name="Text 35"/>
          <p:cNvSpPr/>
          <p:nvPr/>
        </p:nvSpPr>
        <p:spPr>
          <a:xfrm>
            <a:off x="9438437" y="2880360"/>
            <a:ext cx="2021738" cy="256032"/>
          </a:xfrm>
          <a:prstGeom prst="rect">
            <a:avLst/>
          </a:prstGeom>
          <a:noFill/>
        </p:spPr>
        <p:txBody>
          <a:bodyPr wrap="square" lIns="0" tIns="0" rIns="0" bIns="0" rtlCol="0" anchor="ctr"/>
          <a:lstStyle/>
          <a:p>
            <a:pPr marL="0" indent="0">
              <a:buNone/>
            </a:pPr>
            <a:r>
              <a:rPr lang="en-US" sz="1200" b="1" dirty="0">
                <a:solidFill>
                  <a:srgbClr val="F5F0E8"/>
                </a:solidFill>
                <a:latin typeface="Georgia" panose="02040502050405090303" pitchFamily="34" charset="0"/>
                <a:ea typeface="Georgia" panose="02040502050405090303" pitchFamily="34" charset="-122"/>
                <a:cs typeface="Georgia" panose="02040502050405090303" pitchFamily="34" charset="-120"/>
              </a:rPr>
              <a:t>audit kickoff</a:t>
            </a:r>
            <a:endParaRPr lang="en-US" sz="1200" dirty="0"/>
          </a:p>
        </p:txBody>
      </p:sp>
      <p:sp>
        <p:nvSpPr>
          <p:cNvPr id="41" name="Text 36"/>
          <p:cNvSpPr/>
          <p:nvPr/>
        </p:nvSpPr>
        <p:spPr>
          <a:xfrm>
            <a:off x="9438437" y="3118104"/>
            <a:ext cx="2021738" cy="228600"/>
          </a:xfrm>
          <a:prstGeom prst="rect">
            <a:avLst/>
          </a:prstGeom>
          <a:noFill/>
        </p:spPr>
        <p:txBody>
          <a:bodyPr wrap="square" lIns="0" tIns="0" rIns="0" bIns="0" rtlCol="0" anchor="ctr"/>
          <a:lstStyle/>
          <a:p>
            <a:pPr marL="0" indent="0">
              <a:buNone/>
            </a:pPr>
            <a:r>
              <a:rPr lang="en-US" sz="950" i="1" dirty="0">
                <a:solidFill>
                  <a:srgbClr val="8A8A90"/>
                </a:solidFill>
                <a:latin typeface="Calibri" pitchFamily="34" charset="0"/>
                <a:ea typeface="Calibri" pitchFamily="34" charset="-122"/>
                <a:cs typeface="Calibri" pitchFamily="34" charset="-120"/>
              </a:rPr>
              <a:t>external review + bug bounty</a:t>
            </a:r>
            <a:endParaRPr lang="en-US" sz="950" dirty="0"/>
          </a:p>
        </p:txBody>
      </p:sp>
      <p:sp>
        <p:nvSpPr>
          <p:cNvPr id="42" name="Text 37"/>
          <p:cNvSpPr/>
          <p:nvPr/>
        </p:nvSpPr>
        <p:spPr>
          <a:xfrm>
            <a:off x="8341157" y="3383280"/>
            <a:ext cx="1097280" cy="256032"/>
          </a:xfrm>
          <a:prstGeom prst="rect">
            <a:avLst/>
          </a:prstGeom>
          <a:noFill/>
        </p:spPr>
        <p:txBody>
          <a:bodyPr wrap="square" lIns="0" tIns="0" rIns="0" bIns="0" rtlCol="0" anchor="ctr"/>
          <a:lstStyle/>
          <a:p>
            <a:pPr marL="0" indent="0">
              <a:buNone/>
            </a:pPr>
            <a:r>
              <a:rPr lang="en-US" sz="950" b="1" kern="0" spc="300" dirty="0">
                <a:solidFill>
                  <a:srgbClr val="0E7C7B"/>
                </a:solidFill>
                <a:latin typeface="Consolas" pitchFamily="34" charset="0"/>
                <a:ea typeface="Consolas" pitchFamily="34" charset="-122"/>
                <a:cs typeface="Consolas" pitchFamily="34" charset="-120"/>
              </a:rPr>
              <a:t>DAY 60</a:t>
            </a:r>
            <a:endParaRPr lang="en-US" sz="950" dirty="0"/>
          </a:p>
        </p:txBody>
      </p:sp>
      <p:sp>
        <p:nvSpPr>
          <p:cNvPr id="43" name="Text 38"/>
          <p:cNvSpPr/>
          <p:nvPr/>
        </p:nvSpPr>
        <p:spPr>
          <a:xfrm>
            <a:off x="9438437" y="3383280"/>
            <a:ext cx="2021738" cy="256032"/>
          </a:xfrm>
          <a:prstGeom prst="rect">
            <a:avLst/>
          </a:prstGeom>
          <a:noFill/>
        </p:spPr>
        <p:txBody>
          <a:bodyPr wrap="square" lIns="0" tIns="0" rIns="0" bIns="0" rtlCol="0" anchor="ctr"/>
          <a:lstStyle/>
          <a:p>
            <a:pPr marL="0" indent="0">
              <a:buNone/>
            </a:pPr>
            <a:r>
              <a:rPr lang="en-US" sz="1200" b="1" dirty="0">
                <a:solidFill>
                  <a:srgbClr val="F5F0E8"/>
                </a:solidFill>
                <a:latin typeface="Georgia" panose="02040502050405090303" pitchFamily="34" charset="0"/>
                <a:ea typeface="Georgia" panose="02040502050405090303" pitchFamily="34" charset="-122"/>
                <a:cs typeface="Georgia" panose="02040502050405090303" pitchFamily="34" charset="-120"/>
              </a:rPr>
              <a:t>custodian signed</a:t>
            </a:r>
            <a:endParaRPr lang="en-US" sz="1200" dirty="0"/>
          </a:p>
        </p:txBody>
      </p:sp>
      <p:sp>
        <p:nvSpPr>
          <p:cNvPr id="44" name="Text 39"/>
          <p:cNvSpPr/>
          <p:nvPr/>
        </p:nvSpPr>
        <p:spPr>
          <a:xfrm>
            <a:off x="9438437" y="3621024"/>
            <a:ext cx="2021738" cy="228600"/>
          </a:xfrm>
          <a:prstGeom prst="rect">
            <a:avLst/>
          </a:prstGeom>
          <a:noFill/>
        </p:spPr>
        <p:txBody>
          <a:bodyPr wrap="square" lIns="0" tIns="0" rIns="0" bIns="0" rtlCol="0" anchor="ctr"/>
          <a:lstStyle/>
          <a:p>
            <a:pPr marL="0" indent="0">
              <a:buNone/>
            </a:pPr>
            <a:r>
              <a:rPr lang="en-US" sz="950" i="1" dirty="0">
                <a:solidFill>
                  <a:srgbClr val="8A8A90"/>
                </a:solidFill>
                <a:latin typeface="Calibri" pitchFamily="34" charset="0"/>
                <a:ea typeface="Calibri" pitchFamily="34" charset="-122"/>
                <a:cs typeface="Calibri" pitchFamily="34" charset="-120"/>
              </a:rPr>
              <a:t>Lloyd's binder confirmed</a:t>
            </a:r>
            <a:endParaRPr lang="en-US" sz="950" dirty="0"/>
          </a:p>
        </p:txBody>
      </p:sp>
      <p:sp>
        <p:nvSpPr>
          <p:cNvPr id="45" name="Text 40"/>
          <p:cNvSpPr/>
          <p:nvPr/>
        </p:nvSpPr>
        <p:spPr>
          <a:xfrm>
            <a:off x="8341157" y="3886200"/>
            <a:ext cx="1097280" cy="256032"/>
          </a:xfrm>
          <a:prstGeom prst="rect">
            <a:avLst/>
          </a:prstGeom>
          <a:noFill/>
        </p:spPr>
        <p:txBody>
          <a:bodyPr wrap="square" lIns="0" tIns="0" rIns="0" bIns="0" rtlCol="0" anchor="ctr"/>
          <a:lstStyle/>
          <a:p>
            <a:pPr marL="0" indent="0">
              <a:buNone/>
            </a:pPr>
            <a:r>
              <a:rPr lang="en-US" sz="950" b="1" kern="0" spc="300" dirty="0">
                <a:solidFill>
                  <a:srgbClr val="0E7C7B"/>
                </a:solidFill>
                <a:latin typeface="Consolas" pitchFamily="34" charset="0"/>
                <a:ea typeface="Consolas" pitchFamily="34" charset="-122"/>
                <a:cs typeface="Consolas" pitchFamily="34" charset="-120"/>
              </a:rPr>
              <a:t>DAY 90</a:t>
            </a:r>
            <a:endParaRPr lang="en-US" sz="950" dirty="0"/>
          </a:p>
        </p:txBody>
      </p:sp>
      <p:sp>
        <p:nvSpPr>
          <p:cNvPr id="46" name="Text 41"/>
          <p:cNvSpPr/>
          <p:nvPr/>
        </p:nvSpPr>
        <p:spPr>
          <a:xfrm>
            <a:off x="9438437" y="3886200"/>
            <a:ext cx="2021738" cy="256032"/>
          </a:xfrm>
          <a:prstGeom prst="rect">
            <a:avLst/>
          </a:prstGeom>
          <a:noFill/>
        </p:spPr>
        <p:txBody>
          <a:bodyPr wrap="square" lIns="0" tIns="0" rIns="0" bIns="0" rtlCol="0" anchor="ctr"/>
          <a:lstStyle/>
          <a:p>
            <a:pPr marL="0" indent="0">
              <a:buNone/>
            </a:pPr>
            <a:r>
              <a:rPr lang="en-US" sz="1200" b="1" dirty="0">
                <a:solidFill>
                  <a:srgbClr val="F5F0E8"/>
                </a:solidFill>
                <a:latin typeface="Georgia" panose="02040502050405090303" pitchFamily="34" charset="0"/>
                <a:ea typeface="Georgia" panose="02040502050405090303" pitchFamily="34" charset="-122"/>
                <a:cs typeface="Georgia" panose="02040502050405090303" pitchFamily="34" charset="-120"/>
              </a:rPr>
              <a:t>mainnet launch</a:t>
            </a:r>
            <a:endParaRPr lang="en-US" sz="1200" dirty="0"/>
          </a:p>
        </p:txBody>
      </p:sp>
      <p:sp>
        <p:nvSpPr>
          <p:cNvPr id="47" name="Text 42"/>
          <p:cNvSpPr/>
          <p:nvPr/>
        </p:nvSpPr>
        <p:spPr>
          <a:xfrm>
            <a:off x="9438437" y="4123944"/>
            <a:ext cx="2021738" cy="228600"/>
          </a:xfrm>
          <a:prstGeom prst="rect">
            <a:avLst/>
          </a:prstGeom>
          <a:noFill/>
        </p:spPr>
        <p:txBody>
          <a:bodyPr wrap="square" lIns="0" tIns="0" rIns="0" bIns="0" rtlCol="0" anchor="ctr"/>
          <a:lstStyle/>
          <a:p>
            <a:pPr marL="0" indent="0">
              <a:buNone/>
            </a:pPr>
            <a:r>
              <a:rPr lang="en-US" sz="950" i="1" dirty="0">
                <a:solidFill>
                  <a:srgbClr val="8A8A90"/>
                </a:solidFill>
                <a:latin typeface="Calibri" pitchFamily="34" charset="0"/>
                <a:ea typeface="Calibri" pitchFamily="34" charset="-122"/>
                <a:cs typeface="Calibri" pitchFamily="34" charset="-120"/>
              </a:rPr>
              <a:t>first real loan</a:t>
            </a:r>
            <a:endParaRPr lang="en-US" sz="950" dirty="0"/>
          </a:p>
        </p:txBody>
      </p:sp>
      <p:sp>
        <p:nvSpPr>
          <p:cNvPr id="48" name="Text 43"/>
          <p:cNvSpPr/>
          <p:nvPr/>
        </p:nvSpPr>
        <p:spPr>
          <a:xfrm>
            <a:off x="8341157" y="4389120"/>
            <a:ext cx="1097280" cy="256032"/>
          </a:xfrm>
          <a:prstGeom prst="rect">
            <a:avLst/>
          </a:prstGeom>
          <a:noFill/>
        </p:spPr>
        <p:txBody>
          <a:bodyPr wrap="square" lIns="0" tIns="0" rIns="0" bIns="0" rtlCol="0" anchor="ctr"/>
          <a:lstStyle/>
          <a:p>
            <a:pPr marL="0" indent="0">
              <a:buNone/>
            </a:pPr>
            <a:r>
              <a:rPr lang="en-US" sz="950" b="1" kern="0" spc="300" dirty="0">
                <a:solidFill>
                  <a:srgbClr val="0E7C7B"/>
                </a:solidFill>
                <a:latin typeface="Consolas" pitchFamily="34" charset="0"/>
                <a:ea typeface="Consolas" pitchFamily="34" charset="-122"/>
                <a:cs typeface="Consolas" pitchFamily="34" charset="-120"/>
              </a:rPr>
              <a:t>Q3 2026</a:t>
            </a:r>
            <a:endParaRPr lang="en-US" sz="950" dirty="0"/>
          </a:p>
        </p:txBody>
      </p:sp>
      <p:sp>
        <p:nvSpPr>
          <p:cNvPr id="49" name="Text 44"/>
          <p:cNvSpPr/>
          <p:nvPr/>
        </p:nvSpPr>
        <p:spPr>
          <a:xfrm>
            <a:off x="9438437" y="4389120"/>
            <a:ext cx="2021738" cy="256032"/>
          </a:xfrm>
          <a:prstGeom prst="rect">
            <a:avLst/>
          </a:prstGeom>
          <a:noFill/>
        </p:spPr>
        <p:txBody>
          <a:bodyPr wrap="square" lIns="0" tIns="0" rIns="0" bIns="0" rtlCol="0" anchor="ctr"/>
          <a:lstStyle/>
          <a:p>
            <a:pPr marL="0" indent="0">
              <a:buNone/>
            </a:pPr>
            <a:r>
              <a:rPr lang="en-US" sz="1200" b="1" dirty="0">
                <a:solidFill>
                  <a:srgbClr val="F5F0E8"/>
                </a:solidFill>
                <a:latin typeface="Georgia" panose="02040502050405090303" pitchFamily="34" charset="0"/>
                <a:ea typeface="Georgia" panose="02040502050405090303" pitchFamily="34" charset="-122"/>
                <a:cs typeface="Georgia" panose="02040502050405090303" pitchFamily="34" charset="-120"/>
              </a:rPr>
              <a:t>50 customers</a:t>
            </a:r>
            <a:endParaRPr lang="en-US" sz="1200" dirty="0"/>
          </a:p>
        </p:txBody>
      </p:sp>
      <p:sp>
        <p:nvSpPr>
          <p:cNvPr id="50" name="Text 45"/>
          <p:cNvSpPr/>
          <p:nvPr/>
        </p:nvSpPr>
        <p:spPr>
          <a:xfrm>
            <a:off x="9438437" y="4626864"/>
            <a:ext cx="2021738" cy="228600"/>
          </a:xfrm>
          <a:prstGeom prst="rect">
            <a:avLst/>
          </a:prstGeom>
          <a:noFill/>
        </p:spPr>
        <p:txBody>
          <a:bodyPr wrap="square" lIns="0" tIns="0" rIns="0" bIns="0" rtlCol="0" anchor="ctr"/>
          <a:lstStyle/>
          <a:p>
            <a:pPr marL="0" indent="0">
              <a:buNone/>
            </a:pPr>
            <a:r>
              <a:rPr lang="en-US" sz="950" i="1" dirty="0">
                <a:solidFill>
                  <a:srgbClr val="8A8A90"/>
                </a:solidFill>
                <a:latin typeface="Calibri" pitchFamily="34" charset="0"/>
                <a:ea typeface="Calibri" pitchFamily="34" charset="-122"/>
                <a:cs typeface="Calibri" pitchFamily="34" charset="-120"/>
              </a:rPr>
              <a:t>tranches live</a:t>
            </a:r>
            <a:endParaRPr lang="en-US" sz="950" dirty="0"/>
          </a:p>
        </p:txBody>
      </p:sp>
      <p:sp>
        <p:nvSpPr>
          <p:cNvPr id="51" name="Text 46"/>
          <p:cNvSpPr/>
          <p:nvPr/>
        </p:nvSpPr>
        <p:spPr>
          <a:xfrm>
            <a:off x="8341157" y="4892040"/>
            <a:ext cx="1097280" cy="256032"/>
          </a:xfrm>
          <a:prstGeom prst="rect">
            <a:avLst/>
          </a:prstGeom>
          <a:noFill/>
        </p:spPr>
        <p:txBody>
          <a:bodyPr wrap="square" lIns="0" tIns="0" rIns="0" bIns="0" rtlCol="0" anchor="ctr"/>
          <a:lstStyle/>
          <a:p>
            <a:pPr marL="0" indent="0">
              <a:buNone/>
            </a:pPr>
            <a:r>
              <a:rPr lang="en-US" sz="950" b="1" kern="0" spc="300" dirty="0">
                <a:solidFill>
                  <a:srgbClr val="0E7C7B"/>
                </a:solidFill>
                <a:latin typeface="Consolas" pitchFamily="34" charset="0"/>
                <a:ea typeface="Consolas" pitchFamily="34" charset="-122"/>
                <a:cs typeface="Consolas" pitchFamily="34" charset="-120"/>
              </a:rPr>
              <a:t>Q4 2026</a:t>
            </a:r>
            <a:endParaRPr lang="en-US" sz="950" dirty="0"/>
          </a:p>
        </p:txBody>
      </p:sp>
      <p:sp>
        <p:nvSpPr>
          <p:cNvPr id="52" name="Text 47"/>
          <p:cNvSpPr/>
          <p:nvPr/>
        </p:nvSpPr>
        <p:spPr>
          <a:xfrm>
            <a:off x="9438437" y="4892040"/>
            <a:ext cx="2021738" cy="256032"/>
          </a:xfrm>
          <a:prstGeom prst="rect">
            <a:avLst/>
          </a:prstGeom>
          <a:noFill/>
        </p:spPr>
        <p:txBody>
          <a:bodyPr wrap="square" lIns="0" tIns="0" rIns="0" bIns="0" rtlCol="0" anchor="ctr"/>
          <a:lstStyle/>
          <a:p>
            <a:pPr marL="0" indent="0">
              <a:buNone/>
            </a:pPr>
            <a:r>
              <a:rPr lang="en-US" sz="1200" b="1" dirty="0">
                <a:solidFill>
                  <a:srgbClr val="F5F0E8"/>
                </a:solidFill>
                <a:latin typeface="Georgia" panose="02040502050405090303" pitchFamily="34" charset="0"/>
                <a:ea typeface="Georgia" panose="02040502050405090303" pitchFamily="34" charset="-122"/>
                <a:cs typeface="Georgia" panose="02040502050405090303" pitchFamily="34" charset="-120"/>
              </a:rPr>
              <a:t>100 customers</a:t>
            </a:r>
            <a:endParaRPr lang="en-US" sz="1200" dirty="0"/>
          </a:p>
        </p:txBody>
      </p:sp>
      <p:sp>
        <p:nvSpPr>
          <p:cNvPr id="53" name="Text 48"/>
          <p:cNvSpPr/>
          <p:nvPr/>
        </p:nvSpPr>
        <p:spPr>
          <a:xfrm>
            <a:off x="9438437" y="5129784"/>
            <a:ext cx="2021738" cy="228600"/>
          </a:xfrm>
          <a:prstGeom prst="rect">
            <a:avLst/>
          </a:prstGeom>
          <a:noFill/>
        </p:spPr>
        <p:txBody>
          <a:bodyPr wrap="square" lIns="0" tIns="0" rIns="0" bIns="0" rtlCol="0" anchor="ctr"/>
          <a:lstStyle/>
          <a:p>
            <a:pPr marL="0" indent="0">
              <a:buNone/>
            </a:pPr>
            <a:r>
              <a:rPr lang="en-US" sz="950" i="1" dirty="0">
                <a:solidFill>
                  <a:srgbClr val="8A8A90"/>
                </a:solidFill>
                <a:latin typeface="Calibri" pitchFamily="34" charset="0"/>
                <a:ea typeface="Calibri" pitchFamily="34" charset="-122"/>
                <a:cs typeface="Calibri" pitchFamily="34" charset="-120"/>
              </a:rPr>
              <a:t>seed close</a:t>
            </a:r>
            <a:endParaRPr lang="en-US" sz="950" dirty="0"/>
          </a:p>
        </p:txBody>
      </p:sp>
      <p:sp>
        <p:nvSpPr>
          <p:cNvPr id="54" name="Text 49"/>
          <p:cNvSpPr/>
          <p:nvPr/>
        </p:nvSpPr>
        <p:spPr>
          <a:xfrm>
            <a:off x="640080" y="5440680"/>
            <a:ext cx="10911535" cy="274320"/>
          </a:xfrm>
          <a:prstGeom prst="rect">
            <a:avLst/>
          </a:prstGeom>
          <a:noFill/>
        </p:spPr>
        <p:txBody>
          <a:bodyPr wrap="square" lIns="0" tIns="0" rIns="0" bIns="0" rtlCol="0" anchor="ctr"/>
          <a:lstStyle/>
          <a:p>
            <a:pPr marL="0" indent="0">
              <a:buNone/>
            </a:pPr>
            <a:r>
              <a:rPr lang="en-US" sz="1000" kern="0" spc="400" dirty="0">
                <a:solidFill>
                  <a:srgbClr val="8A8A90"/>
                </a:solidFill>
                <a:latin typeface="Consolas" pitchFamily="34" charset="0"/>
                <a:ea typeface="Consolas" pitchFamily="34" charset="-122"/>
                <a:cs typeface="Consolas" pitchFamily="34" charset="-120"/>
              </a:rPr>
              <a:t>THE STACK   </a:t>
            </a:r>
            <a:r>
              <a:rPr lang="en-US" sz="1000" dirty="0">
                <a:solidFill>
                  <a:srgbClr val="F5F0E8"/>
                </a:solidFill>
                <a:latin typeface="Consolas" pitchFamily="34" charset="0"/>
                <a:ea typeface="Consolas" pitchFamily="34" charset="-122"/>
                <a:cs typeface="Consolas" pitchFamily="34" charset="-120"/>
              </a:rPr>
              <a:t>Solana  ·  Sumsub  ·  Sekuro  ·  Lloyd's  ·  Kamino  ·  Crossmint</a:t>
            </a:r>
            <a:endParaRPr lang="en-US" sz="1000" dirty="0"/>
          </a:p>
        </p:txBody>
      </p:sp>
      <p:sp>
        <p:nvSpPr>
          <p:cNvPr id="55" name="Shape 50"/>
          <p:cNvSpPr/>
          <p:nvPr/>
        </p:nvSpPr>
        <p:spPr>
          <a:xfrm>
            <a:off x="640080" y="5852160"/>
            <a:ext cx="10911535" cy="0"/>
          </a:xfrm>
          <a:prstGeom prst="line">
            <a:avLst/>
          </a:prstGeom>
          <a:noFill/>
          <a:ln w="6350">
            <a:solidFill>
              <a:srgbClr val="1F1F25"/>
            </a:solidFill>
            <a:prstDash val="solid"/>
          </a:ln>
        </p:spPr>
      </p:sp>
      <p:sp>
        <p:nvSpPr>
          <p:cNvPr id="56" name="Text 51"/>
          <p:cNvSpPr/>
          <p:nvPr/>
        </p:nvSpPr>
        <p:spPr>
          <a:xfrm>
            <a:off x="640080" y="5989320"/>
            <a:ext cx="7863840" cy="457200"/>
          </a:xfrm>
          <a:prstGeom prst="rect">
            <a:avLst/>
          </a:prstGeom>
          <a:noFill/>
        </p:spPr>
        <p:txBody>
          <a:bodyPr wrap="square" lIns="0" tIns="0" rIns="0" bIns="0" rtlCol="0" anchor="ctr"/>
          <a:lstStyle/>
          <a:p>
            <a:pPr marL="0" indent="0">
              <a:buNone/>
            </a:pPr>
            <a:r>
              <a:rPr lang="en-US" sz="1400" i="1" dirty="0">
                <a:solidFill>
                  <a:srgbClr val="F5F0E8"/>
                </a:solidFill>
                <a:latin typeface="Georgia" panose="02040502050405090303" pitchFamily="34" charset="0"/>
                <a:ea typeface="Georgia" panose="02040502050405090303" pitchFamily="34" charset="-122"/>
                <a:cs typeface="Georgia" panose="02040502050405090303" pitchFamily="34" charset="-120"/>
              </a:rPr>
              <a:t>The rail between physical luxury and onchain capital.   </a:t>
            </a:r>
            <a:r>
              <a:rPr lang="en-US" sz="1400" b="1" dirty="0">
                <a:solidFill>
                  <a:srgbClr val="0E7C7B"/>
                </a:solidFill>
                <a:latin typeface="Georgia" panose="02040502050405090303" pitchFamily="34" charset="0"/>
                <a:ea typeface="Georgia" panose="02040502050405090303" pitchFamily="34" charset="-122"/>
                <a:cs typeface="Georgia" panose="02040502050405090303" pitchFamily="34" charset="-120"/>
              </a:rPr>
              <a:t>Built on Solana.</a:t>
            </a:r>
            <a:endParaRPr lang="en-US" sz="1400" dirty="0"/>
          </a:p>
        </p:txBody>
      </p:sp>
      <p:sp>
        <p:nvSpPr>
          <p:cNvPr id="57" name="Shape 52"/>
          <p:cNvSpPr/>
          <p:nvPr/>
        </p:nvSpPr>
        <p:spPr>
          <a:xfrm>
            <a:off x="8534095" y="5961888"/>
            <a:ext cx="3017520" cy="457200"/>
          </a:xfrm>
          <a:prstGeom prst="rect">
            <a:avLst/>
          </a:prstGeom>
          <a:solidFill>
            <a:srgbClr val="F5F0E8"/>
          </a:solidFill>
          <a:ln w="12700">
            <a:solidFill>
              <a:srgbClr val="F5F0E8"/>
            </a:solidFill>
            <a:prstDash val="solid"/>
          </a:ln>
        </p:spPr>
      </p:sp>
      <p:sp>
        <p:nvSpPr>
          <p:cNvPr id="58" name="Text 53"/>
          <p:cNvSpPr/>
          <p:nvPr/>
        </p:nvSpPr>
        <p:spPr>
          <a:xfrm>
            <a:off x="8534095" y="5961888"/>
            <a:ext cx="3017520" cy="457200"/>
          </a:xfrm>
          <a:prstGeom prst="rect">
            <a:avLst/>
          </a:prstGeom>
          <a:noFill/>
        </p:spPr>
        <p:txBody>
          <a:bodyPr wrap="square" lIns="0" tIns="0" rIns="0" bIns="0" rtlCol="0" anchor="ctr"/>
          <a:lstStyle/>
          <a:p>
            <a:pPr marL="0" indent="0" algn="ctr">
              <a:buNone/>
            </a:pPr>
            <a:r>
              <a:rPr lang="en-US" sz="1400" b="1" i="1" dirty="0">
                <a:solidFill>
                  <a:srgbClr val="0A0A0B"/>
                </a:solidFill>
                <a:latin typeface="Georgia" panose="02040502050405090303" pitchFamily="34" charset="0"/>
                <a:ea typeface="Georgia" panose="02040502050405090303" pitchFamily="34" charset="-122"/>
                <a:cs typeface="Georgia" panose="02040502050405090303" pitchFamily="34" charset="-120"/>
              </a:rPr>
              <a:t>Come build with us.   </a:t>
            </a:r>
            <a:r>
              <a:rPr lang="en-US" sz="1400" b="1" i="1" dirty="0">
                <a:solidFill>
                  <a:srgbClr val="0A0A0B"/>
                </a:solidFill>
                <a:latin typeface="Georgia" panose="02040502050405090303" pitchFamily="34" charset="0"/>
                <a:ea typeface="Georgia" panose="02040502050405090303" pitchFamily="34" charset="-122"/>
                <a:cs typeface="Georgia" panose="02040502050405090303" pitchFamily="34" charset="-120"/>
              </a:rPr>
              <a:t>→</a:t>
            </a:r>
            <a:endParaRPr lang="en-US" sz="1400" dirty="0"/>
          </a:p>
        </p:txBody>
      </p:sp>
      <p:pic>
        <p:nvPicPr>
          <p:cNvPr id="59" name="Image 3" descr="/Users/gogy/MyCODE/VAULX/.claude/worktrees/recursing-mcnulty-a36d0a/docs/colosseum/vaulx_logo_white.png"/>
          <p:cNvPicPr>
            <a:picLocks noChangeAspect="1"/>
          </p:cNvPicPr>
          <p:nvPr/>
        </p:nvPicPr>
        <p:blipFill>
          <a:blip r:embed="rId4"/>
          <a:stretch>
            <a:fillRect/>
          </a:stretch>
        </p:blipFill>
        <p:spPr>
          <a:xfrm>
            <a:off x="502920" y="6492240"/>
            <a:ext cx="457200" cy="123444"/>
          </a:xfrm>
          <a:prstGeom prst="rect">
            <a:avLst/>
          </a:prstGeom>
        </p:spPr>
      </p:pic>
      <p:sp>
        <p:nvSpPr>
          <p:cNvPr id="60" name="Text 54"/>
          <p:cNvSpPr/>
          <p:nvPr/>
        </p:nvSpPr>
        <p:spPr>
          <a:xfrm>
            <a:off x="1097280" y="6473952"/>
            <a:ext cx="4572000" cy="228600"/>
          </a:xfrm>
          <a:prstGeom prst="rect">
            <a:avLst/>
          </a:prstGeom>
          <a:noFill/>
        </p:spPr>
        <p:txBody>
          <a:bodyPr wrap="square" lIns="0" tIns="0" rIns="0" bIns="0" rtlCol="0" anchor="ctr"/>
          <a:lstStyle/>
          <a:p>
            <a:pPr marL="0" indent="0">
              <a:buNone/>
            </a:pPr>
            <a:r>
              <a:rPr lang="en-US" sz="900" dirty="0">
                <a:solidFill>
                  <a:srgbClr val="8A8A90"/>
                </a:solidFill>
                <a:latin typeface="Consolas" pitchFamily="34" charset="0"/>
                <a:ea typeface="Consolas" pitchFamily="34" charset="-122"/>
                <a:cs typeface="Consolas" pitchFamily="34" charset="-120"/>
              </a:rPr>
              <a:t>github.com/Vaulxfi  ·  vaulx.fi  ·  Solana Devnet</a:t>
            </a:r>
            <a:endParaRPr lang="en-US" sz="900" dirty="0"/>
          </a:p>
        </p:txBody>
      </p:sp>
    </p:spTree>
  </p:cSld>
  <p:clrMapOvr>
    <a:masterClrMapping/>
  </p:clrMapOvr>
</p:sld>
</file>

<file path=ppt/tags/tag1.xml><?xml version="1.0" encoding="utf-8"?>
<p:tagLst xmlns:p="http://schemas.openxmlformats.org/presentationml/2006/main">
  <p:tag name="TABLE_ENDDRAG_ORIGIN_RECT" val="860*201"/>
  <p:tag name="TABLE_ENDDRAG_RECT" val="50*230*860*20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7043</Words>
  <Application>WPS Presentation</Application>
  <PresentationFormat>On-screen Show (16:9)</PresentationFormat>
  <Paragraphs>697</Paragraphs>
  <Slides>9</Slides>
  <Notes>9</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9</vt:i4>
      </vt:variant>
    </vt:vector>
  </HeadingPairs>
  <TitlesOfParts>
    <vt:vector size="28" baseType="lpstr">
      <vt:lpstr>Arial</vt:lpstr>
      <vt:lpstr>SimSun</vt:lpstr>
      <vt:lpstr>Wingdings</vt:lpstr>
      <vt:lpstr>Consolas</vt:lpstr>
      <vt:lpstr>苹方-简</vt:lpstr>
      <vt:lpstr>Consolas</vt:lpstr>
      <vt:lpstr>Consolas</vt:lpstr>
      <vt:lpstr>Georgia</vt:lpstr>
      <vt:lpstr>Georgia</vt:lpstr>
      <vt:lpstr>Georgia</vt:lpstr>
      <vt:lpstr>Calibri</vt:lpstr>
      <vt:lpstr>Calibri</vt:lpstr>
      <vt:lpstr>Calibri</vt:lpstr>
      <vt:lpstr>Helvetica Neue</vt:lpstr>
      <vt:lpstr>Microsoft YaHei</vt:lpstr>
      <vt:lpstr>汉仪旗黑</vt:lpstr>
      <vt:lpstr>Arial Unicode MS</vt:lpstr>
      <vt:lpstr>汉仪书宋二KW</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Vaulx</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Vaulx — The on-chain credit protocol</dc:title>
  <dc:creator>Vaulx</dc:creator>
  <dc:subject>Colosseum Cypherpunk Hackathon 2026 · Solana RWA</dc:subject>
  <cp:lastModifiedBy>George Dimitrov</cp:lastModifiedBy>
  <cp:revision>4</cp:revision>
  <dcterms:created xsi:type="dcterms:W3CDTF">2026-05-07T20:46:15Z</dcterms:created>
  <dcterms:modified xsi:type="dcterms:W3CDTF">2026-05-07T20:46:15Z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1033-12.1.25880.25880</vt:lpwstr>
  </property>
  <property fmtid="{D5CDD505-2E9C-101B-9397-08002B2CF9AE}" pid="3" name="ICV">
    <vt:lpwstr>5EA0015A2ACAFBDC48F7FC69788C16FF_42</vt:lpwstr>
  </property>
</Properties>
</file>